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243F62"/>
          </a:solidFill>
          <a:ln w="12700">
            <a:solidFill>
              <a:srgbClr val="243F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中国婴儿纸尿裤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市场技术全景报告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C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China Baby Diaper: Product Innovation, Core Technologies &amp; Future R&amp;D Roadmap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01168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461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汇报对象：全球首席研发官及管理团队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数据来源：Open Innovation知识库 |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AGENDA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57200" cy="457200"/>
          </a:xfrm>
          <a:prstGeom prst="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22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4124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中国纸尿裤市场概况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7899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行业规模、竞争格局、消费趋势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457200" cy="457200"/>
          </a:xfrm>
          <a:prstGeom prst="rect">
            <a:avLst>
              <a:gd name="adj" fmla="val 12000"/>
            </a:avLst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49961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2024-2025年上市新品盘点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7373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20+品牌新品详解，6大技术方向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457200" cy="457200"/>
          </a:xfrm>
          <a:prstGeom prst="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15798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产品核心结构解析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395728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5层功能结构，各层材料应用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457200" cy="457200"/>
          </a:xfrm>
          <a:prstGeom prst="rect">
            <a:avLst>
              <a:gd name="adj" fmla="val 12000"/>
            </a:avLst>
          </a:prstGeom>
          <a:solidFill>
            <a:srgbClr val="2D6A9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281635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主流材料技术应用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054096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非织造布体系、复合结构对比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57200" cy="457200"/>
          </a:xfrm>
          <a:prstGeom prst="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456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前沿研发方向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12464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可降解、生物基、智能感知技术路线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57200" cy="457200"/>
          </a:xfrm>
          <a:prstGeom prst="rect">
            <a:avLst>
              <a:gd name="adj" fmla="val 12000"/>
            </a:avLst>
          </a:prstGeom>
          <a:solidFill>
            <a:srgbClr val="2D6A9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1330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中国市场技术路线图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370832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未来3年战略判断与行动建议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中国纸尿裤市场概况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China Baby Diaper Market Overview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中国纸尿裤市场概况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20240" cy="1463040"/>
          </a:xfrm>
          <a:prstGeom prst="rect">
            <a:avLst>
              <a:gd name="adj" fmla="val 6250"/>
            </a:avLst>
          </a:prstGeom>
          <a:solidFill>
            <a:srgbClr val="2D6A9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804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¥RMB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~700亿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市场规模（2025E）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1920240" cy="1463040"/>
          </a:xfrm>
          <a:prstGeom prst="rect">
            <a:avLst>
              <a:gd name="adj" fmla="val 6250"/>
            </a:avLst>
          </a:prstGeom>
          <a:solidFill>
            <a:srgbClr val="26A69A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804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2022-2026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2316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年均增速（CAGR）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777240"/>
            <a:ext cx="1920240" cy="1463040"/>
          </a:xfrm>
          <a:prstGeom prst="rect">
            <a:avLst>
              <a:gd name="adj" fmla="val 6250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804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功能升级+护肤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核心驱动力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777240"/>
            <a:ext cx="1920240" cy="1463040"/>
          </a:xfrm>
          <a:prstGeom prst="rect">
            <a:avLst>
              <a:gd name="adj" fmla="val 6250"/>
            </a:avLst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8046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国产份额持续提升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10058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国产崛起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691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竞争格局变化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423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市场三大趋势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2788920"/>
            <a:ext cx="8412480" cy="384048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🍼 消费升级：从"能用"到"护肤养肤"，高端品牌溢价空间扩大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264408"/>
            <a:ext cx="8412480" cy="384048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🌱 绿色消费：可降解、生物基、天然材料受到年轻父母关注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3739896"/>
            <a:ext cx="8412480" cy="384048"/>
          </a:xfrm>
          <a:prstGeom prst="rect">
            <a:avLst/>
          </a:prstGeom>
          <a:noFill/>
          <a:ln w="63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国产替代：Babycare、碧芭、雀氏等国产品牌技术能力显著提升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22A42"/>
          </a:solidFill>
          <a:ln w="12700">
            <a:solidFill>
              <a:srgbClr val="122A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4572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35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2024-2025年上市新品盘点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New Product Launch Review 2024-2025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新品上市概览（2024-2025）部分代表品牌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31520"/>
          <a:ext cx="8686800" cy="425196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4389120"/>
                <a:gridCol w="1188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产品系列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核心创新点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上市时间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Babycare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金·山茶 / 花苞裤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0.003mm超细纤维+霍霍巴籽油+花脉仿生导流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2024-2025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花王（中国）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妙而舒成长一步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魔力吸收芯（0.1cm超薄）+V型窄裆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2024年4月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宜婴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天空之境益生菌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益生菌微胶囊+蜂窝状透气网孔（1200孔/cm²）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2024年夏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BeBeBus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超裤无感系列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隐形橡筋+角鲨烷泛醇+雨滴尿显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碧芭宝贝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繁花/花羽系列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OVS通透技术+0.6D空气纤维+益生元精粹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好奇（金佰利）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黑标企鹅裤/屁屁面膜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慕斯腰围+苹果酸精华抑酶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舒比奇（英氏）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敏感肌成长裤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舒敏乳霜+分段弹性记忆结构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丝逸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双芯黑科技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双芯黄金配比+双向循环透气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新品六大技术方向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201168" cy="1828800"/>
          </a:xfrm>
          <a:prstGeom prst="rect">
            <a:avLst>
              <a:gd name="adj" fmla="val 27273"/>
            </a:avLst>
          </a:prstGeom>
          <a:solidFill>
            <a:srgbClr val="26A6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86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🦠 益生菌护肤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微胶囊缓释活性益生菌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调节肌肤微生态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代表品牌：Babycare、宜婴、实爽、布朗尼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0" y="77724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777240"/>
            <a:ext cx="201168" cy="1828800"/>
          </a:xfrm>
          <a:prstGeom prst="rect">
            <a:avLst>
              <a:gd name="adj" fmla="val 27273"/>
            </a:avLst>
          </a:prstGeom>
          <a:solidFill>
            <a:srgbClr val="2D6A9F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86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 超细纤维面层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0.003mm/0.6-0.8D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接近真丝触感极致柔软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代表品牌：Babycare、碧芭宝贝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77724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777240"/>
            <a:ext cx="201168" cy="1828800"/>
          </a:xfrm>
          <a:prstGeom prst="rect">
            <a:avLst>
              <a:gd name="adj" fmla="val 27273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886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💧 无感腰围设计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2344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隐形橡筋/花苞/泡泡腰围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近零勒痕体验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18928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代表品牌：BeBeBus、雀氏、露安适、Babycare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278892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788920"/>
            <a:ext cx="201168" cy="1828800"/>
          </a:xfrm>
          <a:prstGeom prst="rect">
            <a:avLst>
              <a:gd name="adj" fmla="val 27273"/>
            </a:avLst>
          </a:prstGeom>
          <a:solidFill>
            <a:srgbClr val="F57C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🌿 弱酸/护肤成分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pH5.5面层+苹果酸/乳木果油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降低红屁屁风险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39044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代表品牌：好奇、Qadoh、舒比奇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0" y="278892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08960" y="2788920"/>
            <a:ext cx="201168" cy="1828800"/>
          </a:xfrm>
          <a:prstGeom prst="rect">
            <a:avLst>
              <a:gd name="adj" fmla="val 27273"/>
            </a:avLst>
          </a:prstGeom>
          <a:solidFill>
            <a:srgbClr val="7B5EA7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智能尿显技术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物理/化学变色指示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精准提醒更换时机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39044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代表品牌：BeBeBus雨滴尿显系列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2788920"/>
            <a:ext cx="2743200" cy="182880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99bbdd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788920"/>
            <a:ext cx="201168" cy="1828800"/>
          </a:xfrm>
          <a:prstGeom prst="rect">
            <a:avLst>
              <a:gd name="adj" fmla="val 27273"/>
            </a:avLst>
          </a:prstGeom>
          <a:solidFill>
            <a:srgbClr val="E53935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28986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📐 仿生导流结构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花脉式/U型/双导流通道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芯体利用率提升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90448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代表品牌：Babycare花苞裤、豪悦U型芯体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E3D5C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0" y="457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43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6400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产品核心结构解析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Product Structure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纸尿裤五层功能结构 &amp; 非织造布应用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8686800" cy="777240"/>
          </a:xfrm>
          <a:prstGeom prst="rect">
            <a:avLst>
              <a:gd name="adj" fmla="val 7059"/>
            </a:avLst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面层（表层）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材料：热风无纺布 / 纺粘无纺布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7863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直接接触皮肤，快速导渗，柔软亲肤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0" y="804672"/>
            <a:ext cx="36576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786384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弱酸功能化、益生菌添加、超细0.6D纤维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563624"/>
            <a:ext cx="8686800" cy="777240"/>
          </a:xfrm>
          <a:prstGeom prst="rect">
            <a:avLst>
              <a:gd name="adj" fmla="val 7059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导流层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947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材料：热风无纺布（双层差动毛细）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06040" y="163677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临时储液，均匀分散至芯体，防反渗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0" y="1655064"/>
            <a:ext cx="36576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1636776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打孔膜替代向热风复合升级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2414016"/>
            <a:ext cx="8686800" cy="777240"/>
          </a:xfrm>
          <a:prstGeom prst="rect">
            <a:avLst>
              <a:gd name="adj" fmla="val 7059"/>
            </a:avLst>
          </a:prstGeom>
          <a:solidFill>
            <a:srgbClr val="E3F2F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4505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吸收芯层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798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材料：绒毛浆+SAP → 无木浆复合芯体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24871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吸收并锁住大量尿液，防凝胶阻塞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2505456"/>
            <a:ext cx="36576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2487168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无木浆化、SAF替代SAP、U型双导流通道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264408"/>
            <a:ext cx="8686800" cy="777240"/>
          </a:xfrm>
          <a:prstGeom prst="rect">
            <a:avLst>
              <a:gd name="adj" fmla="val 7059"/>
            </a:avLst>
          </a:prstGeom>
          <a:solidFill>
            <a:srgbClr val="FCE4E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300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防漏隔边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6484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材料：SMS/SMMS纺熔无纺布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33375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两侧拒水防漏，配合弹性立体围边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760720" y="3355848"/>
            <a:ext cx="36576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333756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360°全方位防漏、SSMMS升级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114800"/>
            <a:ext cx="8686800" cy="777240"/>
          </a:xfrm>
          <a:prstGeom prst="rect">
            <a:avLst>
              <a:gd name="adj" fmla="val 7059"/>
            </a:avLst>
          </a:prstGeom>
          <a:solidFill>
            <a:srgbClr val="EDE7F6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513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底层（背层）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4498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材料：S/PE复合膜 / 热风无纺布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606040" y="41879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防渗漏，透气排湿，决定整体手感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60720" y="4206240"/>
            <a:ext cx="36576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418795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纳米微孔透气膜、可降解PE替代方案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E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457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22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主流材料技术应用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Mainstream Material Technologies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主流复合无纺布结构对比（2026）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13232"/>
          <a:ext cx="8686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097280"/>
                <a:gridCol w="1097280"/>
                <a:gridCol w="1097280"/>
                <a:gridCol w="25603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阻隔性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透气性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柔软度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纸尿裤应用部位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SMS（三层）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底膜、隔边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SMMS（四层）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高端底层、腰贴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6A9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SSMMS（五层）⭐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高端卫材全层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SSS（纯纺粘）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面层、腰贴基材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S/PE复合膜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底膜防渗漏层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热风（HotAir）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面层、导流层首选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617720"/>
            <a:ext cx="8686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SSMMS是2024-2026主流趋势，双纺粘+双熔喷五层结构同时满足强度、阻隔、透气、柔软四重需求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热风 vs 纺粘：面层材料深度对比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4114800" cy="4160520"/>
          </a:xfrm>
          <a:prstGeom prst="rect">
            <a:avLst>
              <a:gd name="adj" fmla="val 2222"/>
            </a:avLst>
          </a:prstGeom>
          <a:solidFill>
            <a:srgbClr val="FFF8E7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731520"/>
            <a:ext cx="4114800" cy="457200"/>
          </a:xfrm>
          <a:prstGeom prst="rect">
            <a:avLst>
              <a:gd name="adj" fmla="val 12000"/>
            </a:avLst>
          </a:prstGeom>
          <a:solidFill>
            <a:srgbClr val="F57C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🌬️ 热风无纺布（Hot-Air）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制造工艺：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00200" y="1298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短纤维梳理成网，热风穿透粘合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739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柔软度：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00200" y="17739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蓬松棉质感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24942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透气性：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0020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纤维空隙多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7249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强度：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00200" y="2724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 短纤维强度偏低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主要应用：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面层（高端首选）、导流层、底层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67588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发展趋势：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00200" y="3675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ES双组分纤维主流，0.6D超细纤维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731520"/>
            <a:ext cx="4114800" cy="4160520"/>
          </a:xfrm>
          <a:prstGeom prst="rect">
            <a:avLst>
              <a:gd name="adj" fmla="val 2222"/>
            </a:avLst>
          </a:prstGeom>
          <a:solidFill>
            <a:srgbClr val="E8F4FD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731520"/>
            <a:ext cx="4114800" cy="457200"/>
          </a:xfrm>
          <a:prstGeom prst="rect">
            <a:avLst>
              <a:gd name="adj" fmla="val 12000"/>
            </a:avLst>
          </a:prstGeom>
          <a:solidFill>
            <a:srgbClr val="2D6A9F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731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纺粘无纺布（Spunbond）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29844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制造工艺：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80760" y="12984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聚合物熔融挤出，连续长丝成网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1773936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柔软度：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80760" y="177393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 传统偏硬，改良后提升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92040" y="2249424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透气性：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80760" y="2249424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 结构均一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2724912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强度：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72491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 力学性能优异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32004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主要应用：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32004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腰贴、隔边、底层、前腰贴/耳带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675888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发展趋势：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6758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SSS/SSMMS配置，双组分长丝柔软化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914400"/>
            <a:ext cx="5486400" cy="5486400"/>
          </a:xfrm>
          <a:prstGeom prst="ellipse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4572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43F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前沿研发方向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Frontier R&amp;D Directions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研发方向1：可降解/生物基材料技术路线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13232"/>
          <a:ext cx="8686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286000"/>
                <a:gridCol w="1920240"/>
                <a:gridCol w="11887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技术成熟度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代表企业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应用场景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降解周期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9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 聚乳酸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已产业化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豪悦护理、联泓新材料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面层无纺布、芯体包裹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6-12个月（堆肥）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PPC 聚碳酸亚丙酯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🔄 量产在即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联泓新材料（5万吨/年2025）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底层防漏膜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自然条件完全降解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PHA 聚羟基脂肪酸酯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🔬 中试阶段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中科院合作研发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高端纸尿裤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海洋环境可降解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竹纤维/粘胶纤维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成熟应用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恒安国际、可靠股份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面层、导流层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可堆肥降解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纳米纤维素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🔬 研发阶段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高校实验室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增强材料、SAP替代研究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5262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6A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关键进展：恒安国际现有纸尿裤可降解材料占比已达70-80%；豪悦护理PLA复合芯体项目2024年验收完结，具备量产能力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研发方向2：薄且强芯体技术演进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057400" cy="3200400"/>
          </a:xfrm>
          <a:prstGeom prst="rect">
            <a:avLst>
              <a:gd name="adj" fmla="val 4444"/>
            </a:avLst>
          </a:prstGeom>
          <a:solidFill>
            <a:srgbClr val="EF9A9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8046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第一代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" y="11704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传统木浆芯体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600200"/>
            <a:ext cx="17373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64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绒毛浆+SAP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267004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痛点：吸水后起坨、断层、厚重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84832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95728" y="777240"/>
            <a:ext cx="2057400" cy="3200400"/>
          </a:xfrm>
          <a:prstGeom prst="rect">
            <a:avLst>
              <a:gd name="adj" fmla="val 4444"/>
            </a:avLst>
          </a:prstGeom>
          <a:solidFill>
            <a:srgbClr val="FFCC80"/>
          </a:solidFill>
          <a:ln/>
        </p:spPr>
      </p:sp>
      <p:sp>
        <p:nvSpPr>
          <p:cNvPr id="13" name="Text 11"/>
          <p:cNvSpPr/>
          <p:nvPr/>
        </p:nvSpPr>
        <p:spPr>
          <a:xfrm>
            <a:off x="2395728" y="8046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第二代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95728" y="11704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复合芯体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32888" y="1600200"/>
            <a:ext cx="17373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664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无尘纸+无纺布+SAP机压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87168" y="267004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痛点：吸水速度慢、SAP利用率不均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97680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08576" y="777240"/>
            <a:ext cx="2057400" cy="3200400"/>
          </a:xfrm>
          <a:prstGeom prst="rect">
            <a:avLst>
              <a:gd name="adj" fmla="val 4444"/>
            </a:avLst>
          </a:prstGeom>
          <a:solidFill>
            <a:srgbClr val="A5D6A7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8046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08576" y="11704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无木浆多维复合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45736" y="1600200"/>
            <a:ext cx="17373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1664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热风蓬松无纺布+SAP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267004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痛点：极致轻薄下的强度保持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10528" y="20116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6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821424" y="777240"/>
            <a:ext cx="2057400" cy="3200400"/>
          </a:xfrm>
          <a:prstGeom prst="rect">
            <a:avLst>
              <a:gd name="adj" fmla="val 4444"/>
            </a:avLst>
          </a:prstGeom>
          <a:solidFill>
            <a:srgbClr val="80CBC4"/>
          </a:solidFill>
          <a:ln/>
        </p:spPr>
      </p:sp>
      <p:sp>
        <p:nvSpPr>
          <p:cNvPr id="27" name="Text 25"/>
          <p:cNvSpPr/>
          <p:nvPr/>
        </p:nvSpPr>
        <p:spPr>
          <a:xfrm>
            <a:off x="6821424" y="80467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第四代 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21424" y="11704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智能导流+抗菌复合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58584" y="1600200"/>
            <a:ext cx="17373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0" name="Text 28"/>
          <p:cNvSpPr/>
          <p:nvPr/>
        </p:nvSpPr>
        <p:spPr>
          <a:xfrm>
            <a:off x="6912864" y="1664208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卷曲中空纤维+多道导槽+热风穿刺熔融固结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12864" y="2670048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2024-2025最新量产技术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28600" y="4133088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D6A9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豪悦护理、可靠股份、百亚股份均在第三/四代无木浆芯体领域形成专利壁垒，国产技术已领先国际竞争者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研发管线实例：豪悦护理2024年研发项目（国内最大ODM）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713232"/>
            <a:ext cx="8686800" cy="566928"/>
          </a:xfrm>
          <a:prstGeom prst="rect">
            <a:avLst>
              <a:gd name="adj" fmla="val 8065"/>
            </a:avLst>
          </a:prstGeom>
          <a:solidFill>
            <a:srgbClr val="F0F8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4980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可降解复合芯体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97480" y="74980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聚乳酸（PLA）生物基纤维应用于复合芯体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0" y="822960"/>
            <a:ext cx="1188720" cy="329184"/>
          </a:xfrm>
          <a:prstGeom prst="rect">
            <a:avLst>
              <a:gd name="adj" fmla="val 22222"/>
            </a:avLst>
          </a:prstGeom>
          <a:solidFill>
            <a:srgbClr val="26A69A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822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验收完结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316736"/>
            <a:ext cx="86868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5331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加密超细旦橡筋腰围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135331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70D-140D超细旦橡筋，更柔软贴合、减少勒痕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589520" y="1426464"/>
            <a:ext cx="1188720" cy="329184"/>
          </a:xfrm>
          <a:prstGeom prst="rect">
            <a:avLst>
              <a:gd name="adj" fmla="val 22222"/>
            </a:avLst>
          </a:prstGeom>
          <a:solidFill>
            <a:srgbClr val="F57C00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142646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批量试产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8686800" cy="566928"/>
          </a:xfrm>
          <a:prstGeom prst="rect">
            <a:avLst>
              <a:gd name="adj" fmla="val 8065"/>
            </a:avLst>
          </a:prstGeom>
          <a:solidFill>
            <a:srgbClr val="F0F8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568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易脱卸式经期裤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1956816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新型易撕结构设计，方便穿脱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589520" y="2029968"/>
            <a:ext cx="1188720" cy="329184"/>
          </a:xfrm>
          <a:prstGeom prst="rect">
            <a:avLst>
              <a:gd name="adj" fmla="val 22222"/>
            </a:avLst>
          </a:prstGeom>
          <a:solidFill>
            <a:srgbClr val="2D6A9F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202996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产品验证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523744"/>
            <a:ext cx="86868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6032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手风琴泡泡婴儿拉拉裤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560320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在线氨纶丝手风琴泡泡结构，更弹更透气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0" y="2633472"/>
            <a:ext cx="1188720" cy="329184"/>
          </a:xfrm>
          <a:prstGeom prst="rect">
            <a:avLst>
              <a:gd name="adj" fmla="val 22222"/>
            </a:avLst>
          </a:prstGeom>
          <a:solidFill>
            <a:srgbClr val="2D6A9F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263347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产品验证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127248"/>
            <a:ext cx="8686800" cy="566928"/>
          </a:xfrm>
          <a:prstGeom prst="rect">
            <a:avLst>
              <a:gd name="adj" fmla="val 8065"/>
            </a:avLst>
          </a:prstGeom>
          <a:solidFill>
            <a:srgbClr val="F0F8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16382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超透气吸收芯体纸尿裤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97480" y="3163824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新型透气芯体材料，提升透气性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589520" y="3236976"/>
            <a:ext cx="1188720" cy="329184"/>
          </a:xfrm>
          <a:prstGeom prst="rect">
            <a:avLst>
              <a:gd name="adj" fmla="val 22222"/>
            </a:avLst>
          </a:prstGeom>
          <a:solidFill>
            <a:srgbClr val="2D6A9F"/>
          </a:solidFill>
          <a:ln/>
        </p:spPr>
      </p:sp>
      <p:sp>
        <p:nvSpPr>
          <p:cNvPr id="29" name="Text 27"/>
          <p:cNvSpPr/>
          <p:nvPr/>
        </p:nvSpPr>
        <p:spPr>
          <a:xfrm>
            <a:off x="7589520" y="323697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产品验证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730752"/>
            <a:ext cx="8686800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7673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双导流通道立体吸收芯体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97480" y="3767328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U型双导流通道立体吸收、防反渗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89520" y="3840480"/>
            <a:ext cx="1188720" cy="329184"/>
          </a:xfrm>
          <a:prstGeom prst="rect">
            <a:avLst>
              <a:gd name="adj" fmla="val 22222"/>
            </a:avLst>
          </a:prstGeom>
          <a:solidFill>
            <a:srgbClr val="2D6A9F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384048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产品验证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4334256"/>
            <a:ext cx="8686800" cy="566928"/>
          </a:xfrm>
          <a:prstGeom prst="rect">
            <a:avLst>
              <a:gd name="adj" fmla="val 8065"/>
            </a:avLst>
          </a:prstGeom>
          <a:solidFill>
            <a:srgbClr val="F0F8F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3708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纳米微孔超薄环保底膜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97480" y="4370832"/>
            <a:ext cx="4846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纳米微孔热熔胶技术，超薄环保，提升透气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589520" y="4443984"/>
            <a:ext cx="1188720" cy="329184"/>
          </a:xfrm>
          <a:prstGeom prst="rect">
            <a:avLst>
              <a:gd name="adj" fmla="val 22222"/>
            </a:avLst>
          </a:prstGeom>
          <a:solidFill>
            <a:srgbClr val="2D6A9F"/>
          </a:solidFill>
          <a:ln/>
        </p:spPr>
      </p:sp>
      <p:sp>
        <p:nvSpPr>
          <p:cNvPr id="39" name="Text 37"/>
          <p:cNvSpPr/>
          <p:nvPr/>
        </p:nvSpPr>
        <p:spPr>
          <a:xfrm>
            <a:off x="7589520" y="44439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产品验证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1" name="Text 39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52437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657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E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中国市场技术路线图 &amp; 战略建议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Technology Roadmap &amp; Strategic Recommendations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中国纸尿裤技术路线图（2025-2027）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743200" cy="411480"/>
          </a:xfrm>
          <a:prstGeom prst="rect">
            <a:avLst>
              <a:gd name="adj" fmla="val 17778"/>
            </a:avLst>
          </a:prstGeom>
          <a:solidFill>
            <a:srgbClr val="2D6A9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685800"/>
            <a:ext cx="2743200" cy="411480"/>
          </a:xfrm>
          <a:prstGeom prst="rect">
            <a:avLst>
              <a:gd name="adj" fmla="val 17778"/>
            </a:avLst>
          </a:prstGeom>
          <a:solidFill>
            <a:srgbClr val="2D6A9F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89320" y="685800"/>
            <a:ext cx="2743200" cy="411480"/>
          </a:xfrm>
          <a:prstGeom prst="rect">
            <a:avLst>
              <a:gd name="adj" fmla="val 17778"/>
            </a:avLst>
          </a:prstGeom>
          <a:solidFill>
            <a:srgbClr val="2D6A9F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685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1234440"/>
            <a:ext cx="201168" cy="1097280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0" y="1234440"/>
            <a:ext cx="201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芯体&amp;材料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325880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1399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无木浆芯体成高端标配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（第四代复合芯体量产）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54680" y="1325880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64408" y="1399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PLA+PPC可降解底膜/面层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规模商业化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325880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44768" y="1399032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SAP生物基化突破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（淀粉/纤维素基SAP）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2496312"/>
            <a:ext cx="201168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 rot="16200000">
            <a:off x="0" y="2496312"/>
            <a:ext cx="201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无纺布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87752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66090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SSMMS五层复合无纺布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全面取代SMS底层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54680" y="2587752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64408" y="266090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超细纤维（0.3D以下）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纺粘面层量产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587752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44768" y="2660904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纳米纤维素增强无纺布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进入卫材应用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3758184"/>
            <a:ext cx="201168" cy="10972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8" name="Text 26"/>
          <p:cNvSpPr/>
          <p:nvPr/>
        </p:nvSpPr>
        <p:spPr>
          <a:xfrm rot="16200000">
            <a:off x="0" y="3758184"/>
            <a:ext cx="201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功能化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849624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92277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益生菌+弱酸功能面层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成主流差异化卖点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54680" y="3849624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64408" y="392277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植物提取物抗菌替代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化学抗菌剂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35040" y="3849624"/>
            <a:ext cx="2697480" cy="9601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aabbcc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44768" y="3922776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智能感知（pH/湿度）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全集成一体化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 Strategic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519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99bbdd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49808"/>
            <a:ext cx="502920" cy="1965960"/>
          </a:xfrm>
          <a:prstGeom prst="rect">
            <a:avLst>
              <a:gd name="adj" fmla="val 14545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49808"/>
            <a:ext cx="502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859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押注无木浆第四代芯体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261872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国产豪悦/可靠已实现量产，全球市场下一个三年的高端标配。建议加速自主开发或战略合作，优先突破U型双导流和热风穿刺熔融固结工艺。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834640"/>
            <a:ext cx="42519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99bbdd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834640"/>
            <a:ext cx="502920" cy="1965960"/>
          </a:xfrm>
          <a:prstGeom prst="rect">
            <a:avLst>
              <a:gd name="adj" fmla="val 14545"/>
            </a:avLst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2834640"/>
            <a:ext cx="502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可降解材料：选PLA/PPC路线优先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46704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PLA已具备量产条件（联泓+豪悦体系），PPC 2025年即将规模化。优先在面层和底膜两个关键层实现生物基替代，建立差异化ESG卖点。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749808"/>
            <a:ext cx="42519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99bbdd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749808"/>
            <a:ext cx="502920" cy="1965960"/>
          </a:xfrm>
          <a:prstGeom prst="rect">
            <a:avLst>
              <a:gd name="adj" fmla="val 14545"/>
            </a:avLst>
          </a:prstGeom>
          <a:solidFill>
            <a:srgbClr val="F57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90872" y="749808"/>
            <a:ext cx="502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85953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功能面层是高端定价的关键杠杆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85232" y="1261872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益生菌、弱酸、植物提取物护肤成分正成为高端价格带（≥2元/片）的必备标签。建议与活性成分供应商建立独家合作，形成专利配方壁垒。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2834640"/>
            <a:ext cx="4251960" cy="1965960"/>
          </a:xfrm>
          <a:prstGeom prst="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99bbdd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834640"/>
            <a:ext cx="502920" cy="1965960"/>
          </a:xfrm>
          <a:prstGeom prst="rect">
            <a:avLst>
              <a:gd name="adj" fmla="val 14545"/>
            </a:avLst>
          </a:prstGeom>
          <a:solidFill>
            <a:srgbClr val="2D6A9F"/>
          </a:solidFill>
          <a:ln/>
        </p:spPr>
      </p:sp>
      <p:sp>
        <p:nvSpPr>
          <p:cNvPr id="22" name="Text 20"/>
          <p:cNvSpPr/>
          <p:nvPr/>
        </p:nvSpPr>
        <p:spPr>
          <a:xfrm>
            <a:off x="4690872" y="2834640"/>
            <a:ext cx="5029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85232" y="29443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SSMMS复合无纺布升级优先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3346704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46E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现有SMS/SMMS结构已无法满足高端卫材需求，SSMMS五层结构是2026年主流方向。建议推动供应链设备升级，或引入已投产的国内头部供应商（如广鸿新材）。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无木浆第四代芯体已进入量产，轻薄+不起坨是高端标配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70992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🌿 可降解（PLA/PPC）正从小众走向主流，2026年临界点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245973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🦠 功能化面层（益生菌/弱酸/护肤）是高端价格带的核心驱动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20954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SSMMS无纺布升级、纳米纤维素、智能感知是下一代技术赛道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395935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9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🇨🇳 国产技术（豪悦/可靠/联泓）在部分方向已形成对国际品牌的反超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数据来源：Open Innovation知识库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April 2026 | Confidential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85632" y="4645152"/>
            <a:ext cx="384048" cy="3840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485632" y="4645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2026-04-10T14:09:48Z</dcterms:created>
  <dcterms:modified xsi:type="dcterms:W3CDTF">2026-04-10T14:09:48Z</dcterms:modified>
</cp:coreProperties>
</file>