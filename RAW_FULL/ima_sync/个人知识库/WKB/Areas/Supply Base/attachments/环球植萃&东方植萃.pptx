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svg" ContentType="image/svg+xml"/>
  <Override PartName="/ppt/media/image15.svg" ContentType="image/svg+xml"/>
  <Override PartName="/ppt/media/image21.svg" ContentType="image/svg+xml"/>
  <Override PartName="/ppt/media/image23.svg" ContentType="image/svg+xml"/>
  <Override PartName="/ppt/media/image27.svg" ContentType="image/svg+xml"/>
  <Override PartName="/ppt/media/image33.svg" ContentType="image/svg+xml"/>
  <Override PartName="/ppt/media/image35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webp" ContentType="image/webp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sldIdLst>
    <p:sldId id="257" r:id="rId4"/>
    <p:sldId id="259" r:id="rId5"/>
    <p:sldId id="274" r:id="rId6"/>
    <p:sldId id="277" r:id="rId7"/>
    <p:sldId id="273" r:id="rId8"/>
    <p:sldId id="272" r:id="rId9"/>
    <p:sldId id="270" r:id="rId10"/>
    <p:sldId id="271" r:id="rId12"/>
    <p:sldId id="263" r:id="rId13"/>
    <p:sldId id="266" r:id="rId14"/>
    <p:sldId id="275" r:id="rId15"/>
    <p:sldId id="276" r:id="rId16"/>
    <p:sldId id="26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6" userDrawn="1">
          <p15:clr>
            <a:srgbClr val="A4A3A4"/>
          </p15:clr>
        </p15:guide>
        <p15:guide id="2" pos="3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BCA0"/>
    <a:srgbClr val="A7D7C5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46"/>
        <p:guide pos="37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image" Target="../media/image2.png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AutoShape 2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图片 7" descr="logo1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985375" y="-20320"/>
            <a:ext cx="2132417" cy="900000"/>
          </a:xfrm>
          <a:prstGeom prst="rect">
            <a:avLst/>
          </a:prstGeom>
        </p:spPr>
      </p:pic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image" Target="../media/image11.png"/><Relationship Id="rId7" Type="http://schemas.openxmlformats.org/officeDocument/2006/relationships/image" Target="../media/image10.jpe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35.xml"/><Relationship Id="rId14" Type="http://schemas.openxmlformats.org/officeDocument/2006/relationships/image" Target="../media/image17.jpeg"/><Relationship Id="rId13" Type="http://schemas.openxmlformats.org/officeDocument/2006/relationships/image" Target="../media/image16.jpeg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tags" Target="../tags/tag12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image" Target="../media/image18.jpeg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43.xml"/><Relationship Id="rId1" Type="http://schemas.openxmlformats.org/officeDocument/2006/relationships/tags" Target="../tags/tag13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tags" Target="../tags/tag14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51.xml"/><Relationship Id="rId13" Type="http://schemas.openxmlformats.org/officeDocument/2006/relationships/image" Target="../media/image25.jpeg"/><Relationship Id="rId12" Type="http://schemas.openxmlformats.org/officeDocument/2006/relationships/tags" Target="../tags/tag150.xml"/><Relationship Id="rId11" Type="http://schemas.openxmlformats.org/officeDocument/2006/relationships/image" Target="../media/image24.png"/><Relationship Id="rId10" Type="http://schemas.openxmlformats.org/officeDocument/2006/relationships/tags" Target="../tags/tag149.xml"/><Relationship Id="rId1" Type="http://schemas.openxmlformats.org/officeDocument/2006/relationships/tags" Target="../tags/tag14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60.xml"/><Relationship Id="rId14" Type="http://schemas.openxmlformats.org/officeDocument/2006/relationships/image" Target="../media/image29.jpeg"/><Relationship Id="rId13" Type="http://schemas.openxmlformats.org/officeDocument/2006/relationships/tags" Target="../tags/tag159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image" Target="../media/image28.png"/><Relationship Id="rId1" Type="http://schemas.openxmlformats.org/officeDocument/2006/relationships/tags" Target="../tags/tag15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tags" Target="../tags/tag162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69.xml"/><Relationship Id="rId14" Type="http://schemas.openxmlformats.org/officeDocument/2006/relationships/image" Target="../media/image31.jpeg"/><Relationship Id="rId13" Type="http://schemas.openxmlformats.org/officeDocument/2006/relationships/image" Target="../media/image30.jpeg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image" Target="../media/image23.svg"/><Relationship Id="rId1" Type="http://schemas.openxmlformats.org/officeDocument/2006/relationships/tags" Target="../tags/tag16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svg"/><Relationship Id="rId8" Type="http://schemas.openxmlformats.org/officeDocument/2006/relationships/image" Target="../media/image34.png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77.xml"/><Relationship Id="rId13" Type="http://schemas.openxmlformats.org/officeDocument/2006/relationships/image" Target="../media/image37.jpeg"/><Relationship Id="rId12" Type="http://schemas.openxmlformats.org/officeDocument/2006/relationships/image" Target="../media/image36.jpeg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tags" Target="../tags/tag17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tags" Target="../tags/tag181.xml"/><Relationship Id="rId7" Type="http://schemas.openxmlformats.org/officeDocument/2006/relationships/image" Target="../media/image41.svg"/><Relationship Id="rId6" Type="http://schemas.openxmlformats.org/officeDocument/2006/relationships/image" Target="../media/image40.png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85.xml"/><Relationship Id="rId15" Type="http://schemas.openxmlformats.org/officeDocument/2006/relationships/image" Target="../media/image45.webp"/><Relationship Id="rId14" Type="http://schemas.openxmlformats.org/officeDocument/2006/relationships/image" Target="../media/image44.jpeg"/><Relationship Id="rId13" Type="http://schemas.openxmlformats.org/officeDocument/2006/relationships/tags" Target="../tags/tag184.xml"/><Relationship Id="rId12" Type="http://schemas.openxmlformats.org/officeDocument/2006/relationships/tags" Target="../tags/tag183.xml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tags" Target="../tags/tag17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tags" Target="../tags/tag190.xml"/><Relationship Id="rId7" Type="http://schemas.openxmlformats.org/officeDocument/2006/relationships/image" Target="../media/image48.svg"/><Relationship Id="rId6" Type="http://schemas.openxmlformats.org/officeDocument/2006/relationships/image" Target="../media/image47.png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206.xml"/><Relationship Id="rId30" Type="http://schemas.openxmlformats.org/officeDocument/2006/relationships/tags" Target="../tags/tag205.xml"/><Relationship Id="rId3" Type="http://schemas.openxmlformats.org/officeDocument/2006/relationships/tags" Target="../tags/tag187.xml"/><Relationship Id="rId29" Type="http://schemas.openxmlformats.org/officeDocument/2006/relationships/image" Target="../media/image55.jpeg"/><Relationship Id="rId28" Type="http://schemas.openxmlformats.org/officeDocument/2006/relationships/tags" Target="../tags/tag204.xml"/><Relationship Id="rId27" Type="http://schemas.openxmlformats.org/officeDocument/2006/relationships/tags" Target="../tags/tag203.xml"/><Relationship Id="rId26" Type="http://schemas.openxmlformats.org/officeDocument/2006/relationships/tags" Target="../tags/tag202.xml"/><Relationship Id="rId25" Type="http://schemas.openxmlformats.org/officeDocument/2006/relationships/image" Target="../media/image54.svg"/><Relationship Id="rId24" Type="http://schemas.openxmlformats.org/officeDocument/2006/relationships/image" Target="../media/image53.png"/><Relationship Id="rId23" Type="http://schemas.openxmlformats.org/officeDocument/2006/relationships/tags" Target="../tags/tag201.xml"/><Relationship Id="rId22" Type="http://schemas.openxmlformats.org/officeDocument/2006/relationships/tags" Target="../tags/tag200.xml"/><Relationship Id="rId21" Type="http://schemas.openxmlformats.org/officeDocument/2006/relationships/tags" Target="../tags/tag199.xml"/><Relationship Id="rId20" Type="http://schemas.openxmlformats.org/officeDocument/2006/relationships/tags" Target="../tags/tag198.xml"/><Relationship Id="rId2" Type="http://schemas.openxmlformats.org/officeDocument/2006/relationships/image" Target="../media/image46.jpeg"/><Relationship Id="rId19" Type="http://schemas.openxmlformats.org/officeDocument/2006/relationships/image" Target="../media/image52.svg"/><Relationship Id="rId18" Type="http://schemas.openxmlformats.org/officeDocument/2006/relationships/image" Target="../media/image51.png"/><Relationship Id="rId17" Type="http://schemas.openxmlformats.org/officeDocument/2006/relationships/tags" Target="../tags/tag197.xml"/><Relationship Id="rId16" Type="http://schemas.openxmlformats.org/officeDocument/2006/relationships/tags" Target="../tags/tag196.xml"/><Relationship Id="rId15" Type="http://schemas.openxmlformats.org/officeDocument/2006/relationships/tags" Target="../tags/tag195.xml"/><Relationship Id="rId14" Type="http://schemas.openxmlformats.org/officeDocument/2006/relationships/tags" Target="../tags/tag194.xml"/><Relationship Id="rId13" Type="http://schemas.openxmlformats.org/officeDocument/2006/relationships/image" Target="../media/image50.svg"/><Relationship Id="rId12" Type="http://schemas.openxmlformats.org/officeDocument/2006/relationships/image" Target="../media/image49.png"/><Relationship Id="rId11" Type="http://schemas.openxmlformats.org/officeDocument/2006/relationships/tags" Target="../tags/tag193.xml"/><Relationship Id="rId10" Type="http://schemas.openxmlformats.org/officeDocument/2006/relationships/tags" Target="../tags/tag192.xml"/><Relationship Id="rId1" Type="http://schemas.openxmlformats.org/officeDocument/2006/relationships/tags" Target="../tags/tag18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08.xml"/><Relationship Id="rId3" Type="http://schemas.openxmlformats.org/officeDocument/2006/relationships/image" Target="../media/image57.jpeg"/><Relationship Id="rId2" Type="http://schemas.openxmlformats.org/officeDocument/2006/relationships/tags" Target="../tags/tag207.xml"/><Relationship Id="rId1" Type="http://schemas.openxmlformats.org/officeDocument/2006/relationships/image" Target="../media/image56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image" Target="../media/image58.jpeg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19.xml"/><Relationship Id="rId13" Type="http://schemas.openxmlformats.org/officeDocument/2006/relationships/tags" Target="../tags/tag218.xml"/><Relationship Id="rId12" Type="http://schemas.openxmlformats.org/officeDocument/2006/relationships/image" Target="../media/image60.png"/><Relationship Id="rId11" Type="http://schemas.openxmlformats.org/officeDocument/2006/relationships/tags" Target="../tags/tag217.xml"/><Relationship Id="rId10" Type="http://schemas.openxmlformats.org/officeDocument/2006/relationships/image" Target="../media/image59.jpeg"/><Relationship Id="rId1" Type="http://schemas.openxmlformats.org/officeDocument/2006/relationships/tags" Target="../tags/tag20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4"/>
          <p:cNvSpPr/>
          <p:nvPr/>
        </p:nvSpPr>
        <p:spPr>
          <a:xfrm>
            <a:off x="5588000" y="4171950"/>
            <a:ext cx="10160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6"/>
          <p:cNvSpPr/>
          <p:nvPr/>
        </p:nvSpPr>
        <p:spPr>
          <a:xfrm>
            <a:off x="0" y="477012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FFFFFF">
                    <a:alpha val="7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天津聚合芯能健护科技有限公司</a:t>
            </a:r>
            <a:endParaRPr 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3"/>
          <p:cNvSpPr/>
          <p:nvPr/>
        </p:nvSpPr>
        <p:spPr>
          <a:xfrm>
            <a:off x="1016000" y="158115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800" b="1" i="0">
                <a:solidFill>
                  <a:srgbClr val="FFFFFF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环球</a:t>
            </a:r>
            <a:r>
              <a:rPr lang="en-US" sz="4800" b="1" i="0">
                <a:solidFill>
                  <a:srgbClr val="FFFFFF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植萃 &amp; </a:t>
            </a:r>
            <a:r>
              <a:rPr lang="zh-CN" altLang="en-US" sz="4800" b="1" i="0">
                <a:solidFill>
                  <a:srgbClr val="FFFFFF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东方植萃</a:t>
            </a:r>
            <a:endParaRPr lang="zh-CN" altLang="en-US" sz="4800" b="1" i="0">
              <a:solidFill>
                <a:srgbClr val="FFFFFF"/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4"/>
          <p:cNvSpPr/>
          <p:nvPr/>
        </p:nvSpPr>
        <p:spPr>
          <a:xfrm>
            <a:off x="1016000" y="270129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>
                <a:solidFill>
                  <a:srgbClr val="FFFFFF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卫生巾品牌高端化</a:t>
            </a:r>
            <a:r>
              <a:rPr lang="zh-CN" altLang="en-US" sz="6000" b="1" i="0">
                <a:solidFill>
                  <a:srgbClr val="FFFFFF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精选原料</a:t>
            </a:r>
            <a:endParaRPr lang="zh-CN" altLang="en-US" sz="6000" b="1" i="0">
              <a:solidFill>
                <a:srgbClr val="FFFFFF"/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745850" y="5345390"/>
            <a:ext cx="2700000" cy="316800"/>
          </a:xfrm>
        </p:spPr>
        <p:txBody>
          <a:bodyPr>
            <a:noAutofit/>
          </a:bodyPr>
          <a:p>
            <a:pPr algn="ctr"/>
            <a:r>
              <a:rPr lang="zh-CN" sz="2000" b="1">
                <a:solidFill>
                  <a:srgbClr val="FFFFFF">
                    <a:alpha val="7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2026年6月</a:t>
            </a:r>
            <a:endParaRPr lang="zh-CN" altLang="en-US" sz="2000" b="1">
              <a:solidFill>
                <a:srgbClr val="FFFFFF">
                  <a:alpha val="74902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utoShape 3"/>
          <p:cNvSpPr/>
          <p:nvPr/>
        </p:nvSpPr>
        <p:spPr>
          <a:xfrm>
            <a:off x="648000" y="396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阿尔卑斯高山火绒草提取物</a:t>
            </a:r>
            <a:endParaRPr lang="en-US" sz="3000" b="1" i="0">
              <a:solidFill>
                <a:schemeClr val="tx1"/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47700" y="870585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1600">
                <a:solidFill>
                  <a:srgbClr val="666666"/>
                </a:solidFill>
                <a:uFillTx/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Noto Sans SC" panose="020B0200000000000000" charset="-122"/>
              </a:rPr>
              <a:t>LEONTOPODIUM ALPINUM EXTRACT</a:t>
            </a:r>
            <a:endParaRPr lang="en-US" sz="1600">
              <a:solidFill>
                <a:srgbClr val="666666"/>
              </a:solidFill>
              <a:uFillTx/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762000" y="1607185"/>
            <a:ext cx="5207000" cy="1524000"/>
            <a:chOff x="1200" y="2662"/>
            <a:chExt cx="8200" cy="2400"/>
          </a:xfrm>
        </p:grpSpPr>
        <p:sp>
          <p:nvSpPr>
            <p:cNvPr id="5" name="AutoShape 5"/>
            <p:cNvSpPr/>
            <p:nvPr/>
          </p:nvSpPr>
          <p:spPr>
            <a:xfrm>
              <a:off x="1200" y="2662"/>
              <a:ext cx="8200" cy="240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indent="0" algn="ctr" fontAlgn="auto">
                <a:lnSpc>
                  <a:spcPct val="110000"/>
                </a:lnSpc>
                <a:defRPr/>
              </a:pPr>
              <a:endParaRPr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6" name="AutoShape 6"/>
            <p:cNvSpPr/>
            <p:nvPr/>
          </p:nvSpPr>
          <p:spPr>
            <a:xfrm>
              <a:off x="1200" y="2662"/>
              <a:ext cx="120" cy="2400"/>
            </a:xfrm>
            <a:prstGeom prst="roundRect">
              <a:avLst>
                <a:gd name="adj" fmla="val 0"/>
              </a:avLst>
            </a:prstGeom>
            <a:solidFill>
              <a:srgbClr val="A9BCA0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indent="0" algn="ctr" fontAlgn="auto">
                <a:lnSpc>
                  <a:spcPct val="110000"/>
                </a:lnSpc>
                <a:defRPr/>
              </a:pPr>
              <a:endParaRPr sz="140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" name="AutoShape 7"/>
            <p:cNvSpPr/>
            <p:nvPr/>
          </p:nvSpPr>
          <p:spPr>
            <a:xfrm>
              <a:off x="1700" y="2962"/>
              <a:ext cx="72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just" fontAlgn="auto">
                <a:lnSpc>
                  <a:spcPct val="110000"/>
                </a:lnSpc>
                <a:defRPr/>
              </a:pPr>
              <a:r>
                <a:rPr lang="en-US" b="1" i="0">
                  <a:solidFill>
                    <a:srgbClr val="A9BCA0"/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🌿  原料故事</a:t>
              </a:r>
              <a:endParaRPr lang="en-US" b="1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  <a:p>
              <a:pPr indent="0" algn="just" fontAlgn="auto">
                <a:lnSpc>
                  <a:spcPct val="110000"/>
                </a:lnSpc>
                <a:spcBef>
                  <a:spcPts val="800"/>
                </a:spcBef>
              </a:pPr>
              <a:r>
                <a:rPr 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生长于</a:t>
              </a:r>
              <a:r>
                <a:rPr lang="en-US" sz="1400" b="1" i="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瑞士阿尔卑斯山脉</a:t>
              </a:r>
              <a:r>
                <a:rPr 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海拔3000米以上的极端环境中，被誉为</a:t>
              </a:r>
              <a:r>
                <a:rPr lang="en-US" sz="1400" b="1" i="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“永生之花”</a:t>
              </a:r>
              <a:r>
                <a:rPr 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，具备卓越的自我保护和修复能力，获</a:t>
              </a:r>
              <a:r>
                <a:rPr lang="en-US" sz="1400" b="1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瑞士有机认证</a:t>
              </a:r>
              <a:r>
                <a:rPr 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，</a:t>
              </a: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Songti SC"/>
                </a:rPr>
                <a:t>同时可提供瑞士产地证及国际</a:t>
              </a:r>
              <a:r>
                <a:rPr 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Songti SC"/>
                </a:rPr>
                <a:t>清真声明(HALAL)</a:t>
              </a: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Songti SC"/>
                </a:rPr>
                <a:t>，品质备受认可。</a:t>
              </a:r>
              <a:endPara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62000" y="3471545"/>
            <a:ext cx="5207000" cy="2421890"/>
            <a:chOff x="1200" y="5662"/>
            <a:chExt cx="8200" cy="3814"/>
          </a:xfrm>
        </p:grpSpPr>
        <p:sp>
          <p:nvSpPr>
            <p:cNvPr id="8" name="AutoShape 8"/>
            <p:cNvSpPr/>
            <p:nvPr/>
          </p:nvSpPr>
          <p:spPr>
            <a:xfrm>
              <a:off x="1200" y="5662"/>
              <a:ext cx="8200" cy="3814"/>
            </a:xfrm>
            <a:prstGeom prst="roundRect">
              <a:avLst>
                <a:gd name="adj" fmla="val 6315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indent="0" algn="ctr" fontAlgn="auto">
                <a:lnSpc>
                  <a:spcPct val="110000"/>
                </a:lnSpc>
                <a:defRPr/>
              </a:pPr>
              <a:endParaRPr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9" name="AutoShape 9"/>
            <p:cNvSpPr/>
            <p:nvPr/>
          </p:nvSpPr>
          <p:spPr>
            <a:xfrm>
              <a:off x="1500" y="5781"/>
              <a:ext cx="7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just" fontAlgn="auto">
                <a:lnSpc>
                  <a:spcPct val="110000"/>
                </a:lnSpc>
                <a:buClrTx/>
                <a:buSzTx/>
                <a:buFontTx/>
                <a:defRPr/>
              </a:pPr>
              <a:r>
                <a:rPr lang="en-US" sz="1800" b="1" i="0">
                  <a:solidFill>
                    <a:srgbClr val="A9BCA0"/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✨  核心功效</a:t>
              </a:r>
              <a:endParaRPr lang="en-US" sz="1800" b="1" i="0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62" y="6561"/>
              <a:ext cx="440" cy="44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/>
          </p:nvSpPr>
          <p:spPr>
            <a:xfrm>
              <a:off x="2096" y="6593"/>
              <a:ext cx="310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just" fontAlgn="auto">
                <a:lnSpc>
                  <a:spcPct val="110000"/>
                </a:lnSpc>
                <a:spcBef>
                  <a:spcPts val="600"/>
                </a:spcBef>
                <a:defRPr/>
              </a:pPr>
              <a:r>
                <a:rPr lang="en-US" sz="1600" b="1" i="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强韧屏障</a:t>
              </a:r>
              <a:endParaRPr lang="en-US" sz="1600" b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  <a:p>
              <a:pPr marL="0" indent="0" algn="just">
                <a:lnSpc>
                  <a:spcPct val="100000"/>
                </a:lnSpc>
                <a:spcBef>
                  <a:spcPts val="400"/>
                </a:spcBef>
              </a:pPr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Songti SC"/>
                  <a:sym typeface="Songti SC"/>
                </a:rPr>
                <a:t>深层增强皮肤屏障功能，提升肌肤对外界刺激的抵御力，减少环境伤害。</a:t>
              </a:r>
              <a:endParaRPr lang="en-US" sz="12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Songti SC"/>
                <a:sym typeface="Songti SC"/>
              </a:endParaRPr>
            </a:p>
          </p:txBody>
        </p:sp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46" y="6561"/>
              <a:ext cx="440" cy="440"/>
            </a:xfrm>
            <a:prstGeom prst="rect">
              <a:avLst/>
            </a:prstGeom>
          </p:spPr>
        </p:pic>
        <p:sp>
          <p:nvSpPr>
            <p:cNvPr id="13" name="AutoShape 13"/>
            <p:cNvSpPr/>
            <p:nvPr/>
          </p:nvSpPr>
          <p:spPr>
            <a:xfrm>
              <a:off x="6148" y="6593"/>
              <a:ext cx="300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just" fontAlgn="auto">
                <a:lnSpc>
                  <a:spcPct val="110000"/>
                </a:lnSpc>
                <a:spcBef>
                  <a:spcPts val="600"/>
                </a:spcBef>
                <a:buClrTx/>
                <a:buSzTx/>
                <a:buFontTx/>
                <a:defRPr/>
              </a:pPr>
              <a:r>
                <a:rPr lang="en-US" sz="1600" b="1" i="0"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强效抗氧化</a:t>
              </a:r>
              <a:endParaRPr lang="en-US" sz="1600" b="1"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</a:endParaRPr>
            </a:p>
            <a:p>
              <a:pPr marL="0" indent="0" algn="just">
                <a:lnSpc>
                  <a:spcPct val="100000"/>
                </a:lnSpc>
                <a:spcBef>
                  <a:spcPts val="400"/>
                </a:spcBef>
              </a:pPr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Songti SC"/>
                  <a:sym typeface="Songti SC"/>
                </a:rPr>
                <a:t>富含雪绒花酸等活性成分，高效清除自由基，延缓肌肤氧化衰老进程。</a:t>
              </a:r>
              <a:endParaRPr lang="en-US" sz="12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Songti SC"/>
                <a:sym typeface="Songti SC"/>
              </a:endParaRPr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62" y="7969"/>
              <a:ext cx="440" cy="440"/>
            </a:xfrm>
            <a:prstGeom prst="rect">
              <a:avLst/>
            </a:prstGeom>
          </p:spPr>
        </p:pic>
        <p:sp>
          <p:nvSpPr>
            <p:cNvPr id="17" name="AutoShape 17"/>
            <p:cNvSpPr/>
            <p:nvPr/>
          </p:nvSpPr>
          <p:spPr>
            <a:xfrm>
              <a:off x="2096" y="8065"/>
              <a:ext cx="300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just" fontAlgn="auto">
                <a:lnSpc>
                  <a:spcPct val="110000"/>
                </a:lnSpc>
                <a:spcBef>
                  <a:spcPts val="600"/>
                </a:spcBef>
                <a:buClrTx/>
                <a:buSzTx/>
                <a:buFontTx/>
                <a:defRPr/>
              </a:pPr>
              <a:r>
                <a:rPr lang="en-US" sz="1600" b="1" i="0"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修护敏感</a:t>
              </a:r>
              <a:endParaRPr lang="en-US" sz="1600" b="1"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</a:endParaRPr>
            </a:p>
            <a:p>
              <a:pPr marL="0" indent="0" algn="just">
                <a:lnSpc>
                  <a:spcPct val="100000"/>
                </a:lnSpc>
                <a:spcBef>
                  <a:spcPts val="400"/>
                </a:spcBef>
              </a:pPr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Songti SC"/>
                  <a:sym typeface="Songti SC"/>
                </a:rPr>
                <a:t>温和维稳肌肤状态，舒缓不适，有效改善并减少泛红等敏感症状。</a:t>
              </a:r>
              <a:endParaRPr lang="en-US" sz="12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Songti SC"/>
                <a:sym typeface="Songti SC"/>
              </a:endParaRPr>
            </a:p>
          </p:txBody>
        </p:sp>
      </p:grpSp>
      <p:pic>
        <p:nvPicPr>
          <p:cNvPr id="18" name="Picture 18"/>
          <p:cNvPicPr/>
          <p:nvPr/>
        </p:nvPicPr>
        <p:blipFill>
          <a:blip r:embed="rId7"/>
          <a:srcRect t="22560" b="22560"/>
          <a:stretch>
            <a:fillRect/>
          </a:stretch>
        </p:blipFill>
        <p:spPr>
          <a:xfrm>
            <a:off x="6223000" y="1612265"/>
            <a:ext cx="5205730" cy="1859915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6223635" y="3652520"/>
            <a:ext cx="5206365" cy="2240915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indent="0" algn="ctr" fontAlgn="auto">
              <a:lnSpc>
                <a:spcPct val="110000"/>
              </a:lnSpc>
              <a:defRPr/>
            </a:pPr>
            <a:endParaRPr sz="1400">
              <a:solidFill>
                <a:schemeClr val="tx1">
                  <a:lumMod val="75000"/>
                  <a:lumOff val="2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015730" y="3790315"/>
            <a:ext cx="2193925" cy="1965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defRPr/>
            </a:pPr>
            <a:r>
              <a:rPr lang="en-US" sz="1600" b="1" i="0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🛍️ 市场应用</a:t>
            </a:r>
            <a:endParaRPr lang="en-US" sz="1600" b="1">
              <a:solidFill>
                <a:srgbClr val="A9BCA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•迪奥雪白瓶精华：</a:t>
            </a: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以高山火绒草精萃作为核心活性成分，依托其独特的生长特性与修护能力，主打强韧肌肤屏障、强效抗氧化与提亮匀肤功效，成为高端护肤领域植萃应用的经典案例。</a:t>
            </a:r>
            <a:endParaRPr 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" name="图片 26" descr="6a5660b798ed32def2fccba7ca0e37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3500" y="3850005"/>
            <a:ext cx="2386965" cy="1845945"/>
          </a:xfrm>
          <a:prstGeom prst="roundRect">
            <a:avLst/>
          </a:prstGeom>
        </p:spPr>
      </p:pic>
      <p:sp>
        <p:nvSpPr>
          <p:cNvPr id="20" name="AutoShape 17"/>
          <p:cNvSpPr/>
          <p:nvPr/>
        </p:nvSpPr>
        <p:spPr>
          <a:xfrm>
            <a:off x="3521710" y="4935855"/>
            <a:ext cx="2287270" cy="825500"/>
          </a:xfrm>
          <a:prstGeom prst="roundRect">
            <a:avLst>
              <a:gd name="adj" fmla="val 3384"/>
            </a:avLst>
          </a:prstGeom>
          <a:solidFill>
            <a:srgbClr val="A9BCA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10000"/>
              </a:lnSpc>
              <a:spcBef>
                <a:spcPts val="600"/>
              </a:spcBef>
              <a:buClrTx/>
              <a:buSzTx/>
              <a:buFontTx/>
              <a:defRPr/>
            </a:pPr>
            <a:r>
              <a:rPr lang="en-US" sz="1600" b="1" i="0"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双认证品质保障</a:t>
            </a:r>
            <a:endParaRPr lang="en-US" sz="1600" b="1"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</a:endParaRPr>
          </a:p>
          <a:p>
            <a:pPr marL="0" indent="0" algn="ctr">
              <a:lnSpc>
                <a:spcPct val="100000"/>
              </a:lnSpc>
              <a:spcBef>
                <a:spcPts val="400"/>
              </a:spcBef>
            </a:pPr>
            <a:r>
              <a:rPr lang="en-US" sz="12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Songti SC"/>
                <a:sym typeface="Songti SC"/>
              </a:rPr>
              <a:t>瑞士有机 + 国际清真HALAL</a:t>
            </a:r>
            <a:endParaRPr lang="en-US" sz="12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Songti SC"/>
              <a:sym typeface="Songti SC"/>
            </a:endParaRPr>
          </a:p>
        </p:txBody>
      </p:sp>
      <p:sp>
        <p:nvSpPr>
          <p:cNvPr id="23" name="日期占位符 2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AutoShape 5"/>
          <p:cNvSpPr/>
          <p:nvPr>
            <p:custDataLst>
              <p:tags r:id="rId1"/>
            </p:custDataLst>
          </p:nvPr>
        </p:nvSpPr>
        <p:spPr>
          <a:xfrm>
            <a:off x="6275705" y="3404235"/>
            <a:ext cx="5207000" cy="2291080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A3B899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Calibri" panose="020F0502020204030204" charset="0"/>
              <a:ea typeface="宋体" panose="0201060003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47700" y="1764030"/>
            <a:ext cx="5249545" cy="1184275"/>
            <a:chOff x="1534" y="3384"/>
            <a:chExt cx="8800" cy="1800"/>
          </a:xfrm>
        </p:grpSpPr>
        <p:sp>
          <p:nvSpPr>
            <p:cNvPr id="6" name="AutoShape 6"/>
            <p:cNvSpPr/>
            <p:nvPr/>
          </p:nvSpPr>
          <p:spPr>
            <a:xfrm>
              <a:off x="1534" y="3384"/>
              <a:ext cx="8800" cy="1800"/>
            </a:xfrm>
            <a:prstGeom prst="roundRect">
              <a:avLst>
                <a:gd name="adj" fmla="val 8888"/>
              </a:avLst>
            </a:prstGeom>
            <a:solidFill>
              <a:srgbClr val="F7F9F6">
                <a:alpha val="100000"/>
              </a:srgbClr>
            </a:solidFill>
            <a:ln w="12700" cap="flat" cmpd="sng">
              <a:solidFill>
                <a:srgbClr val="A3B899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indent="0" algn="ctr" fontAlgn="auto">
                <a:lnSpc>
                  <a:spcPct val="110000"/>
                </a:lnSpc>
                <a:defRPr/>
              </a:pPr>
              <a:endParaRPr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34" y="4084"/>
              <a:ext cx="400" cy="400"/>
            </a:xfrm>
            <a:prstGeom prst="rect">
              <a:avLst/>
            </a:prstGeom>
          </p:spPr>
        </p:pic>
        <p:sp>
          <p:nvSpPr>
            <p:cNvPr id="8" name="AutoShape 8"/>
            <p:cNvSpPr/>
            <p:nvPr/>
          </p:nvSpPr>
          <p:spPr>
            <a:xfrm>
              <a:off x="2534" y="3584"/>
              <a:ext cx="7400" cy="1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 fontAlgn="auto">
                <a:lnSpc>
                  <a:spcPct val="110000"/>
                </a:lnSpc>
                <a:defRPr/>
              </a:pPr>
              <a:r>
                <a:rPr lang="en-US" b="1" i="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  <a:sym typeface="Noto Sans SC" panose="020B0200000000000000" charset="-122"/>
                </a:rPr>
                <a:t>产地故事：</a:t>
              </a: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  <a:sym typeface="Noto Sans SC" panose="020B0200000000000000" charset="-122"/>
                </a:rPr>
                <a:t>又名</a:t>
              </a:r>
              <a:r>
                <a:rPr lang="en-US" sz="1400" b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  <a:sym typeface="Noto Sans SC" panose="020B0200000000000000" charset="-122"/>
                </a:rPr>
                <a:t>“极地花”</a:t>
              </a: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  <a:sym typeface="Noto Sans SC" panose="020B0200000000000000" charset="-122"/>
                </a:rPr>
                <a:t>，</a:t>
              </a:r>
              <a:r>
                <a:rPr lang="en-US" sz="1400" b="1" i="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  <a:sym typeface="Noto Sans SC" panose="020B0200000000000000" charset="-122"/>
                </a:rPr>
                <a:t>源自印度</a:t>
              </a:r>
              <a:r>
                <a:rPr 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  <a:sym typeface="Noto Sans SC" panose="020B0200000000000000" charset="-122"/>
                </a:rPr>
                <a:t>龙胆草叶子，由法国 Lucas Meyer Cosmetics 公司研发的专利成分，是护肤科技的突破性成果。</a:t>
              </a:r>
              <a:endPara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47700" y="3246120"/>
            <a:ext cx="5249545" cy="1316355"/>
            <a:chOff x="1534" y="5384"/>
            <a:chExt cx="8800" cy="2000"/>
          </a:xfrm>
        </p:grpSpPr>
        <p:sp>
          <p:nvSpPr>
            <p:cNvPr id="9" name="AutoShape 9"/>
            <p:cNvSpPr/>
            <p:nvPr/>
          </p:nvSpPr>
          <p:spPr>
            <a:xfrm>
              <a:off x="1534" y="5384"/>
              <a:ext cx="8800" cy="2000"/>
            </a:xfrm>
            <a:prstGeom prst="roundRect">
              <a:avLst>
                <a:gd name="adj" fmla="val 8000"/>
              </a:avLst>
            </a:prstGeom>
            <a:solidFill>
              <a:srgbClr val="F7F9F6">
                <a:alpha val="100000"/>
              </a:srgbClr>
            </a:solidFill>
            <a:ln w="12700" cap="flat" cmpd="sng">
              <a:solidFill>
                <a:srgbClr val="A3B899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indent="0" algn="ctr" fontAlgn="auto">
                <a:lnSpc>
                  <a:spcPct val="110000"/>
                </a:lnSpc>
                <a:defRPr/>
              </a:pPr>
              <a:endParaRPr>
                <a:ea typeface="宋体" panose="02010600030101010101" pitchFamily="2" charset="-122"/>
              </a:endParaRPr>
            </a:p>
          </p:txBody>
        </p:sp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34" y="6184"/>
              <a:ext cx="400" cy="40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/>
          </p:nvSpPr>
          <p:spPr>
            <a:xfrm>
              <a:off x="2534" y="5584"/>
              <a:ext cx="7400" cy="1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 fontAlgn="auto">
                <a:lnSpc>
                  <a:spcPct val="110000"/>
                </a:lnSpc>
                <a:defRPr/>
              </a:pPr>
              <a:r>
                <a:rPr lang="en-US" b="1" i="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核心功效：</a:t>
              </a:r>
              <a:r>
                <a:rPr 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模拟干细胞科技，能促进角质细胞生长因子生成，具有快速淡化纹路、平滑肌肤的功效。临床证实 7 天即可看到显著</a:t>
              </a:r>
              <a:r>
                <a:rPr lang="zh-CN" alt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效果</a:t>
              </a:r>
              <a:r>
                <a:rPr lang="en-US" sz="140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6"/>
            </p:custDataLst>
          </p:nvPr>
        </p:nvGrpSpPr>
        <p:grpSpPr>
          <a:xfrm>
            <a:off x="654050" y="4906010"/>
            <a:ext cx="5249545" cy="789305"/>
            <a:chOff x="1534" y="7584"/>
            <a:chExt cx="8800" cy="1200"/>
          </a:xfrm>
        </p:grpSpPr>
        <p:sp>
          <p:nvSpPr>
            <p:cNvPr id="12" name="AutoShape 12"/>
            <p:cNvSpPr/>
            <p:nvPr>
              <p:custDataLst>
                <p:tags r:id="rId7"/>
              </p:custDataLst>
            </p:nvPr>
          </p:nvSpPr>
          <p:spPr>
            <a:xfrm>
              <a:off x="1534" y="7584"/>
              <a:ext cx="2700" cy="1200"/>
            </a:xfrm>
            <a:prstGeom prst="roundRect">
              <a:avLst>
                <a:gd name="adj" fmla="val 10000"/>
              </a:avLst>
            </a:prstGeom>
            <a:solidFill>
              <a:srgbClr val="A3B89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indent="0" algn="ctr" fontAlgn="auto">
                <a:lnSpc>
                  <a:spcPct val="110000"/>
                </a:lnSpc>
                <a:defRPr/>
              </a:pPr>
              <a:endParaRPr b="1">
                <a:ea typeface="宋体" panose="02010600030101010101" pitchFamily="2" charset="-122"/>
              </a:endParaRPr>
            </a:p>
          </p:txBody>
        </p:sp>
        <p:sp>
          <p:nvSpPr>
            <p:cNvPr id="13" name="AutoShape 13"/>
            <p:cNvSpPr/>
            <p:nvPr>
              <p:custDataLst>
                <p:tags r:id="rId8"/>
              </p:custDataLst>
            </p:nvPr>
          </p:nvSpPr>
          <p:spPr>
            <a:xfrm>
              <a:off x="1534" y="7744"/>
              <a:ext cx="27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 fontAlgn="auto">
                <a:lnSpc>
                  <a:spcPct val="110000"/>
                </a:lnSpc>
                <a:defRPr/>
              </a:pPr>
              <a:r>
                <a:rPr lang="en-US" sz="1400" b="1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复刻干细胞级</a:t>
              </a:r>
              <a:br>
                <a:rPr lang="en-US" sz="1400" b="1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400" b="1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修护科技</a:t>
              </a:r>
              <a:endParaRPr lang="en-US" sz="14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4" name="AutoShape 14"/>
            <p:cNvSpPr/>
            <p:nvPr>
              <p:custDataLst>
                <p:tags r:id="rId9"/>
              </p:custDataLst>
            </p:nvPr>
          </p:nvSpPr>
          <p:spPr>
            <a:xfrm>
              <a:off x="4574" y="7584"/>
              <a:ext cx="2700" cy="1200"/>
            </a:xfrm>
            <a:prstGeom prst="roundRect">
              <a:avLst>
                <a:gd name="adj" fmla="val 10000"/>
              </a:avLst>
            </a:prstGeom>
            <a:solidFill>
              <a:srgbClr val="A3B89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indent="0" algn="ctr" fontAlgn="auto">
                <a:lnSpc>
                  <a:spcPct val="110000"/>
                </a:lnSpc>
                <a:defRPr/>
              </a:pPr>
              <a:endParaRPr b="1">
                <a:ea typeface="宋体" panose="02010600030101010101" pitchFamily="2" charset="-122"/>
              </a:endParaRPr>
            </a:p>
          </p:txBody>
        </p:sp>
        <p:sp>
          <p:nvSpPr>
            <p:cNvPr id="15" name="AutoShape 15"/>
            <p:cNvSpPr/>
            <p:nvPr>
              <p:custDataLst>
                <p:tags r:id="rId10"/>
              </p:custDataLst>
            </p:nvPr>
          </p:nvSpPr>
          <p:spPr>
            <a:xfrm>
              <a:off x="4574" y="7744"/>
              <a:ext cx="27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 fontAlgn="auto">
                <a:lnSpc>
                  <a:spcPct val="110000"/>
                </a:lnSpc>
                <a:defRPr/>
              </a:pPr>
              <a:r>
                <a:rPr lang="en-US" sz="1400" b="1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7天见证</a:t>
              </a:r>
              <a:br>
                <a:rPr lang="en-US" sz="1400" b="1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400" b="1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平滑奇迹</a:t>
              </a:r>
              <a:endParaRPr lang="en-US" sz="14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6" name="AutoShape 16"/>
            <p:cNvSpPr/>
            <p:nvPr>
              <p:custDataLst>
                <p:tags r:id="rId11"/>
              </p:custDataLst>
            </p:nvPr>
          </p:nvSpPr>
          <p:spPr>
            <a:xfrm>
              <a:off x="7634" y="7584"/>
              <a:ext cx="2700" cy="1200"/>
            </a:xfrm>
            <a:prstGeom prst="roundRect">
              <a:avLst>
                <a:gd name="adj" fmla="val 10000"/>
              </a:avLst>
            </a:prstGeom>
            <a:solidFill>
              <a:srgbClr val="A3B89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indent="0" algn="ctr" fontAlgn="auto">
                <a:lnSpc>
                  <a:spcPct val="110000"/>
                </a:lnSpc>
                <a:defRPr/>
              </a:pPr>
              <a:endParaRPr sz="1400" b="1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AutoShape 17"/>
            <p:cNvSpPr/>
            <p:nvPr>
              <p:custDataLst>
                <p:tags r:id="rId12"/>
              </p:custDataLst>
            </p:nvPr>
          </p:nvSpPr>
          <p:spPr>
            <a:xfrm>
              <a:off x="7634" y="7744"/>
              <a:ext cx="27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 fontAlgn="auto">
                <a:lnSpc>
                  <a:spcPct val="110000"/>
                </a:lnSpc>
                <a:defRPr/>
              </a:pPr>
              <a:r>
                <a:rPr lang="en-US" sz="1400" b="1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抚平岁月痕迹</a:t>
              </a:r>
              <a:br>
                <a:rPr lang="en-US" sz="1400" b="1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400" b="1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重拾紧致弹润</a:t>
              </a:r>
              <a:endParaRPr lang="en-US" sz="14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pic>
        <p:nvPicPr>
          <p:cNvPr id="2" name="Picture 6"/>
          <p:cNvPicPr>
            <a:picLocks noChangeAspect="1"/>
          </p:cNvPicPr>
          <p:nvPr/>
        </p:nvPicPr>
        <p:blipFill>
          <a:blip r:embed="rId13"/>
          <a:srcRect t="12342" b="12342"/>
          <a:stretch>
            <a:fillRect/>
          </a:stretch>
        </p:blipFill>
        <p:spPr>
          <a:xfrm>
            <a:off x="6276340" y="1767840"/>
            <a:ext cx="5207000" cy="1391285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647700" y="8712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1600">
                <a:solidFill>
                  <a:srgbClr val="666666"/>
                </a:solidFill>
                <a:uFillTx/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Noto Sans SC" panose="020B0200000000000000" charset="-122"/>
              </a:rPr>
              <a:t>SWERTIA CHIRATA EXTRACT</a:t>
            </a:r>
            <a:endParaRPr lang="en-US" sz="1600">
              <a:solidFill>
                <a:srgbClr val="666666"/>
              </a:solidFill>
              <a:uFillTx/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48000" y="396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000" b="1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印度獐牙菜提取物</a:t>
            </a:r>
            <a:endParaRPr lang="zh-CN" altLang="en-US" sz="3000" b="1" i="0">
              <a:solidFill>
                <a:schemeClr val="tx1"/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842375" y="3567113"/>
            <a:ext cx="2378075" cy="1965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defRPr/>
            </a:pPr>
            <a:r>
              <a:rPr lang="en-US" sz="1600" b="1" i="0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🛍️ 市场应用</a:t>
            </a:r>
            <a:endParaRPr lang="en-US" sz="1600" b="1">
              <a:solidFill>
                <a:srgbClr val="A9BCA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雅诗兰黛冻龄白金</a:t>
            </a:r>
            <a:r>
              <a:rPr 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2倍高纯极地花菁萃（印度獐牙菜），促进芯生蛋白、强韧基底、淡化垂直纹，高端抗老顶流。</a:t>
            </a:r>
            <a:endParaRPr lang="zh-CN" alt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图片 23" descr="雅诗兰黛冻龄白金"/>
          <p:cNvPicPr/>
          <p:nvPr/>
        </p:nvPicPr>
        <p:blipFill>
          <a:blip r:embed="rId14"/>
          <a:stretch>
            <a:fillRect/>
          </a:stretch>
        </p:blipFill>
        <p:spPr>
          <a:xfrm>
            <a:off x="6518910" y="3505775"/>
            <a:ext cx="2088000" cy="2088000"/>
          </a:xfrm>
          <a:prstGeom prst="round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AutoShape 3"/>
          <p:cNvSpPr/>
          <p:nvPr/>
        </p:nvSpPr>
        <p:spPr>
          <a:xfrm>
            <a:off x="648000" y="396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3000" b="1"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麦卢卡蜂蜜提取物</a:t>
            </a:r>
            <a:endParaRPr lang="zh-CN" altLang="en-US" sz="3000" b="1"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4"/>
          <p:cNvSpPr/>
          <p:nvPr/>
        </p:nvSpPr>
        <p:spPr>
          <a:xfrm>
            <a:off x="647700" y="8712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altLang="zh-CN" sz="1600">
                <a:solidFill>
                  <a:srgbClr val="666666"/>
                </a:solidFill>
                <a:uFillTx/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Noto Sans SC" panose="020B0200000000000000" charset="-122"/>
              </a:rPr>
              <a:t>MANUKA HONEY EXTRACT</a:t>
            </a:r>
            <a:endParaRPr lang="en-US" altLang="zh-CN" sz="1600">
              <a:solidFill>
                <a:srgbClr val="666666"/>
              </a:solidFill>
              <a:uFillTx/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3" name="图片 2" descr="来自新西兰的麦卢卡蜂蜜，从木碗里的金勺中滴下，呈现天然健康有机生食的质感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7802" b="7802"/>
          <a:stretch>
            <a:fillRect/>
          </a:stretch>
        </p:blipFill>
        <p:spPr>
          <a:xfrm>
            <a:off x="6261735" y="1593850"/>
            <a:ext cx="5168265" cy="1776730"/>
          </a:xfrm>
          <a:prstGeom prst="round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762000" y="1607185"/>
            <a:ext cx="5207000" cy="1524000"/>
            <a:chOff x="1200" y="2662"/>
            <a:chExt cx="8200" cy="2400"/>
          </a:xfrm>
        </p:grpSpPr>
        <p:sp>
          <p:nvSpPr>
            <p:cNvPr id="4" name="AutoShape 5"/>
            <p:cNvSpPr/>
            <p:nvPr/>
          </p:nvSpPr>
          <p:spPr>
            <a:xfrm>
              <a:off x="1200" y="2662"/>
              <a:ext cx="8200" cy="240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indent="0" algn="ctr" fontAlgn="auto">
                <a:lnSpc>
                  <a:spcPct val="110000"/>
                </a:lnSpc>
                <a:defRPr/>
              </a:pPr>
              <a:endParaRPr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6" name="AutoShape 6"/>
            <p:cNvSpPr/>
            <p:nvPr/>
          </p:nvSpPr>
          <p:spPr>
            <a:xfrm>
              <a:off x="1200" y="2662"/>
              <a:ext cx="120" cy="2400"/>
            </a:xfrm>
            <a:prstGeom prst="roundRect">
              <a:avLst>
                <a:gd name="adj" fmla="val 0"/>
              </a:avLst>
            </a:prstGeom>
            <a:solidFill>
              <a:srgbClr val="A9BCA0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indent="0" algn="ctr" fontAlgn="auto">
                <a:lnSpc>
                  <a:spcPct val="110000"/>
                </a:lnSpc>
                <a:defRPr/>
              </a:pPr>
              <a:endParaRPr sz="140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AutoShape 7"/>
            <p:cNvSpPr/>
            <p:nvPr/>
          </p:nvSpPr>
          <p:spPr>
            <a:xfrm>
              <a:off x="1700" y="2962"/>
              <a:ext cx="72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just" fontAlgn="auto">
                <a:lnSpc>
                  <a:spcPct val="110000"/>
                </a:lnSpc>
                <a:defRPr/>
              </a:pPr>
              <a:r>
                <a:rPr lang="en-US" b="1" i="0">
                  <a:solidFill>
                    <a:srgbClr val="A9BCA0"/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Noto Sans SC" panose="020B0200000000000000" charset="-122"/>
                </a:rPr>
                <a:t>🌿  原料故事</a:t>
              </a:r>
              <a:endParaRPr lang="en-US" b="1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  <a:p>
              <a:pPr marL="0" indent="0" algn="just">
                <a:lnSpc>
                  <a:spcPct val="108000"/>
                </a:lnSpc>
                <a:spcBef>
                  <a:spcPts val="800"/>
                </a:spcBef>
              </a:pP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Songti SC"/>
                </a:rPr>
                <a:t>精选自</a:t>
              </a:r>
              <a:r>
                <a:rPr lang="en-US" sz="1400" b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Songti SC"/>
                </a:rPr>
                <a:t>新西兰北岛</a:t>
              </a: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Songti SC"/>
                </a:rPr>
                <a:t>的纯净麦卢卡蜂蜜，源自毛利人</a:t>
              </a:r>
              <a:r>
                <a:rPr lang="en-US" sz="1400" b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Songti SC"/>
                </a:rPr>
                <a:t>传承千年的古老智慧</a:t>
              </a: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ea typeface="宋体" panose="02010600030101010101" pitchFamily="2" charset="-122"/>
                  <a:cs typeface="Noto Sans SC" panose="020B0200000000000000" charset="-122"/>
                  <a:sym typeface="Songti SC"/>
                </a:rPr>
                <a:t>。原料严格把控活性指标，保证含量，达到专业治疗级别，赋予原料天然且强劲的活性能量。</a:t>
              </a:r>
              <a:endPara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endParaRPr>
            </a:p>
          </p:txBody>
        </p:sp>
      </p:grpSp>
      <p:sp>
        <p:nvSpPr>
          <p:cNvPr id="32" name="AutoShape 19"/>
          <p:cNvSpPr/>
          <p:nvPr/>
        </p:nvSpPr>
        <p:spPr>
          <a:xfrm>
            <a:off x="6223635" y="3652520"/>
            <a:ext cx="5206365" cy="2240915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indent="0" algn="ctr" fontAlgn="auto">
              <a:lnSpc>
                <a:spcPct val="110000"/>
              </a:lnSpc>
              <a:defRPr/>
            </a:pPr>
            <a:endParaRPr sz="1400">
              <a:solidFill>
                <a:schemeClr val="tx1">
                  <a:lumMod val="75000"/>
                  <a:lumOff val="2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34" name="AutoShape 21"/>
          <p:cNvSpPr/>
          <p:nvPr/>
        </p:nvSpPr>
        <p:spPr>
          <a:xfrm>
            <a:off x="9015730" y="3790315"/>
            <a:ext cx="2193925" cy="1965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defRPr/>
            </a:pPr>
            <a:r>
              <a:rPr lang="en-US" sz="1600" b="1" i="0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🛍️ 市场应用</a:t>
            </a:r>
            <a:endParaRPr lang="en-US" sz="1600" b="1">
              <a:solidFill>
                <a:srgbClr val="A9BCA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3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Ukiwi/纽西之谜小精灵麦卢卡蜂蜜润水乳</a:t>
            </a:r>
            <a:endParaRPr lang="en-US" sz="1300" b="1" i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zh-CN" altLang="en-US" sz="13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添加麦卢卡蜂蜜提取物，主打补水保湿 + 温和修护，日常舒缓维稳，改善肌肤粗糙暗沉，适合全肤质日常基础养护。</a:t>
            </a:r>
            <a:endParaRPr lang="zh-CN" alt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9"/>
          <p:cNvSpPr/>
          <p:nvPr/>
        </p:nvSpPr>
        <p:spPr>
          <a:xfrm>
            <a:off x="762000" y="3467100"/>
            <a:ext cx="5207000" cy="2425700"/>
          </a:xfrm>
          <a:prstGeom prst="roundRect">
            <a:avLst>
              <a:gd name="adj" fmla="val 628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10"/>
          <p:cNvSpPr/>
          <p:nvPr/>
        </p:nvSpPr>
        <p:spPr>
          <a:xfrm>
            <a:off x="952500" y="35433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1" i="0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  <a:cs typeface="Songti SC"/>
                <a:sym typeface="Songti SC"/>
              </a:rPr>
              <a:t>✨ 核心功效</a:t>
            </a:r>
            <a:endParaRPr lang="en-US" b="1" i="0">
              <a:solidFill>
                <a:srgbClr val="A9BCA0"/>
              </a:solidFill>
              <a:latin typeface="Calibri" panose="020F0502020204030204" charset="0"/>
              <a:ea typeface="宋体" panose="02010600030101010101" pitchFamily="2" charset="-122"/>
              <a:cs typeface="Songti SC"/>
              <a:sym typeface="Songti SC"/>
            </a:endParaRPr>
          </a:p>
        </p:txBody>
      </p:sp>
      <p:sp>
        <p:nvSpPr>
          <p:cNvPr id="41" name="AutoShape 11"/>
          <p:cNvSpPr/>
          <p:nvPr>
            <p:custDataLst>
              <p:tags r:id="rId3"/>
            </p:custDataLst>
          </p:nvPr>
        </p:nvSpPr>
        <p:spPr>
          <a:xfrm>
            <a:off x="927100" y="4064000"/>
            <a:ext cx="1587500" cy="1587500"/>
          </a:xfrm>
          <a:prstGeom prst="roundRect">
            <a:avLst>
              <a:gd name="adj" fmla="val 6400"/>
            </a:avLst>
          </a:prstGeom>
          <a:solidFill>
            <a:srgbClr val="A9BCA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12"/>
          <p:cNvSpPr/>
          <p:nvPr>
            <p:custDataLst>
              <p:tags r:id="rId4"/>
            </p:custDataLst>
          </p:nvPr>
        </p:nvSpPr>
        <p:spPr>
          <a:xfrm>
            <a:off x="952500" y="4127500"/>
            <a:ext cx="1549400" cy="146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Songti SC"/>
                <a:sym typeface="Songti SC"/>
              </a:rPr>
              <a:t>抑菌抗炎</a:t>
            </a:r>
            <a:endParaRPr lang="en-US" sz="1600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spcBef>
                <a:spcPts val="400"/>
              </a:spcBef>
            </a:pPr>
            <a:r>
              <a:rPr lang="en-US" sz="13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Songti SC"/>
                <a:sym typeface="Songti SC"/>
              </a:rPr>
              <a:t>独特UMF™与MGO成分，强力抑制多种细菌，包括耐药菌株，构筑天然防护力。</a:t>
            </a:r>
            <a:endParaRPr 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Songti SC"/>
              <a:sym typeface="Songti SC"/>
            </a:endParaRPr>
          </a:p>
        </p:txBody>
      </p:sp>
      <p:sp>
        <p:nvSpPr>
          <p:cNvPr id="43" name="AutoShape 13"/>
          <p:cNvSpPr/>
          <p:nvPr>
            <p:custDataLst>
              <p:tags r:id="rId5"/>
            </p:custDataLst>
          </p:nvPr>
        </p:nvSpPr>
        <p:spPr>
          <a:xfrm>
            <a:off x="2565400" y="4064000"/>
            <a:ext cx="1587500" cy="1587500"/>
          </a:xfrm>
          <a:prstGeom prst="roundRect">
            <a:avLst>
              <a:gd name="adj" fmla="val 6400"/>
            </a:avLst>
          </a:prstGeom>
          <a:solidFill>
            <a:srgbClr val="A9BCA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14"/>
          <p:cNvSpPr/>
          <p:nvPr>
            <p:custDataLst>
              <p:tags r:id="rId6"/>
            </p:custDataLst>
          </p:nvPr>
        </p:nvSpPr>
        <p:spPr>
          <a:xfrm>
            <a:off x="2590800" y="4127500"/>
            <a:ext cx="1549400" cy="146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1600" b="1" i="0">
                <a:latin typeface="Calibri" panose="020F0502020204030204" charset="0"/>
                <a:ea typeface="宋体" panose="02010600030101010101" pitchFamily="2" charset="-122"/>
                <a:cs typeface="Songti SC"/>
                <a:sym typeface="Songti SC"/>
              </a:rPr>
              <a:t>保湿滋养</a:t>
            </a:r>
            <a:endParaRPr lang="en-US" sz="1600" b="1">
              <a:latin typeface="Calibri" panose="020F0502020204030204" charset="0"/>
              <a:ea typeface="宋体" panose="02010600030101010101" pitchFamily="2" charset="-122"/>
              <a:cs typeface="Songti SC"/>
            </a:endParaRPr>
          </a:p>
          <a:p>
            <a:pPr marL="0" algn="just">
              <a:lnSpc>
                <a:spcPct val="100000"/>
              </a:lnSpc>
              <a:spcBef>
                <a:spcPts val="400"/>
              </a:spcBef>
              <a:buClrTx/>
              <a:buSzTx/>
              <a:buFontTx/>
            </a:pPr>
            <a:r>
              <a:rPr lang="en-US" sz="13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Songti SC"/>
                <a:sym typeface="Songti SC"/>
              </a:rPr>
              <a:t>卓越亲肤保湿力，富含维他命与矿物质，深层滋润同时促进肌肤细胞恢复再生。</a:t>
            </a:r>
            <a:endParaRPr 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Songti SC"/>
              <a:sym typeface="Songti SC"/>
            </a:endParaRPr>
          </a:p>
        </p:txBody>
      </p:sp>
      <p:sp>
        <p:nvSpPr>
          <p:cNvPr id="45" name="AutoShape 15"/>
          <p:cNvSpPr/>
          <p:nvPr>
            <p:custDataLst>
              <p:tags r:id="rId7"/>
            </p:custDataLst>
          </p:nvPr>
        </p:nvSpPr>
        <p:spPr>
          <a:xfrm>
            <a:off x="4191000" y="4064000"/>
            <a:ext cx="1587500" cy="1587500"/>
          </a:xfrm>
          <a:prstGeom prst="roundRect">
            <a:avLst>
              <a:gd name="adj" fmla="val 6400"/>
            </a:avLst>
          </a:prstGeom>
          <a:solidFill>
            <a:srgbClr val="A9BCA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16"/>
          <p:cNvSpPr/>
          <p:nvPr>
            <p:custDataLst>
              <p:tags r:id="rId8"/>
            </p:custDataLst>
          </p:nvPr>
        </p:nvSpPr>
        <p:spPr>
          <a:xfrm>
            <a:off x="4216400" y="4127500"/>
            <a:ext cx="1549400" cy="146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1600" b="1" i="0">
                <a:latin typeface="Calibri" panose="020F0502020204030204" charset="0"/>
                <a:ea typeface="宋体" panose="02010600030101010101" pitchFamily="2" charset="-122"/>
                <a:cs typeface="Songti SC"/>
                <a:sym typeface="Songti SC"/>
              </a:rPr>
              <a:t>舒缓修护</a:t>
            </a:r>
            <a:endParaRPr lang="en-US" sz="1600" b="1">
              <a:latin typeface="Calibri" panose="020F0502020204030204" charset="0"/>
              <a:ea typeface="宋体" panose="02010600030101010101" pitchFamily="2" charset="-122"/>
              <a:cs typeface="Songti SC"/>
            </a:endParaRPr>
          </a:p>
          <a:p>
            <a:pPr marL="0" algn="just">
              <a:lnSpc>
                <a:spcPct val="100000"/>
              </a:lnSpc>
              <a:spcBef>
                <a:spcPts val="400"/>
              </a:spcBef>
              <a:buClrTx/>
              <a:buSzTx/>
              <a:buFontTx/>
            </a:pPr>
            <a:r>
              <a:rPr lang="en-US" sz="13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Songti SC"/>
                <a:sym typeface="Songti SC"/>
              </a:rPr>
              <a:t>温和舒缓不适，加速皮肤伤口愈合进程，有效缓解外界刺激带来的肌肤敏感。</a:t>
            </a:r>
            <a:endParaRPr 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Songti SC"/>
              <a:sym typeface="Songti SC"/>
            </a:endParaRPr>
          </a:p>
        </p:txBody>
      </p:sp>
      <p:pic>
        <p:nvPicPr>
          <p:cNvPr id="51" name="图片 50" descr="1ec01df7e50bbfe27f19c48dde8de69b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605" y="3824288"/>
            <a:ext cx="2520315" cy="1897380"/>
          </a:xfrm>
          <a:prstGeom prst="roundRect">
            <a:avLst/>
          </a:prstGeom>
        </p:spPr>
      </p:pic>
      <p:sp>
        <p:nvSpPr>
          <p:cNvPr id="52" name="日期占位符 5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3"/>
          <p:cNvSpPr/>
          <p:nvPr/>
        </p:nvSpPr>
        <p:spPr>
          <a:xfrm>
            <a:off x="648000" y="396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3000" b="1"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白松露提取物</a:t>
            </a:r>
            <a:endParaRPr lang="zh-CN" altLang="en-US" sz="3000" b="1"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5"/>
          <p:cNvSpPr/>
          <p:nvPr>
            <p:custDataLst>
              <p:tags r:id="rId1"/>
            </p:custDataLst>
          </p:nvPr>
        </p:nvSpPr>
        <p:spPr>
          <a:xfrm>
            <a:off x="826770" y="3382645"/>
            <a:ext cx="5182870" cy="1403985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A3B899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pic>
        <p:nvPicPr>
          <p:cNvPr id="24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250" y="3881445"/>
            <a:ext cx="406400" cy="406400"/>
          </a:xfrm>
          <a:prstGeom prst="rect">
            <a:avLst/>
          </a:prstGeom>
        </p:spPr>
      </p:pic>
      <p:sp>
        <p:nvSpPr>
          <p:cNvPr id="25" name="AutoShape 7"/>
          <p:cNvSpPr/>
          <p:nvPr>
            <p:custDataLst>
              <p:tags r:id="rId5"/>
            </p:custDataLst>
          </p:nvPr>
        </p:nvSpPr>
        <p:spPr>
          <a:xfrm>
            <a:off x="1461770" y="3538855"/>
            <a:ext cx="4404995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产地故事</a:t>
            </a:r>
            <a:endParaRPr lang="en-US" b="1" i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just" fontAlgn="auto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产自</a:t>
            </a:r>
            <a:r>
              <a:rPr lang="zh-CN" altLang="en-US" sz="14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中国云南高海拔原始林区</a:t>
            </a:r>
            <a:r>
              <a:rPr lang="zh-CN" alt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，为中国珍稀白松露品类，因产量稀少、培育难度高，被誉为 </a:t>
            </a:r>
            <a:r>
              <a:rPr lang="zh-CN" altLang="en-US" sz="14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“东方白色钻石”</a:t>
            </a:r>
            <a:r>
              <a:rPr lang="zh-CN" alt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8"/>
          <p:cNvSpPr/>
          <p:nvPr>
            <p:custDataLst>
              <p:tags r:id="rId6"/>
            </p:custDataLst>
          </p:nvPr>
        </p:nvSpPr>
        <p:spPr>
          <a:xfrm>
            <a:off x="826770" y="4921885"/>
            <a:ext cx="5182870" cy="1403985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A3B899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pic>
        <p:nvPicPr>
          <p:cNvPr id="27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4250" y="5420685"/>
            <a:ext cx="406400" cy="406400"/>
          </a:xfrm>
          <a:prstGeom prst="rect">
            <a:avLst/>
          </a:prstGeom>
        </p:spPr>
      </p:pic>
      <p:sp>
        <p:nvSpPr>
          <p:cNvPr id="28" name="AutoShape 10"/>
          <p:cNvSpPr/>
          <p:nvPr>
            <p:custDataLst>
              <p:tags r:id="rId10"/>
            </p:custDataLst>
          </p:nvPr>
        </p:nvSpPr>
        <p:spPr>
          <a:xfrm>
            <a:off x="1461770" y="5077785"/>
            <a:ext cx="4191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fontAlgn="auto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核心功效</a:t>
            </a:r>
            <a:endParaRPr lang="en-US" b="1" i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富含谷氨酸、甘露醇等活性成分，拥有卓越的</a:t>
            </a:r>
            <a:r>
              <a:rPr lang="en-US" sz="14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美白、提亮、保湿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三重功效，能有效改善肤色不均与暗沉，赋予肌肤水润透亮的上乘质感。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15"/>
          <p:cNvSpPr/>
          <p:nvPr/>
        </p:nvSpPr>
        <p:spPr>
          <a:xfrm>
            <a:off x="6248400" y="4793615"/>
            <a:ext cx="5078095" cy="1524000"/>
          </a:xfrm>
          <a:prstGeom prst="roundRect">
            <a:avLst>
              <a:gd name="adj" fmla="val 28817"/>
            </a:avLst>
          </a:prstGeom>
          <a:solidFill>
            <a:srgbClr val="A3B899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sp>
        <p:nvSpPr>
          <p:cNvPr id="37" name="AutoShape 4"/>
          <p:cNvSpPr/>
          <p:nvPr/>
        </p:nvSpPr>
        <p:spPr>
          <a:xfrm>
            <a:off x="647700" y="8712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altLang="zh-CN" sz="1600">
                <a:solidFill>
                  <a:srgbClr val="666666"/>
                </a:solidFill>
                <a:uFillTx/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Noto Sans SC" panose="020B0200000000000000" charset="-122"/>
              </a:rPr>
              <a:t>WHITE TRUFFLE </a:t>
            </a:r>
            <a:r>
              <a:rPr lang="en-US" altLang="zh-CN" sz="1600">
                <a:solidFill>
                  <a:srgbClr val="666666"/>
                </a:solidFill>
                <a:uFillTx/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Noto Sans SC" panose="020B0200000000000000" charset="-122"/>
              </a:rPr>
              <a:t>EXTRACT</a:t>
            </a:r>
            <a:endParaRPr lang="en-US" altLang="zh-CN" sz="1600">
              <a:solidFill>
                <a:srgbClr val="666666"/>
              </a:solidFill>
              <a:uFillTx/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7" name="AutoShape 21"/>
          <p:cNvSpPr/>
          <p:nvPr/>
        </p:nvSpPr>
        <p:spPr>
          <a:xfrm>
            <a:off x="6698933" y="5096193"/>
            <a:ext cx="4177030" cy="918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20000"/>
              </a:lnSpc>
              <a:defRPr/>
            </a:pPr>
            <a:r>
              <a:rPr lang="en-US" sz="1600" b="1" i="0">
                <a:solidFill>
                  <a:schemeClr val="bg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🛍️ 市场应用</a:t>
            </a:r>
            <a:endParaRPr lang="en-US" sz="1600" b="1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20000"/>
              </a:lnSpc>
              <a:spcBef>
                <a:spcPts val="600"/>
              </a:spcBef>
            </a:pPr>
            <a:r>
              <a:rPr lang="zh-CN" sz="1400" i="0">
                <a:solidFill>
                  <a:schemeClr val="bg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主要应用于高档化妆护肤品中，比如水乳护肤品，洗护用品。</a:t>
            </a:r>
            <a:endParaRPr lang="zh-CN" sz="1400" i="0">
              <a:solidFill>
                <a:schemeClr val="bg1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8" name="图片 47" descr="a7820084daf2c947d03e79b79e50f9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7765" y="1552575"/>
            <a:ext cx="5078730" cy="2939415"/>
          </a:xfrm>
          <a:prstGeom prst="roundRect">
            <a:avLst/>
          </a:prstGeom>
          <a:effectLst>
            <a:outerShdw blurRad="444500" dist="190500" dir="2700000" algn="tl" rotWithShape="0">
              <a:prstClr val="black">
                <a:alpha val="25000"/>
              </a:prstClr>
            </a:outerShdw>
          </a:effectLst>
        </p:spPr>
      </p:pic>
      <p:pic>
        <p:nvPicPr>
          <p:cNvPr id="3" name="图片 2" descr="意大利白松露配木制剃须刀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t="7398" b="23148"/>
          <a:stretch>
            <a:fillRect/>
          </a:stretch>
        </p:blipFill>
        <p:spPr>
          <a:xfrm>
            <a:off x="826770" y="1552575"/>
            <a:ext cx="5182870" cy="1695450"/>
          </a:xfrm>
          <a:prstGeom prst="roundRect">
            <a:avLst/>
          </a:prstGeom>
          <a:effectLst>
            <a:outerShdw blurRad="444500" dist="1905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AutoShape 6"/>
          <p:cNvSpPr/>
          <p:nvPr>
            <p:custDataLst>
              <p:tags r:id="rId1"/>
            </p:custDataLst>
          </p:nvPr>
        </p:nvSpPr>
        <p:spPr>
          <a:xfrm>
            <a:off x="1208405" y="5036820"/>
            <a:ext cx="5616000" cy="1368000"/>
          </a:xfrm>
          <a:prstGeom prst="roundRect">
            <a:avLst>
              <a:gd name="adj" fmla="val 8888"/>
            </a:avLst>
          </a:prstGeom>
          <a:solidFill>
            <a:srgbClr val="F7F9F6">
              <a:alpha val="100000"/>
            </a:srgbClr>
          </a:solidFill>
          <a:ln w="12700" cap="flat" cmpd="sng">
            <a:solidFill>
              <a:srgbClr val="A3B8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7" name="AutoShape 6"/>
          <p:cNvSpPr/>
          <p:nvPr>
            <p:custDataLst>
              <p:tags r:id="rId2"/>
            </p:custDataLst>
          </p:nvPr>
        </p:nvSpPr>
        <p:spPr>
          <a:xfrm>
            <a:off x="1208405" y="1578610"/>
            <a:ext cx="5616000" cy="1368000"/>
          </a:xfrm>
          <a:prstGeom prst="roundRect">
            <a:avLst>
              <a:gd name="adj" fmla="val 8888"/>
            </a:avLst>
          </a:prstGeom>
          <a:solidFill>
            <a:srgbClr val="F7F9F6">
              <a:alpha val="100000"/>
            </a:srgbClr>
          </a:solidFill>
          <a:ln w="12700" cap="flat" cmpd="sng">
            <a:solidFill>
              <a:srgbClr val="A3B8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pic>
        <p:nvPicPr>
          <p:cNvPr id="24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0335" y="2028610"/>
            <a:ext cx="468000" cy="468000"/>
          </a:xfrm>
          <a:prstGeom prst="rect">
            <a:avLst/>
          </a:prstGeom>
        </p:spPr>
      </p:pic>
      <p:sp>
        <p:nvSpPr>
          <p:cNvPr id="25" name="AutoShape 7"/>
          <p:cNvSpPr/>
          <p:nvPr>
            <p:custDataLst>
              <p:tags r:id="rId6"/>
            </p:custDataLst>
          </p:nvPr>
        </p:nvSpPr>
        <p:spPr>
          <a:xfrm>
            <a:off x="2098040" y="1691110"/>
            <a:ext cx="442404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产地故事</a:t>
            </a:r>
            <a:endParaRPr lang="en-US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主要生长于</a:t>
            </a:r>
            <a:r>
              <a:rPr lang="en-US" sz="14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中国四川、云南一带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，是与白松露齐名的珍贵真菌。其生长环境苛刻，无法人工培育，尤为珍稀，被誉为</a:t>
            </a:r>
            <a:r>
              <a:rPr lang="en-US" sz="14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“东方地下黄金”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10335" y="5486820"/>
            <a:ext cx="468000" cy="468000"/>
          </a:xfrm>
          <a:prstGeom prst="rect">
            <a:avLst/>
          </a:prstGeom>
        </p:spPr>
      </p:pic>
      <p:sp>
        <p:nvSpPr>
          <p:cNvPr id="33" name="AutoShape 3"/>
          <p:cNvSpPr/>
          <p:nvPr/>
        </p:nvSpPr>
        <p:spPr>
          <a:xfrm>
            <a:off x="648000" y="396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3000" b="1"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黑松露提取物</a:t>
            </a:r>
            <a:endParaRPr lang="zh-CN" altLang="en-US" sz="3000" b="1"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4"/>
          <p:cNvSpPr/>
          <p:nvPr/>
        </p:nvSpPr>
        <p:spPr>
          <a:xfrm>
            <a:off x="647700" y="8712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altLang="zh-CN" sz="1600">
                <a:solidFill>
                  <a:srgbClr val="666666"/>
                </a:solidFill>
                <a:uFillTx/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Noto Sans SC" panose="020B0200000000000000" charset="-122"/>
              </a:rPr>
              <a:t>BLACK TRUFFLE EXTRACT</a:t>
            </a:r>
            <a:endParaRPr lang="en-US" altLang="zh-CN" sz="1600">
              <a:solidFill>
                <a:srgbClr val="666666"/>
              </a:solidFill>
              <a:uFillTx/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36" name="图片 35" descr="雅诗兰黛松露"/>
          <p:cNvPicPr>
            <a:picLocks noChangeAspect="1"/>
          </p:cNvPicPr>
          <p:nvPr/>
        </p:nvPicPr>
        <p:blipFill>
          <a:blip r:embed="rId10"/>
          <a:srcRect t="20676"/>
          <a:stretch>
            <a:fillRect/>
          </a:stretch>
        </p:blipFill>
        <p:spPr>
          <a:xfrm>
            <a:off x="7325995" y="1578610"/>
            <a:ext cx="3568065" cy="2827020"/>
          </a:xfrm>
          <a:prstGeom prst="roundRect">
            <a:avLst/>
          </a:prstGeom>
          <a:effectLst>
            <a:outerShdw blurRad="444500" dist="1905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49" name="AutoShape 10"/>
          <p:cNvSpPr/>
          <p:nvPr>
            <p:custDataLst>
              <p:tags r:id="rId11"/>
            </p:custDataLst>
          </p:nvPr>
        </p:nvSpPr>
        <p:spPr>
          <a:xfrm>
            <a:off x="2098040" y="5149320"/>
            <a:ext cx="442341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核心功效</a:t>
            </a:r>
            <a:endParaRPr lang="en-US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富含多种活性营养精华、维生素与氨基酸，具备强大的抗氧化、深层修护能力，有效改善肌肤暗沉，唤醒基底活力，提升肌肤光泽感与弹性。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6" name="AutoShape 5"/>
          <p:cNvSpPr/>
          <p:nvPr>
            <p:custDataLst>
              <p:tags r:id="rId12"/>
            </p:custDataLst>
          </p:nvPr>
        </p:nvSpPr>
        <p:spPr>
          <a:xfrm>
            <a:off x="7325995" y="4614545"/>
            <a:ext cx="3567430" cy="1790065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A3B899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sp>
        <p:nvSpPr>
          <p:cNvPr id="57" name="AutoShape 21"/>
          <p:cNvSpPr/>
          <p:nvPr/>
        </p:nvSpPr>
        <p:spPr>
          <a:xfrm>
            <a:off x="7570153" y="4741228"/>
            <a:ext cx="3079115" cy="153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20000"/>
              </a:lnSpc>
              <a:defRPr/>
            </a:pPr>
            <a:r>
              <a:rPr lang="en-US" sz="1600" b="1" i="0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🛍️ 市场应用</a:t>
            </a:r>
            <a:endParaRPr lang="en-US" sz="1600" b="1">
              <a:solidFill>
                <a:srgbClr val="A9BCA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20000"/>
              </a:lnSpc>
              <a:spcBef>
                <a:spcPts val="600"/>
              </a:spcBef>
            </a:pPr>
            <a:r>
              <a:rPr 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雅诗兰黛黑松露</a:t>
            </a:r>
            <a:r>
              <a:rPr 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以高纯度黑松露精萃打造品牌顶级抗老线，主打细胞级修护与抗衰，将珍稀成分的修护能量与前沿科技结合，为熟龄肌肤带来卓效抗老体验。</a:t>
            </a:r>
            <a:endParaRPr lang="zh-CN" alt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9" name="图片 58" descr="乡村厨房中松露刨刀上的新鲜黑松露切片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-7" t="39583" r="7" b="22933"/>
          <a:stretch>
            <a:fillRect/>
          </a:stretch>
        </p:blipFill>
        <p:spPr>
          <a:xfrm>
            <a:off x="1208405" y="3157855"/>
            <a:ext cx="5615940" cy="1667510"/>
          </a:xfrm>
          <a:prstGeom prst="roundRect">
            <a:avLst/>
          </a:prstGeom>
          <a:effectLst>
            <a:outerShdw blurRad="444500" dist="1905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3321050" y="1979295"/>
            <a:ext cx="3873500" cy="187198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A3B899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4890" y="215519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4048760" y="2155190"/>
            <a:ext cx="114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产地故事</a:t>
            </a:r>
            <a:endParaRPr lang="en-US" b="1" i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3596323" y="2671445"/>
            <a:ext cx="3322955" cy="1106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 fontAlgn="auto">
              <a:lnSpc>
                <a:spcPct val="112000"/>
              </a:lnSpc>
              <a:spcBef>
                <a:spcPts val="0"/>
              </a:spcBef>
              <a:defRPr/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原料基源为山茶科山茶属植物滇山茶，原产地为</a:t>
            </a:r>
            <a:r>
              <a:rPr lang="en-US" sz="14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云南大理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。独特的高原气候与土壤条件，赋予了它卓越的生命力与丰富的活性成分，是名副其实的</a:t>
            </a:r>
            <a:r>
              <a:rPr lang="en-US" sz="14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“花中珍品”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3321050" y="4069080"/>
            <a:ext cx="3873500" cy="187198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A3B899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64890" y="425323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4048760" y="4253230"/>
            <a:ext cx="114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核心功效</a:t>
            </a:r>
            <a:endParaRPr lang="en-US" b="1" i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3596323" y="4769485"/>
            <a:ext cx="3322955" cy="9277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 fontAlgn="auto">
              <a:lnSpc>
                <a:spcPct val="112000"/>
              </a:lnSpc>
              <a:spcBef>
                <a:spcPts val="0"/>
              </a:spcBef>
              <a:defRPr/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富含多种</a:t>
            </a:r>
            <a:r>
              <a:rPr lang="en-US" sz="14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维生素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茶多酚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4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花青素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等活性成分。具有卓越的舒缓、抗炎、抗氧化功效，能有效缓解经期肌肤的泛红、敏感与不适感</a:t>
            </a:r>
            <a:r>
              <a:rPr lang="zh-CN" alt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/>
          <p:nvPr/>
        </p:nvPicPr>
        <p:blipFill>
          <a:blip r:embed="rId13"/>
          <a:srcRect t="6427" b="6427"/>
          <a:stretch>
            <a:fillRect/>
          </a:stretch>
        </p:blipFill>
        <p:spPr>
          <a:xfrm>
            <a:off x="1162685" y="1979295"/>
            <a:ext cx="1908000" cy="3960000"/>
          </a:xfrm>
          <a:prstGeom prst="roundRect">
            <a:avLst>
              <a:gd name="adj" fmla="val 6153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33" name="AutoShape 3"/>
          <p:cNvSpPr/>
          <p:nvPr/>
        </p:nvSpPr>
        <p:spPr>
          <a:xfrm>
            <a:off x="648000" y="396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3000" b="1"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滇山茶花提取物</a:t>
            </a:r>
            <a:endParaRPr lang="zh-CN" altLang="en-US" sz="3000" b="1"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4"/>
          <p:cNvSpPr/>
          <p:nvPr/>
        </p:nvSpPr>
        <p:spPr>
          <a:xfrm>
            <a:off x="647700" y="8712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altLang="zh-CN" sz="1600">
                <a:solidFill>
                  <a:srgbClr val="666666"/>
                </a:solidFill>
                <a:uFillTx/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Noto Sans SC" panose="020B0200000000000000" charset="-122"/>
              </a:rPr>
              <a:t>CAMELLIA RETICULATA EXTRACT</a:t>
            </a:r>
            <a:endParaRPr lang="en-US" altLang="zh-CN" sz="1600">
              <a:solidFill>
                <a:srgbClr val="666666"/>
              </a:solidFill>
              <a:uFillTx/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19" name="图片 18" descr="香奈儿红山茶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4740" y="1979295"/>
            <a:ext cx="3498215" cy="2207895"/>
          </a:xfrm>
          <a:prstGeom prst="roundRect">
            <a:avLst/>
          </a:prstGeom>
          <a:effectLst>
            <a:outerShdw blurRad="444500" dist="1905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56" name="AutoShape 5"/>
          <p:cNvSpPr/>
          <p:nvPr>
            <p:custDataLst>
              <p:tags r:id="rId15"/>
            </p:custDataLst>
          </p:nvPr>
        </p:nvSpPr>
        <p:spPr>
          <a:xfrm>
            <a:off x="7444740" y="4366260"/>
            <a:ext cx="3500120" cy="1572895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A3B899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sp>
        <p:nvSpPr>
          <p:cNvPr id="57" name="AutoShape 21"/>
          <p:cNvSpPr/>
          <p:nvPr/>
        </p:nvSpPr>
        <p:spPr>
          <a:xfrm>
            <a:off x="7698740" y="4659630"/>
            <a:ext cx="2950210" cy="115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20000"/>
              </a:lnSpc>
              <a:defRPr/>
            </a:pPr>
            <a:r>
              <a:rPr lang="en-US" sz="1600" b="1" i="0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🛍️ 市场应用</a:t>
            </a:r>
            <a:endParaRPr lang="en-US" sz="1600" b="1">
              <a:solidFill>
                <a:srgbClr val="A9BCA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20000"/>
              </a:lnSpc>
              <a:spcBef>
                <a:spcPts val="600"/>
              </a:spcBef>
            </a:pPr>
            <a:r>
              <a:rPr 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香奈儿红山茶</a:t>
            </a:r>
            <a:r>
              <a:rPr 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以红山茶花精萃为核心，主打舒缓抗炎、抗氧修护，打造稳定透亮肌。</a:t>
            </a:r>
            <a:endParaRPr lang="zh-CN" alt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1226185" y="5022850"/>
            <a:ext cx="541782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1226820" y="1654810"/>
            <a:ext cx="5418455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3025" y="220091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765935" y="178181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8000"/>
              </a:lnSpc>
              <a:spcBef>
                <a:spcPts val="600"/>
              </a:spcBef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产地故事</a:t>
            </a:r>
            <a:endParaRPr lang="en-US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8000"/>
              </a:lnSpc>
              <a:spcBef>
                <a:spcPts val="600"/>
              </a:spcBef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牡丹，素有</a:t>
            </a:r>
            <a:r>
              <a:rPr lang="en-US" sz="14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“花中之王”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的美誉，在中国拥有千年的栽培历史。采用传统蒸馏工艺，只为提取</a:t>
            </a:r>
            <a:r>
              <a:rPr lang="en-US" sz="14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牡丹花最纯粹的花水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43025" y="556895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1765935" y="5149850"/>
            <a:ext cx="476186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8000"/>
              </a:lnSpc>
              <a:spcBef>
                <a:spcPts val="600"/>
              </a:spcBef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核心功效</a:t>
            </a:r>
            <a:endParaRPr lang="en-US" b="1" i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just" fontAlgn="auto">
              <a:lnSpc>
                <a:spcPct val="118000"/>
              </a:lnSpc>
              <a:spcBef>
                <a:spcPts val="600"/>
              </a:spcBef>
              <a:defRPr/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富含</a:t>
            </a:r>
            <a:r>
              <a:rPr lang="en-US" sz="14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多种氨基酸与微量元素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，为私密肌肤提供极佳的保湿、舒缓、提亮</a:t>
            </a:r>
            <a:r>
              <a:rPr lang="en-US" sz="14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三重功效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，持久维持肌肤的水润与健康状态。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3680" r="3680"/>
          <a:stretch>
            <a:fillRect/>
          </a:stretch>
        </p:blipFill>
        <p:spPr>
          <a:xfrm>
            <a:off x="1226185" y="3227705"/>
            <a:ext cx="5418455" cy="1619250"/>
          </a:xfrm>
          <a:prstGeom prst="roundRect">
            <a:avLst>
              <a:gd name="adj" fmla="val 8888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17" name="图片 16" descr="金致臻颜牡丹奢养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835" y="1654810"/>
            <a:ext cx="3500120" cy="2934970"/>
          </a:xfrm>
          <a:prstGeom prst="roundRect">
            <a:avLst>
              <a:gd name="adj" fmla="val 8888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33" name="AutoShape 3"/>
          <p:cNvSpPr/>
          <p:nvPr/>
        </p:nvSpPr>
        <p:spPr>
          <a:xfrm>
            <a:off x="648000" y="396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3000" b="1"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牡丹花提取物</a:t>
            </a:r>
            <a:endParaRPr lang="zh-CN" altLang="en-US" sz="3000" b="1"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4"/>
          <p:cNvSpPr/>
          <p:nvPr/>
        </p:nvSpPr>
        <p:spPr>
          <a:xfrm>
            <a:off x="647700" y="8712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altLang="zh-CN" sz="1600">
                <a:solidFill>
                  <a:srgbClr val="666666"/>
                </a:solidFill>
                <a:uFillTx/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Noto Sans SC" panose="020B0200000000000000" charset="-122"/>
              </a:rPr>
              <a:t>PEONY EXTRACT</a:t>
            </a:r>
            <a:endParaRPr lang="en-US" altLang="zh-CN" sz="1600">
              <a:solidFill>
                <a:srgbClr val="666666"/>
              </a:solidFill>
              <a:uFillTx/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56" name="AutoShape 5"/>
          <p:cNvSpPr/>
          <p:nvPr>
            <p:custDataLst>
              <p:tags r:id="rId14"/>
            </p:custDataLst>
          </p:nvPr>
        </p:nvSpPr>
        <p:spPr>
          <a:xfrm>
            <a:off x="7315835" y="4847590"/>
            <a:ext cx="3500120" cy="1572895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A3B899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sp>
        <p:nvSpPr>
          <p:cNvPr id="57" name="AutoShape 21"/>
          <p:cNvSpPr/>
          <p:nvPr/>
        </p:nvSpPr>
        <p:spPr>
          <a:xfrm>
            <a:off x="7569835" y="5140960"/>
            <a:ext cx="2950210" cy="115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8000"/>
              </a:lnSpc>
              <a:defRPr/>
            </a:pPr>
            <a:r>
              <a:rPr lang="en-US" sz="1600" b="1" i="0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🛍️ 市场应用</a:t>
            </a:r>
            <a:endParaRPr lang="en-US" sz="1600" b="1">
              <a:solidFill>
                <a:srgbClr val="A9BCA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8000"/>
              </a:lnSpc>
              <a:spcBef>
                <a:spcPts val="600"/>
              </a:spcBef>
            </a:pPr>
            <a:r>
              <a:rPr 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欧莱雅粉妍精粹水</a:t>
            </a:r>
            <a:r>
              <a:rPr lang="en-US" sz="13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以高纯度牡丹精萃为核心，主打保湿提亮、匀亮肤色，实现水润焕亮。</a:t>
            </a:r>
            <a:endParaRPr lang="zh-CN" alt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utoShape 5"/>
          <p:cNvSpPr/>
          <p:nvPr/>
        </p:nvSpPr>
        <p:spPr>
          <a:xfrm>
            <a:off x="917575" y="1675765"/>
            <a:ext cx="4679950" cy="4248000"/>
          </a:xfrm>
          <a:prstGeom prst="roundRect">
            <a:avLst>
              <a:gd name="adj" fmla="val 375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83005" y="377698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原料故事</a:t>
            </a:r>
            <a:endParaRPr lang="en-US" b="1" i="0">
              <a:solidFill>
                <a:srgbClr val="A9BCA0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70940" y="4463415"/>
            <a:ext cx="417322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just">
              <a:lnSpc>
                <a:spcPct val="125000"/>
              </a:lnSpc>
              <a:buClrTx/>
              <a:buSzTx/>
              <a:buFontTx/>
              <a:defRPr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产自</a:t>
            </a: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“中国艾都”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湖北蕲春，是</a:t>
            </a:r>
            <a:r>
              <a:rPr lang="en-US" sz="1400" b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国家地理标志产品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。据《本草纲目》记载，蕲艾为“艾中珍品”，其香气浓郁，药效成分含量高，是天然的护肤养身原料。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Songti SC"/>
            </a:endParaRPr>
          </a:p>
          <a:p>
            <a:pPr marL="0" algn="just">
              <a:lnSpc>
                <a:spcPct val="125000"/>
              </a:lnSpc>
              <a:buClrTx/>
              <a:buSzTx/>
              <a:buFontTx/>
              <a:defRPr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（可提供厂家出具的官方产地声明，从源头保障原料的纯正与优质。）</a:t>
            </a:r>
            <a:endParaRPr lang="en-US" sz="130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</a:endParaRPr>
          </a:p>
          <a:p>
            <a:pPr marL="0" indent="0" algn="just">
              <a:lnSpc>
                <a:spcPct val="125000"/>
              </a:lnSpc>
              <a:defRPr/>
            </a:pPr>
            <a:endParaRPr 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943600" y="1676400"/>
            <a:ext cx="5400040" cy="22479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>
              <a:solidFill>
                <a:schemeClr val="tx1">
                  <a:lumMod val="75000"/>
                  <a:lumOff val="2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198870" y="1814195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核心功效</a:t>
            </a:r>
            <a:endParaRPr lang="en-US" b="1" i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0125" y="2322195"/>
            <a:ext cx="360000" cy="3600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4"/>
            </p:custDataLst>
          </p:nvPr>
        </p:nvSpPr>
        <p:spPr>
          <a:xfrm>
            <a:off x="6480175" y="2359660"/>
            <a:ext cx="118237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6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温养舒缓</a:t>
            </a:r>
            <a:endParaRPr lang="en-US" sz="1600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algn="just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提供温和的舒缓感，安抚肌肤的敏感情绪，带来温润的呵护体验。</a:t>
            </a:r>
            <a:endParaRPr 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Songti SC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5270" y="2322195"/>
            <a:ext cx="360000" cy="3600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8275955" y="2359660"/>
            <a:ext cx="119253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6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抗炎抑菌</a:t>
            </a:r>
            <a:endParaRPr lang="en-US" sz="1600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algn="just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有效抑制有害微生物，维护肌肤微生态平衡，减少外界不良刺激。</a:t>
            </a:r>
            <a:endParaRPr 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1365" y="2322195"/>
            <a:ext cx="360000" cy="3600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10074910" y="2451100"/>
            <a:ext cx="1042670" cy="11423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6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修护屏障</a:t>
            </a:r>
            <a:endParaRPr lang="en-US" sz="1600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algn="just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改善干涩泛红状况，强韧肌肤屏障，提升肌肤自身的抵御能力。</a:t>
            </a:r>
            <a:endParaRPr 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Songti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943600" y="4179570"/>
            <a:ext cx="5400040" cy="1739265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>
              <a:solidFill>
                <a:schemeClr val="tx1">
                  <a:lumMod val="75000"/>
                  <a:lumOff val="2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711440" y="4480878"/>
            <a:ext cx="344360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600" b="1" i="0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💡 市场应用 · 蕲艾精油</a:t>
            </a:r>
            <a:endParaRPr lang="en-US" sz="1600" b="1">
              <a:solidFill>
                <a:srgbClr val="A9BCA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7000"/>
              </a:lnSpc>
              <a:spcBef>
                <a:spcPts val="600"/>
              </a:spcBef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作为单方或复方精油的核心成分，广泛应用于身体按摩油、沐浴露、艾灸贴及香氛产品中，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Songti SC"/>
              </a:rPr>
              <a:t>凭借天然的草本疗愈力，成为芳疗与高端身体护理领域极具市场潜力的热门原料。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"/>
          <p:cNvSpPr/>
          <p:nvPr/>
        </p:nvSpPr>
        <p:spPr>
          <a:xfrm>
            <a:off x="648000" y="396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3000" b="1"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湖北蕲春蕲艾提取物</a:t>
            </a:r>
            <a:endParaRPr lang="zh-CN" altLang="en-US" sz="3000" b="1"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4"/>
          <p:cNvSpPr/>
          <p:nvPr/>
        </p:nvSpPr>
        <p:spPr>
          <a:xfrm>
            <a:off x="647700" y="8712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altLang="zh-CN" sz="1600">
                <a:solidFill>
                  <a:srgbClr val="666666"/>
                </a:solidFill>
                <a:uFillTx/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Noto Sans SC" panose="020B0200000000000000" charset="-122"/>
              </a:rPr>
              <a:t>ARTEMISIA ARGYI LEAF EXTRACT</a:t>
            </a:r>
            <a:endParaRPr lang="en-US" altLang="zh-CN" sz="1600">
              <a:solidFill>
                <a:srgbClr val="666666"/>
              </a:solidFill>
              <a:uFillTx/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2" name="图片 1" descr="干艾蒿，普通的艾蒿。艾蒿已被药用和作为烹饪草药。它适合作为沙拉的配料和消化问题的治疗。药用植物。自然的概念。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8796" b="20370"/>
          <a:stretch>
            <a:fillRect/>
          </a:stretch>
        </p:blipFill>
        <p:spPr>
          <a:xfrm>
            <a:off x="1171282" y="2007235"/>
            <a:ext cx="4172585" cy="1547495"/>
          </a:xfrm>
          <a:prstGeom prst="roundRect">
            <a:avLst/>
          </a:prstGeom>
        </p:spPr>
      </p:pic>
      <p:pic>
        <p:nvPicPr>
          <p:cNvPr id="25" name="图片 23" descr="IMG_256"/>
          <p:cNvPicPr/>
          <p:nvPr/>
        </p:nvPicPr>
        <p:blipFill>
          <a:blip r:embed="rId15"/>
          <a:srcRect t="2800" b="2800"/>
          <a:stretch>
            <a:fillRect/>
          </a:stretch>
        </p:blipFill>
        <p:spPr>
          <a:xfrm>
            <a:off x="6121400" y="4332378"/>
            <a:ext cx="1440000" cy="1440000"/>
          </a:xfrm>
          <a:prstGeom prst="roundRect">
            <a:avLst/>
          </a:prstGeom>
          <a:noFill/>
          <a:ln w="9525">
            <a:noFill/>
          </a:ln>
        </p:spPr>
      </p:pic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</p:spTree>
    <p:custDataLst>
      <p:tags r:id="rId1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6947" r="6947"/>
          <a:stretch>
            <a:fillRect/>
          </a:stretch>
        </p:blipFill>
        <p:spPr>
          <a:xfrm>
            <a:off x="751840" y="1696720"/>
            <a:ext cx="3302635" cy="2034540"/>
          </a:xfrm>
          <a:prstGeom prst="roundRect">
            <a:avLst>
              <a:gd name="adj" fmla="val 7058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51840" y="3957320"/>
            <a:ext cx="3302000" cy="1871980"/>
          </a:xfrm>
          <a:prstGeom prst="roundRect">
            <a:avLst>
              <a:gd name="adj" fmla="val 7058"/>
            </a:avLst>
          </a:prstGeom>
          <a:solidFill>
            <a:srgbClr val="A9BCA0"/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42340" y="4109720"/>
            <a:ext cx="2921000" cy="17189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00000"/>
              </a:lnSpc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💡 核心技术：仿生胎脂科技</a:t>
            </a:r>
            <a:endParaRPr lang="en-US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17000"/>
              </a:lnSpc>
              <a:spcBef>
                <a:spcPts val="1000"/>
              </a:spcBef>
            </a:pPr>
            <a:r>
              <a:rPr lang="en-US" sz="12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模拟新生儿皮肤上</a:t>
            </a:r>
            <a:r>
              <a:rPr lang="en-US"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天然胎脂</a:t>
            </a:r>
            <a:r>
              <a:rPr lang="en-US" sz="12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的脂质结构，构建与人体自身结构高度相似的仿生保护膜。该技术已成功获得中国发明专利，是护肤领域的重大突破。</a:t>
            </a:r>
            <a:endParaRPr lang="en-US" sz="12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4307840" y="1696720"/>
            <a:ext cx="1800000" cy="1872000"/>
          </a:xfrm>
          <a:prstGeom prst="roundRect">
            <a:avLst>
              <a:gd name="adj" fmla="val 689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4840" y="188722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879340" y="187452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仿生屏障</a:t>
            </a:r>
            <a:endParaRPr lang="en-US" sz="1600" b="1" i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588510" y="2362835"/>
            <a:ext cx="1238250" cy="985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defRPr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</a:rPr>
              <a:t>形成致密水护膜，物理隔绝刺激物接触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6276340" y="1696720"/>
            <a:ext cx="1800000" cy="1872000"/>
          </a:xfrm>
          <a:prstGeom prst="roundRect">
            <a:avLst>
              <a:gd name="adj" fmla="val 689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3340" y="188722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6847840" y="187452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强效锁水</a:t>
            </a:r>
            <a:endParaRPr lang="en-US" sz="1600" b="1" i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6557010" y="2362200"/>
            <a:ext cx="1238885" cy="985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defRPr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</a:rPr>
              <a:t>降低经皮水分流失，长效维持水润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4307840" y="3957320"/>
            <a:ext cx="1800000" cy="1872000"/>
          </a:xfrm>
          <a:prstGeom prst="roundRect">
            <a:avLst>
              <a:gd name="adj" fmla="val 689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34840" y="414782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4879340" y="413512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抗刺激修护</a:t>
            </a:r>
            <a:endParaRPr lang="en-US" sz="1600" b="1" i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4583430" y="4689475"/>
            <a:ext cx="1249045" cy="8153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defRPr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</a:rPr>
              <a:t>抵御外界刺激，预防缓解红臀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6276340" y="3957320"/>
            <a:ext cx="1800000" cy="1872000"/>
          </a:xfrm>
          <a:prstGeom prst="roundRect">
            <a:avLst>
              <a:gd name="adj" fmla="val 689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>
              <a:solidFill>
                <a:schemeClr val="tx1">
                  <a:lumMod val="75000"/>
                  <a:lumOff val="25000"/>
                </a:schemeClr>
              </a:solidFill>
              <a:ea typeface="宋体" panose="02010600030101010101" pitchFamily="2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03340" y="414782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6"/>
            </p:custDataLst>
          </p:nvPr>
        </p:nvSpPr>
        <p:spPr>
          <a:xfrm>
            <a:off x="6847840" y="413512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温和安全</a:t>
            </a:r>
            <a:endParaRPr lang="en-US" sz="1600" b="1" i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27"/>
            </p:custDataLst>
          </p:nvPr>
        </p:nvSpPr>
        <p:spPr>
          <a:xfrm>
            <a:off x="6552565" y="4604385"/>
            <a:ext cx="1238885" cy="984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defRPr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 panose="020F0502020204030204" charset="0"/>
                <a:ea typeface="宋体" panose="02010600030101010101" pitchFamily="2" charset="-122"/>
              </a:rPr>
              <a:t>天然温和无刺激，适配婴儿 / 敏感肌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rcRect t="24480" b="24480"/>
          <a:stretch>
            <a:fillRect/>
          </a:stretch>
        </p:blipFill>
        <p:spPr>
          <a:xfrm>
            <a:off x="8308340" y="1696720"/>
            <a:ext cx="3111500" cy="2034540"/>
          </a:xfrm>
          <a:prstGeom prst="roundRect">
            <a:avLst>
              <a:gd name="adj" fmla="val 7058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4" name="AutoShape 24"/>
          <p:cNvSpPr/>
          <p:nvPr>
            <p:custDataLst>
              <p:tags r:id="rId30"/>
            </p:custDataLst>
          </p:nvPr>
        </p:nvSpPr>
        <p:spPr>
          <a:xfrm>
            <a:off x="8308340" y="3956685"/>
            <a:ext cx="3111500" cy="187198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A9BCA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498840" y="3957320"/>
            <a:ext cx="2730500" cy="1871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defRPr/>
            </a:pPr>
            <a:r>
              <a:rPr lang="en-US" sz="1500" b="1" i="0">
                <a:solidFill>
                  <a:srgbClr val="A9BCA0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🛍️ 市场应用：奈久小鹿精华霜</a:t>
            </a:r>
            <a:endParaRPr lang="en-US" sz="1500" b="1">
              <a:solidFill>
                <a:srgbClr val="A9BCA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1000"/>
              </a:spcBef>
            </a:pPr>
            <a:r>
              <a:rPr lang="en-US" sz="13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以专利成分</a:t>
            </a:r>
            <a:r>
              <a:rPr lang="en-US" sz="13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VernixCare® 萌脂素</a:t>
            </a:r>
            <a:r>
              <a:rPr lang="en-US" sz="13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为核心卖点，专为娇嫩肌肤打造。该产品通过了德国权威皮肤科医生协会的严苛认证，是母婴护肤市场的明星单品。</a:t>
            </a:r>
            <a:endParaRPr lang="en-US" altLang="en-US" sz="13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AutoShape 3"/>
          <p:cNvSpPr/>
          <p:nvPr/>
        </p:nvSpPr>
        <p:spPr>
          <a:xfrm>
            <a:off x="648000" y="396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3000" b="1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前沿科技：萌脂素</a:t>
            </a:r>
            <a:r>
              <a:rPr lang="zh-CN" altLang="en-US" sz="3000" b="1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(Vernix-Care)</a:t>
            </a:r>
            <a:endParaRPr lang="zh-CN" altLang="en-US" sz="3000" b="1">
              <a:solidFill>
                <a:schemeClr val="tx1"/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</p:spTree>
    <p:custDataLst>
      <p:tags r:id="rId3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4"/>
          <p:cNvSpPr/>
          <p:nvPr/>
        </p:nvSpPr>
        <p:spPr>
          <a:xfrm>
            <a:off x="1312545" y="1270000"/>
            <a:ext cx="9599930" cy="889000"/>
          </a:xfrm>
          <a:prstGeom prst="roundRect">
            <a:avLst>
              <a:gd name="adj" fmla="val 17142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A3B8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630045" y="1422400"/>
            <a:ext cx="8858885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核心原理：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将不稳定的植物提取物包裹在微小的胶囊或乳液滴中，如同为活性成分穿上一层“保护衣”，既防止失活，又能按需释放。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312545" y="2372995"/>
            <a:ext cx="4608195" cy="2491105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pic>
        <p:nvPicPr>
          <p:cNvPr id="7" name="Picture 7"/>
          <p:cNvPicPr/>
          <p:nvPr/>
        </p:nvPicPr>
        <p:blipFill>
          <a:blip r:embed="rId1"/>
          <a:srcRect t="1" b="1"/>
          <a:stretch>
            <a:fillRect/>
          </a:stretch>
        </p:blipFill>
        <p:spPr>
          <a:xfrm>
            <a:off x="1452891" y="2898548"/>
            <a:ext cx="1440000" cy="1440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967990" y="2793048"/>
            <a:ext cx="281686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微胶囊技术</a:t>
            </a:r>
            <a:endParaRPr lang="en-US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作用：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隔绝氧化与分解，维持成分高活性。通过按压、摩擦等方式触发释放，实现靶向、长效作用。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应用：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植物精油微胶囊化，应用于卫生巾芯片，实现“按压生香”与长效抑菌。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04280" y="2391410"/>
            <a:ext cx="4608195" cy="2466975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22590" y="2672080"/>
            <a:ext cx="2729865" cy="18935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fontAlgn="auto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微乳化工艺</a:t>
            </a:r>
            <a:endParaRPr lang="en-US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作用：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打破水油屏障，将油性活性成分均匀分散于水相，形成稳定透明液体，大幅提升成分的溶解性与渗透性。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just" fontAlgn="auto">
              <a:lnSpc>
                <a:spcPct val="110000"/>
              </a:lnSpc>
              <a:spcBef>
                <a:spcPts val="600"/>
              </a:spcBef>
            </a:pPr>
            <a:r>
              <a:rPr lang="en-US" sz="14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应用：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用于精华喷液与精华乳液的生产，确保有效成分在肌肤表面快速铺展与渗透。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312545" y="5106670"/>
            <a:ext cx="9599930" cy="889000"/>
          </a:xfrm>
          <a:prstGeom prst="roundRect">
            <a:avLst>
              <a:gd name="adj" fmla="val 28571"/>
            </a:avLst>
          </a:prstGeom>
          <a:solidFill>
            <a:srgbClr val="A9BCA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322705" y="5259070"/>
            <a:ext cx="9589135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 fontAlgn="auto">
              <a:lnSpc>
                <a:spcPct val="110000"/>
              </a:lnSpc>
              <a:defRPr/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“ 活性成分的‘微型保险箱’ · 精准控释，让每一滴精粹都效尽其用 ”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3"/>
          <p:cNvSpPr/>
          <p:nvPr/>
        </p:nvSpPr>
        <p:spPr>
          <a:xfrm>
            <a:off x="648000" y="396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3000" b="1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核心技术赋能：微胶囊</a:t>
            </a:r>
            <a:r>
              <a:rPr lang="en-US" altLang="zh-CN" sz="3000" b="1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 &amp; </a:t>
            </a:r>
            <a:r>
              <a:rPr lang="zh-CN" altLang="en-US" sz="3000" b="1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微乳化工艺</a:t>
            </a:r>
            <a:endParaRPr lang="zh-CN" altLang="en-US" sz="3000" b="1">
              <a:solidFill>
                <a:schemeClr val="tx1"/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图片 14" descr="有黄色液体的滴管，培养皿"/>
          <p:cNvPicPr/>
          <p:nvPr>
            <p:custDataLst>
              <p:tags r:id="rId2"/>
            </p:custDataLst>
          </p:nvPr>
        </p:nvPicPr>
        <p:blipFill>
          <a:blip r:embed="rId3"/>
          <a:srcRect l="13793" r="19557"/>
          <a:stretch>
            <a:fillRect/>
          </a:stretch>
        </p:blipFill>
        <p:spPr>
          <a:xfrm>
            <a:off x="6441440" y="2898548"/>
            <a:ext cx="1440000" cy="1440000"/>
          </a:xfrm>
          <a:prstGeom prst="round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" name="AutoShape 4"/>
          <p:cNvSpPr/>
          <p:nvPr>
            <p:custDataLst>
              <p:tags r:id="rId1"/>
            </p:custDataLst>
          </p:nvPr>
        </p:nvSpPr>
        <p:spPr>
          <a:xfrm>
            <a:off x="696000" y="2322520"/>
            <a:ext cx="3240000" cy="3168000"/>
          </a:xfrm>
          <a:prstGeom prst="roundRect">
            <a:avLst>
              <a:gd name="adj" fmla="val 1200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6" name="AutoShape 4"/>
          <p:cNvSpPr/>
          <p:nvPr>
            <p:custDataLst>
              <p:tags r:id="rId2"/>
            </p:custDataLst>
          </p:nvPr>
        </p:nvSpPr>
        <p:spPr>
          <a:xfrm>
            <a:off x="7896000" y="2322520"/>
            <a:ext cx="3600000" cy="3168000"/>
          </a:xfrm>
          <a:prstGeom prst="roundRect">
            <a:avLst>
              <a:gd name="adj" fmla="val 12000"/>
            </a:avLst>
          </a:prstGeom>
          <a:solidFill>
            <a:srgbClr val="A9BCA0">
              <a:alpha val="62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>
              <a:ea typeface="宋体" panose="02010600030101010101" pitchFamily="2" charset="-122"/>
            </a:endParaRPr>
          </a:p>
        </p:txBody>
      </p:sp>
      <p:sp>
        <p:nvSpPr>
          <p:cNvPr id="5" name="AutoShape 4"/>
          <p:cNvSpPr/>
          <p:nvPr/>
        </p:nvSpPr>
        <p:spPr>
          <a:xfrm>
            <a:off x="762000" y="150558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我们的产品原料可以根据您的生产工艺和产品形态，提供多种灵活的应用形式，以适配您的生产线需求，确保功效最大化。</a:t>
            </a:r>
            <a:endParaRPr lang="en-US" sz="15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7"/>
          <p:cNvSpPr/>
          <p:nvPr>
            <p:custDataLst>
              <p:tags r:id="rId3"/>
            </p:custDataLst>
          </p:nvPr>
        </p:nvSpPr>
        <p:spPr>
          <a:xfrm>
            <a:off x="792000" y="4039235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▎制剂形态</a:t>
            </a:r>
            <a:endParaRPr lang="en-US" sz="1600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285750" indent="-285750" algn="l">
              <a:lnSpc>
                <a:spcPct val="117000"/>
              </a:lnSpc>
              <a:spcBef>
                <a:spcPts val="800"/>
              </a:spcBef>
              <a:buFont typeface="Wingdings" panose="05000000000000000000" charset="0"/>
              <a:buChar char="u"/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粉体制剂：适用于生产中的直接混合、填充工艺。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u"/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液体制剂：精华液/乳液，适合浸泡、喷涂、涂布等。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4"/>
          <p:cNvSpPr/>
          <p:nvPr>
            <p:custDataLst>
              <p:tags r:id="rId4"/>
            </p:custDataLst>
          </p:nvPr>
        </p:nvSpPr>
        <p:spPr>
          <a:xfrm>
            <a:off x="4295775" y="2321560"/>
            <a:ext cx="3239770" cy="3168015"/>
          </a:xfrm>
          <a:prstGeom prst="roundRect">
            <a:avLst>
              <a:gd name="adj" fmla="val 1200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>
              <a:ea typeface="宋体" panose="02010600030101010101" pitchFamily="2" charset="-122"/>
            </a:endParaRPr>
          </a:p>
        </p:txBody>
      </p:sp>
      <p:sp>
        <p:nvSpPr>
          <p:cNvPr id="26" name="AutoShape 12"/>
          <p:cNvSpPr/>
          <p:nvPr>
            <p:custDataLst>
              <p:tags r:id="rId5"/>
            </p:custDataLst>
          </p:nvPr>
        </p:nvSpPr>
        <p:spPr>
          <a:xfrm>
            <a:off x="8067225" y="2573020"/>
            <a:ext cx="325755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主流加工工艺适配</a:t>
            </a:r>
            <a:endParaRPr lang="en-US" sz="1600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ctr" fontAlgn="auto">
              <a:lnSpc>
                <a:spcPct val="133000"/>
              </a:lnSpc>
              <a:spcBef>
                <a:spcPts val="1400"/>
              </a:spcBef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➜ 辊涂工艺</a:t>
            </a:r>
            <a:b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i="0">
                <a:solidFill>
                  <a:schemeClr val="tx1">
                    <a:lumMod val="75000"/>
                    <a:lumOff val="25000"/>
                    <a:alpha val="90196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将原料均匀涂布在基材表面，成膜性好</a:t>
            </a:r>
            <a:endParaRPr lang="en-US" sz="1400" i="0">
              <a:solidFill>
                <a:schemeClr val="tx1">
                  <a:lumMod val="75000"/>
                  <a:lumOff val="25000"/>
                  <a:alpha val="90196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➜ 喷涂工艺</a:t>
            </a:r>
            <a:b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i="0">
                <a:solidFill>
                  <a:schemeClr val="tx1">
                    <a:lumMod val="75000"/>
                    <a:lumOff val="25000"/>
                    <a:alpha val="90196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液体原料高压雾化喷洒，覆盖均匀</a:t>
            </a:r>
            <a:endParaRPr lang="en-US" sz="1400" i="0">
              <a:solidFill>
                <a:schemeClr val="tx1">
                  <a:lumMod val="75000"/>
                  <a:lumOff val="25000"/>
                  <a:alpha val="90196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➜ 复合工艺</a:t>
            </a:r>
            <a:b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i="0">
                <a:solidFill>
                  <a:schemeClr val="tx1">
                    <a:lumMod val="75000"/>
                    <a:lumOff val="25000"/>
                    <a:alpha val="90196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功能薄膜与各类基材的层压复合</a:t>
            </a:r>
            <a:endParaRPr lang="en-US" sz="1400" i="0">
              <a:solidFill>
                <a:schemeClr val="tx1">
                  <a:lumMod val="75000"/>
                  <a:lumOff val="25000"/>
                  <a:alpha val="90196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"/>
          <p:cNvSpPr/>
          <p:nvPr/>
        </p:nvSpPr>
        <p:spPr>
          <a:xfrm>
            <a:off x="648000" y="360000"/>
            <a:ext cx="955992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000" b="1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灵活多样的应用形式</a:t>
            </a:r>
            <a:endParaRPr lang="zh-CN" altLang="en-US" sz="3000" b="1" i="0">
              <a:solidFill>
                <a:schemeClr val="tx1"/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6"/>
            </p:custDataLst>
          </p:nvPr>
        </p:nvGrpSpPr>
        <p:grpSpPr>
          <a:xfrm>
            <a:off x="876000" y="2483485"/>
            <a:ext cx="2880000" cy="1296000"/>
            <a:chOff x="1387" y="3159"/>
            <a:chExt cx="4512" cy="2040"/>
          </a:xfrm>
        </p:grpSpPr>
        <p:pic>
          <p:nvPicPr>
            <p:cNvPr id="3" name="Picture 13" descr="E:\声电资料\写资料需要的照片\timg.jpg"/>
            <p:cNvPicPr>
              <a:picLocks noChangeArrowheads="1"/>
            </p:cNvPicPr>
            <p:nvPr>
              <p:custDataLst>
                <p:tags r:id="rId7"/>
              </p:custDataLst>
            </p:nvPr>
          </p:nvPicPr>
          <p:blipFill>
            <a:blip r:embed="rId8" cstate="print">
              <a:lum bright="10000"/>
            </a:blip>
            <a:stretch>
              <a:fillRect/>
            </a:stretch>
          </p:blipFill>
          <p:spPr bwMode="auto">
            <a:xfrm>
              <a:off x="1387" y="3159"/>
              <a:ext cx="2268" cy="2041"/>
            </a:xfrm>
            <a:prstGeom prst="roundRect">
              <a:avLst>
                <a:gd name="adj" fmla="val 13752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4" name="图片 3" descr="Science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rcRect l="14374" t="20912" r="37453" b="13539"/>
            <a:stretch>
              <a:fillRect/>
            </a:stretch>
          </p:blipFill>
          <p:spPr>
            <a:xfrm>
              <a:off x="3653" y="3159"/>
              <a:ext cx="2246" cy="2041"/>
            </a:xfrm>
            <a:prstGeom prst="roundRect">
              <a:avLst/>
            </a:prstGeom>
          </p:spPr>
        </p:pic>
      </p:grpSp>
      <p:pic>
        <p:nvPicPr>
          <p:cNvPr id="11" name="图片 10" descr="721b862f1c42400daa2491a1aacae32b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476115" y="2483485"/>
            <a:ext cx="2880000" cy="1296000"/>
          </a:xfrm>
          <a:prstGeom prst="roundRect">
            <a:avLst/>
          </a:prstGeom>
        </p:spPr>
      </p:pic>
      <p:sp>
        <p:nvSpPr>
          <p:cNvPr id="2" name="AutoShape 10"/>
          <p:cNvSpPr/>
          <p:nvPr>
            <p:custDataLst>
              <p:tags r:id="rId13"/>
            </p:custDataLst>
          </p:nvPr>
        </p:nvSpPr>
        <p:spPr>
          <a:xfrm>
            <a:off x="4391660" y="40386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▎便捷添加形态</a:t>
            </a:r>
            <a:endParaRPr lang="en-US" sz="1600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285750" indent="-285750" algn="l">
              <a:lnSpc>
                <a:spcPct val="117000"/>
              </a:lnSpc>
              <a:spcBef>
                <a:spcPts val="800"/>
              </a:spcBef>
              <a:buFont typeface="Wingdings" panose="05000000000000000000" charset="0"/>
              <a:buChar char="u"/>
            </a:pPr>
            <a:r>
              <a:rPr lang="zh-CN" alt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复合功能芯片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便于在卫生用品芯体生产中直接</a:t>
            </a:r>
            <a:r>
              <a:rPr lang="zh-CN" alt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复合添加。</a:t>
            </a:r>
            <a:endParaRPr lang="zh-CN" alt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spcBef>
                <a:spcPts val="800"/>
              </a:spcBef>
              <a:buFont typeface="Wingdings" panose="05000000000000000000" charset="0"/>
              <a:buChar char="u"/>
            </a:pP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成品</a:t>
            </a:r>
            <a:r>
              <a:rPr lang="zh-CN" alt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功能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无纺布：提供</a:t>
            </a:r>
            <a:r>
              <a:rPr lang="zh-CN" alt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后处理功能性无纺布，</a:t>
            </a:r>
            <a:r>
              <a:rPr lang="en-US" sz="140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即拿即用。</a:t>
            </a:r>
            <a:endParaRPr lang="en-US" sz="1400" i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676650" y="1778000"/>
            <a:ext cx="48387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dist" fontAlgn="auto">
              <a:lnSpc>
                <a:spcPct val="125000"/>
              </a:lnSpc>
              <a:defRPr/>
            </a:pPr>
            <a:r>
              <a:rPr lang="zh-CN" altLang="en-US" sz="6600" b="1" i="0">
                <a:solidFill>
                  <a:schemeClr val="bg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zh-CN" altLang="en-US" sz="6600" b="1" i="0">
              <a:solidFill>
                <a:schemeClr val="bg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588000" y="3302000"/>
            <a:ext cx="10160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64000" y="367093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期待与您合作</a:t>
            </a:r>
            <a:r>
              <a:rPr lang="en-US" altLang="zh-CN">
                <a:solidFill>
                  <a:schemeClr val="bg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·</a:t>
            </a:r>
            <a:r>
              <a:rPr lang="zh-CN" altLang="en-US">
                <a:solidFill>
                  <a:schemeClr val="bg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共创美好未来</a:t>
            </a:r>
            <a:endParaRPr lang="zh-CN" altLang="en-US" i="0">
              <a:solidFill>
                <a:schemeClr val="bg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ctr"/>
            <a:endParaRPr lang="zh-CN" altLang="en-US" i="0">
              <a:solidFill>
                <a:schemeClr val="bg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AutoShape 6"/>
          <p:cNvSpPr/>
          <p:nvPr/>
        </p:nvSpPr>
        <p:spPr>
          <a:xfrm>
            <a:off x="0" y="477012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FFFFFF">
                    <a:alpha val="7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天津聚合芯能健护科技有限公司</a:t>
            </a:r>
            <a:endParaRPr 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日期占位符 2"/>
          <p:cNvSpPr>
            <a:spLocks noGrp="1"/>
          </p:cNvSpPr>
          <p:nvPr/>
        </p:nvSpPr>
        <p:spPr>
          <a:xfrm>
            <a:off x="4745850" y="534539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000" b="1">
                <a:solidFill>
                  <a:srgbClr val="FFFFFF">
                    <a:alpha val="74902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2026年6月</a:t>
            </a:r>
            <a:endParaRPr lang="zh-CN" altLang="en-US" sz="2000" b="1">
              <a:solidFill>
                <a:srgbClr val="FFFFFF">
                  <a:alpha val="74902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DIAGRAM_VIRTUALLY_FRAME" val="{&quot;height&quot;:240,&quot;left&quot;:60,&quot;top&quot;:170,&quot;width&quot;:410}"/>
</p:tagLst>
</file>

<file path=ppt/tags/tag128.xml><?xml version="1.0" encoding="utf-8"?>
<p:tagLst xmlns:p="http://schemas.openxmlformats.org/presentationml/2006/main">
  <p:tag name="KSO_WM_DIAGRAM_VIRTUALLY_FRAME" val="{&quot;height&quot;:71.1,&quot;left&quot;:51.5,&quot;top&quot;:379.2,&quot;width&quot;:465.7}"/>
</p:tagLst>
</file>

<file path=ppt/tags/tag129.xml><?xml version="1.0" encoding="utf-8"?>
<p:tagLst xmlns:p="http://schemas.openxmlformats.org/presentationml/2006/main">
  <p:tag name="KSO_WM_DIAGRAM_VIRTUALLY_FRAME" val="{&quot;height&quot;:71.1,&quot;left&quot;:51.5,&quot;top&quot;:379.2,&quot;width&quot;:465.7}"/>
</p:tagLst>
</file>

<file path=ppt/tags/tag130.xml><?xml version="1.0" encoding="utf-8"?>
<p:tagLst xmlns:p="http://schemas.openxmlformats.org/presentationml/2006/main">
  <p:tag name="KSO_WM_DIAGRAM_VIRTUALLY_FRAME" val="{&quot;height&quot;:71.1,&quot;left&quot;:51.5,&quot;top&quot;:379.2,&quot;width&quot;:465.7}"/>
</p:tagLst>
</file>

<file path=ppt/tags/tag131.xml><?xml version="1.0" encoding="utf-8"?>
<p:tagLst xmlns:p="http://schemas.openxmlformats.org/presentationml/2006/main">
  <p:tag name="KSO_WM_DIAGRAM_VIRTUALLY_FRAME" val="{&quot;height&quot;:71.1,&quot;left&quot;:51.5,&quot;top&quot;:379.2,&quot;width&quot;:465.7}"/>
</p:tagLst>
</file>

<file path=ppt/tags/tag132.xml><?xml version="1.0" encoding="utf-8"?>
<p:tagLst xmlns:p="http://schemas.openxmlformats.org/presentationml/2006/main">
  <p:tag name="KSO_WM_DIAGRAM_VIRTUALLY_FRAME" val="{&quot;height&quot;:71.1,&quot;left&quot;:51.5,&quot;top&quot;:379.2,&quot;width&quot;:465.7}"/>
</p:tagLst>
</file>

<file path=ppt/tags/tag133.xml><?xml version="1.0" encoding="utf-8"?>
<p:tagLst xmlns:p="http://schemas.openxmlformats.org/presentationml/2006/main">
  <p:tag name="KSO_WM_DIAGRAM_VIRTUALLY_FRAME" val="{&quot;height&quot;:71.1,&quot;left&quot;:51.5,&quot;top&quot;:379.2,&quot;width&quot;:465.7}"/>
</p:tagLst>
</file>

<file path=ppt/tags/tag134.xml><?xml version="1.0" encoding="utf-8"?>
<p:tagLst xmlns:p="http://schemas.openxmlformats.org/presentationml/2006/main">
  <p:tag name="KSO_WM_DIAGRAM_VIRTUALLY_FRAME" val="{&quot;height&quot;:71.1,&quot;left&quot;:51.5,&quot;top&quot;:379.2,&quot;width&quot;:465.7}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DOCER_RESOURCE_TRACE_INFO" val="{&quot;id&quot;:&quot;191429848&quot;,&quot;origin&quot;:0,&quot;type&quot;:&quot;pictures&quot;,&quot;user&quot;:&quot;397671056&quot;}"/>
</p:tagLst>
</file>

<file path=ppt/tags/tag137.xml><?xml version="1.0" encoding="utf-8"?>
<p:tagLst xmlns:p="http://schemas.openxmlformats.org/presentationml/2006/main">
  <p:tag name="KSO_WM_DIAGRAM_VIRTUALLY_FRAME" val="{&quot;height&quot;:125,&quot;left&quot;:73,&quot;top&quot;:320,&quot;width&quot;:382}"/>
</p:tagLst>
</file>

<file path=ppt/tags/tag138.xml><?xml version="1.0" encoding="utf-8"?>
<p:tagLst xmlns:p="http://schemas.openxmlformats.org/presentationml/2006/main">
  <p:tag name="KSO_WM_DIAGRAM_VIRTUALLY_FRAME" val="{&quot;height&quot;:125,&quot;left&quot;:73,&quot;top&quot;:320,&quot;width&quot;:382}"/>
</p:tagLst>
</file>

<file path=ppt/tags/tag139.xml><?xml version="1.0" encoding="utf-8"?>
<p:tagLst xmlns:p="http://schemas.openxmlformats.org/presentationml/2006/main">
  <p:tag name="KSO_WM_DIAGRAM_VIRTUALLY_FRAME" val="{&quot;height&quot;:125,&quot;left&quot;:73,&quot;top&quot;:320,&quot;width&quot;:382}"/>
</p:tagLst>
</file>

<file path=ppt/tags/tag140.xml><?xml version="1.0" encoding="utf-8"?>
<p:tagLst xmlns:p="http://schemas.openxmlformats.org/presentationml/2006/main">
  <p:tag name="KSO_WM_DIAGRAM_VIRTUALLY_FRAME" val="{&quot;height&quot;:125,&quot;left&quot;:73,&quot;top&quot;:320,&quot;width&quot;:382}"/>
</p:tagLst>
</file>

<file path=ppt/tags/tag141.xml><?xml version="1.0" encoding="utf-8"?>
<p:tagLst xmlns:p="http://schemas.openxmlformats.org/presentationml/2006/main">
  <p:tag name="KSO_WM_DIAGRAM_VIRTUALLY_FRAME" val="{&quot;height&quot;:125,&quot;left&quot;:73,&quot;top&quot;:320,&quot;width&quot;:382}"/>
</p:tagLst>
</file>

<file path=ppt/tags/tag142.xml><?xml version="1.0" encoding="utf-8"?>
<p:tagLst xmlns:p="http://schemas.openxmlformats.org/presentationml/2006/main">
  <p:tag name="KSO_WM_DIAGRAM_VIRTUALLY_FRAME" val="{&quot;height&quot;:125,&quot;left&quot;:73,&quot;top&quot;:320,&quot;width&quot;:382}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DIAGRAM_VIRTUALLY_FRAME" val="{&quot;height&quot;:240.55117797851562,&quot;left&quot;:62.5,&quot;top&quot;:242.55,&quot;width&quot;:470}"/>
</p:tagLst>
</file>

<file path=ppt/tags/tag145.xml><?xml version="1.0" encoding="utf-8"?>
<p:tagLst xmlns:p="http://schemas.openxmlformats.org/presentationml/2006/main">
  <p:tag name="KSO_WM_DIAGRAM_VIRTUALLY_FRAME" val="{&quot;height&quot;:240.55117797851562,&quot;left&quot;:62.5,&quot;top&quot;:242.55,&quot;width&quot;:470}"/>
</p:tagLst>
</file>

<file path=ppt/tags/tag146.xml><?xml version="1.0" encoding="utf-8"?>
<p:tagLst xmlns:p="http://schemas.openxmlformats.org/presentationml/2006/main">
  <p:tag name="KSO_WM_DIAGRAM_VIRTUALLY_FRAME" val="{&quot;height&quot;:240.55117797851562,&quot;left&quot;:62.5,&quot;top&quot;:242.55,&quot;width&quot;:470}"/>
</p:tagLst>
</file>

<file path=ppt/tags/tag147.xml><?xml version="1.0" encoding="utf-8"?>
<p:tagLst xmlns:p="http://schemas.openxmlformats.org/presentationml/2006/main">
  <p:tag name="KSO_WM_DIAGRAM_VIRTUALLY_FRAME" val="{&quot;height&quot;:240.55117797851562,&quot;left&quot;:62.5,&quot;top&quot;:242.55,&quot;width&quot;:470}"/>
</p:tagLst>
</file>

<file path=ppt/tags/tag148.xml><?xml version="1.0" encoding="utf-8"?>
<p:tagLst xmlns:p="http://schemas.openxmlformats.org/presentationml/2006/main">
  <p:tag name="KSO_WM_DIAGRAM_VIRTUALLY_FRAME" val="{&quot;height&quot;:240.55117797851562,&quot;left&quot;:62.5,&quot;top&quot;:242.55,&quot;width&quot;:470}"/>
</p:tagLst>
</file>

<file path=ppt/tags/tag149.xml><?xml version="1.0" encoding="utf-8"?>
<p:tagLst xmlns:p="http://schemas.openxmlformats.org/presentationml/2006/main">
  <p:tag name="KSO_WM_DIAGRAM_VIRTUALLY_FRAME" val="{&quot;height&quot;:240.55117797851562,&quot;left&quot;:62.5,&quot;top&quot;:242.55,&quot;width&quot;:470}"/>
</p:tagLst>
</file>

<file path=ppt/tags/tag150.xml><?xml version="1.0" encoding="utf-8"?>
<p:tagLst xmlns:p="http://schemas.openxmlformats.org/presentationml/2006/main">
  <p:tag name="KSO_DOCER_RESOURCE_TRACE_INFO" val="{&quot;id&quot;:&quot;191892382&quot;,&quot;origin&quot;:0,&quot;type&quot;:&quot;pictures&quot;,&quot;user&quot;:&quot;1750985758&quot;}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2.xml><?xml version="1.0" encoding="utf-8"?>
<p:tagLst xmlns:p="http://schemas.openxmlformats.org/presentationml/2006/main">
  <p:tag name="KSO_WM_DIAGRAM_VIRTUALLY_FRAME" val="{&quot;height&quot;:380.01653747558595,&quot;left&quot;:60,&quot;top&quot;:124.3,&quot;width&quot;:520}"/>
</p:tagLst>
</file>

<file path=ppt/tags/tag153.xml><?xml version="1.0" encoding="utf-8"?>
<p:tagLst xmlns:p="http://schemas.openxmlformats.org/presentationml/2006/main">
  <p:tag name="KSO_WM_DIAGRAM_VIRTUALLY_FRAME" val="{&quot;height&quot;:380.01653747558595,&quot;left&quot;:60,&quot;top&quot;:124.3,&quot;width&quot;:520}"/>
</p:tagLst>
</file>

<file path=ppt/tags/tag154.xml><?xml version="1.0" encoding="utf-8"?>
<p:tagLst xmlns:p="http://schemas.openxmlformats.org/presentationml/2006/main">
  <p:tag name="KSO_WM_DIAGRAM_VIRTUALLY_FRAME" val="{&quot;height&quot;:380.01653747558595,&quot;left&quot;:60,&quot;top&quot;:124.3,&quot;width&quot;:520}"/>
</p:tagLst>
</file>

<file path=ppt/tags/tag155.xml><?xml version="1.0" encoding="utf-8"?>
<p:tagLst xmlns:p="http://schemas.openxmlformats.org/presentationml/2006/main">
  <p:tag name="KSO_WM_DIAGRAM_VIRTUALLY_FRAME" val="{&quot;height&quot;:380.01653747558595,&quot;left&quot;:60,&quot;top&quot;:124.3,&quot;width&quot;:520}"/>
</p:tagLst>
</file>

<file path=ppt/tags/tag156.xml><?xml version="1.0" encoding="utf-8"?>
<p:tagLst xmlns:p="http://schemas.openxmlformats.org/presentationml/2006/main">
  <p:tag name="KSO_WM_DIAGRAM_VIRTUALLY_FRAME" val="{&quot;height&quot;:380.01653747558595,&quot;left&quot;:60,&quot;top&quot;:124.3,&quot;width&quot;:520}"/>
</p:tagLst>
</file>

<file path=ppt/tags/tag157.xml><?xml version="1.0" encoding="utf-8"?>
<p:tagLst xmlns:p="http://schemas.openxmlformats.org/presentationml/2006/main">
  <p:tag name="KSO_WM_DIAGRAM_VIRTUALLY_FRAME" val="{&quot;height&quot;:380.01653747558595,&quot;left&quot;:60,&quot;top&quot;:124.3,&quot;width&quot;:520}"/>
</p:tagLst>
</file>

<file path=ppt/tags/tag158.xml><?xml version="1.0" encoding="utf-8"?>
<p:tagLst xmlns:p="http://schemas.openxmlformats.org/presentationml/2006/main">
  <p:tag name="KSO_WM_DIAGRAM_VIRTUALLY_FRAME" val="{&quot;height&quot;:240,&quot;left&quot;:60,&quot;top&quot;:170,&quot;width&quot;:410}"/>
</p:tagLst>
</file>

<file path=ppt/tags/tag159.xml><?xml version="1.0" encoding="utf-8"?>
<p:tagLst xmlns:p="http://schemas.openxmlformats.org/presentationml/2006/main">
  <p:tag name="KSO_DOCER_RESOURCE_TRACE_INFO" val="{&quot;id&quot;:&quot;196784677&quot;,&quot;origin&quot;:0,&quot;type&quot;:&quot;pictures&quot;,&quot;user&quot;:&quot;1750985758&quot;}"/>
  <p:tag name="KSO_WM_DIAGRAM_VIRTUALLY_FRAME" val="{&quot;height&quot;:380.01653747558595,&quot;left&quot;:60,&quot;top&quot;:124.3,&quot;width&quot;:520}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DIAGRAM_VIRTUALLY_FRAME" val="{&quot;height&quot;:430.55,&quot;left&quot;:60,&quot;top&quot;:122.5,&quot;width&quot;:702.35}"/>
</p:tagLst>
</file>

<file path=ppt/tags/tag162.xml><?xml version="1.0" encoding="utf-8"?>
<p:tagLst xmlns:p="http://schemas.openxmlformats.org/presentationml/2006/main">
  <p:tag name="KSO_WM_DIAGRAM_VIRTUALLY_FRAME" val="{&quot;height&quot;:430.55,&quot;left&quot;:60,&quot;top&quot;:122.5,&quot;width&quot;:702.35}"/>
</p:tagLst>
</file>

<file path=ppt/tags/tag163.xml><?xml version="1.0" encoding="utf-8"?>
<p:tagLst xmlns:p="http://schemas.openxmlformats.org/presentationml/2006/main">
  <p:tag name="KSO_WM_DIAGRAM_VIRTUALLY_FRAME" val="{&quot;height&quot;:430.55,&quot;left&quot;:60,&quot;top&quot;:122.5,&quot;width&quot;:702.35}"/>
</p:tagLst>
</file>

<file path=ppt/tags/tag164.xml><?xml version="1.0" encoding="utf-8"?>
<p:tagLst xmlns:p="http://schemas.openxmlformats.org/presentationml/2006/main">
  <p:tag name="KSO_WM_DIAGRAM_VIRTUALLY_FRAME" val="{&quot;height&quot;:430.55,&quot;left&quot;:60,&quot;top&quot;:122.5,&quot;width&quot;:702.35}"/>
</p:tagLst>
</file>

<file path=ppt/tags/tag165.xml><?xml version="1.0" encoding="utf-8"?>
<p:tagLst xmlns:p="http://schemas.openxmlformats.org/presentationml/2006/main">
  <p:tag name="KSO_WM_DIAGRAM_VIRTUALLY_FRAME" val="{&quot;height&quot;:430.55,&quot;left&quot;:60,&quot;top&quot;:122.5,&quot;width&quot;:702.35}"/>
</p:tagLst>
</file>

<file path=ppt/tags/tag166.xml><?xml version="1.0" encoding="utf-8"?>
<p:tagLst xmlns:p="http://schemas.openxmlformats.org/presentationml/2006/main">
  <p:tag name="KSO_WM_DIAGRAM_VIRTUALLY_FRAME" val="{&quot;height&quot;:430.55,&quot;left&quot;:60,&quot;top&quot;:122.5,&quot;width&quot;:702.35}"/>
</p:tagLst>
</file>

<file path=ppt/tags/tag167.xml><?xml version="1.0" encoding="utf-8"?>
<p:tagLst xmlns:p="http://schemas.openxmlformats.org/presentationml/2006/main">
  <p:tag name="KSO_WM_DIAGRAM_VIRTUALLY_FRAME" val="{&quot;height&quot;:430.55,&quot;left&quot;:60,&quot;top&quot;:122.5,&quot;width&quot;:702.35}"/>
</p:tagLst>
</file>

<file path=ppt/tags/tag168.xml><?xml version="1.0" encoding="utf-8"?>
<p:tagLst xmlns:p="http://schemas.openxmlformats.org/presentationml/2006/main">
  <p:tag name="KSO_WM_DIAGRAM_VIRTUALLY_FRAME" val="{&quot;height&quot;:430.55,&quot;left&quot;:60,&quot;top&quot;:122.5,&quot;width&quot;:702.35}"/>
</p:tagLst>
</file>

<file path=ppt/tags/tag169.xml><?xml version="1.0" encoding="utf-8"?>
<p:tagLst xmlns:p="http://schemas.openxmlformats.org/presentationml/2006/main">
  <p:tag name="KSO_WM_DIAGRAM_VIRTUALLY_FRAME" val="{&quot;height&quot;:240,&quot;left&quot;:60,&quot;top&quot;:170,&quot;width&quot;:410}"/>
</p:tagLst>
</file>

<file path=ppt/tags/tag170.xml><?xml version="1.0" encoding="utf-8"?>
<p:tagLst xmlns:p="http://schemas.openxmlformats.org/presentationml/2006/main">
  <p:tag name="KSO_WM_DIAGRAM_VIRTUALLY_FRAME" val="{&quot;height&quot;:375.2,&quot;left&quot;:96.55,&quot;top&quot;:130.3,&quot;width&quot;:426.7}"/>
</p:tagLst>
</file>

<file path=ppt/tags/tag171.xml><?xml version="1.0" encoding="utf-8"?>
<p:tagLst xmlns:p="http://schemas.openxmlformats.org/presentationml/2006/main">
  <p:tag name="KSO_WM_DIAGRAM_VIRTUALLY_FRAME" val="{&quot;height&quot;:375.2,&quot;left&quot;:96.55,&quot;top&quot;:130.3,&quot;width&quot;:426.7}"/>
</p:tagLst>
</file>

<file path=ppt/tags/tag172.xml><?xml version="1.0" encoding="utf-8"?>
<p:tagLst xmlns:p="http://schemas.openxmlformats.org/presentationml/2006/main">
  <p:tag name="KSO_WM_DIAGRAM_VIRTUALLY_FRAME" val="{&quot;height&quot;:375.2,&quot;left&quot;:96.55,&quot;top&quot;:130.3,&quot;width&quot;:426.7}"/>
</p:tagLst>
</file>

<file path=ppt/tags/tag173.xml><?xml version="1.0" encoding="utf-8"?>
<p:tagLst xmlns:p="http://schemas.openxmlformats.org/presentationml/2006/main">
  <p:tag name="KSO_WM_DIAGRAM_VIRTUALLY_FRAME" val="{&quot;height&quot;:375.2,&quot;left&quot;:96.55,&quot;top&quot;:130.3,&quot;width&quot;:426.7}"/>
</p:tagLst>
</file>

<file path=ppt/tags/tag174.xml><?xml version="1.0" encoding="utf-8"?>
<p:tagLst xmlns:p="http://schemas.openxmlformats.org/presentationml/2006/main">
  <p:tag name="KSO_WM_DIAGRAM_VIRTUALLY_FRAME" val="{&quot;height&quot;:375.2,&quot;left&quot;:96.55,&quot;top&quot;:130.3,&quot;width&quot;:426.7}"/>
</p:tagLst>
</file>

<file path=ppt/tags/tag175.xml><?xml version="1.0" encoding="utf-8"?>
<p:tagLst xmlns:p="http://schemas.openxmlformats.org/presentationml/2006/main">
  <p:tag name="KSO_WM_DIAGRAM_VIRTUALLY_FRAME" val="{&quot;height&quot;:375.2,&quot;left&quot;:96.55,&quot;top&quot;:130.3,&quot;width&quot;:426.7}"/>
</p:tagLst>
</file>

<file path=ppt/tags/tag176.xml><?xml version="1.0" encoding="utf-8"?>
<p:tagLst xmlns:p="http://schemas.openxmlformats.org/presentationml/2006/main">
  <p:tag name="KSO_WM_DIAGRAM_VIRTUALLY_FRAME" val="{&quot;height&quot;:375.2,&quot;left&quot;:96.55,&quot;top&quot;:130.3,&quot;width&quot;:426.7}"/>
</p:tagLst>
</file>

<file path=ppt/tags/tag177.xml><?xml version="1.0" encoding="utf-8"?>
<p:tagLst xmlns:p="http://schemas.openxmlformats.org/presentationml/2006/main">
  <p:tag name="KSO_WM_DIAGRAM_VIRTUALLY_FRAME" val="{&quot;height&quot;:240,&quot;left&quot;:60,&quot;top&quot;:170,&quot;width&quot;:410}"/>
</p:tagLst>
</file>

<file path=ppt/tags/tag178.xml><?xml version="1.0" encoding="utf-8"?>
<p:tagLst xmlns:p="http://schemas.openxmlformats.org/presentationml/2006/main">
  <p:tag name="KSO_WM_DIAGRAM_VIRTUALLY_FRAME" val="{&quot;height&quot;:144.6,&quot;left&quot;:480.4,&quot;top&quot;:183.4,&quot;width&quot;:416.4}"/>
</p:tagLst>
</file>

<file path=ppt/tags/tag179.xml><?xml version="1.0" encoding="utf-8"?>
<p:tagLst xmlns:p="http://schemas.openxmlformats.org/presentationml/2006/main">
  <p:tag name="KSO_WM_DIAGRAM_VIRTUALLY_FRAME" val="{&quot;height&quot;:144.6,&quot;left&quot;:480.4,&quot;top&quot;:183.4,&quot;width&quot;:416.4}"/>
</p:tagLst>
</file>

<file path=ppt/tags/tag180.xml><?xml version="1.0" encoding="utf-8"?>
<p:tagLst xmlns:p="http://schemas.openxmlformats.org/presentationml/2006/main">
  <p:tag name="KSO_WM_DIAGRAM_VIRTUALLY_FRAME" val="{&quot;height&quot;:144.6,&quot;left&quot;:480.4,&quot;top&quot;:183.4,&quot;width&quot;:416.4}"/>
</p:tagLst>
</file>

<file path=ppt/tags/tag181.xml><?xml version="1.0" encoding="utf-8"?>
<p:tagLst xmlns:p="http://schemas.openxmlformats.org/presentationml/2006/main">
  <p:tag name="KSO_WM_DIAGRAM_VIRTUALLY_FRAME" val="{&quot;height&quot;:144.6,&quot;left&quot;:480.4,&quot;top&quot;:183.4,&quot;width&quot;:416.4}"/>
</p:tagLst>
</file>

<file path=ppt/tags/tag182.xml><?xml version="1.0" encoding="utf-8"?>
<p:tagLst xmlns:p="http://schemas.openxmlformats.org/presentationml/2006/main">
  <p:tag name="KSO_WM_DIAGRAM_VIRTUALLY_FRAME" val="{&quot;height&quot;:144.6,&quot;left&quot;:480.4,&quot;top&quot;:183.4,&quot;width&quot;:416.4}"/>
</p:tagLst>
</file>

<file path=ppt/tags/tag183.xml><?xml version="1.0" encoding="utf-8"?>
<p:tagLst xmlns:p="http://schemas.openxmlformats.org/presentationml/2006/main">
  <p:tag name="KSO_WM_DIAGRAM_VIRTUALLY_FRAME" val="{&quot;height&quot;:144.6,&quot;left&quot;:480.4,&quot;top&quot;:183.4,&quot;width&quot;:416.4}"/>
</p:tagLst>
</file>

<file path=ppt/tags/tag184.xml><?xml version="1.0" encoding="utf-8"?>
<p:tagLst xmlns:p="http://schemas.openxmlformats.org/presentationml/2006/main">
  <p:tag name="KSO_DOCER_RESOURCE_TRACE_INFO" val="{&quot;id&quot;:&quot;100238892&quot;,&quot;origin&quot;:0,&quot;type&quot;:&quot;pictures&quot;,&quot;user&quot;:&quot;1750985758&quot;}"/>
</p:tagLst>
</file>

<file path=ppt/tags/tag1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6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87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88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89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90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91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92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93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94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95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96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97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98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199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200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201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202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203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204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205.xml><?xml version="1.0" encoding="utf-8"?>
<p:tagLst xmlns:p="http://schemas.openxmlformats.org/presentationml/2006/main">
  <p:tag name="KSO_WM_DIAGRAM_VIRTUALLY_FRAME" val="{&quot;height&quot;:366.4,&quot;left&quot;:59.2,&quot;top&quot;:133.6,&quot;width&quot;:840.8}"/>
</p:tagLst>
</file>

<file path=ppt/tags/tag2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7.xml><?xml version="1.0" encoding="utf-8"?>
<p:tagLst xmlns:p="http://schemas.openxmlformats.org/presentationml/2006/main">
  <p:tag name="KSO_DOCER_RESOURCE_TRACE_INFO" val="{&quot;id&quot;:&quot;210878454&quot;,&quot;origin&quot;:0,&quot;type&quot;:&quot;pictures&quot;,&quot;user&quot;:&quot;1750985758&quot;}"/>
</p:tagLst>
</file>

<file path=ppt/tags/tag2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9.xml><?xml version="1.0" encoding="utf-8"?>
<p:tagLst xmlns:p="http://schemas.openxmlformats.org/presentationml/2006/main">
  <p:tag name="KSO_WM_DIAGRAM_VIRTUALLY_FRAME" val="{&quot;height&quot;:506.61322645412656,&quot;left&quot;:54.8,&quot;top&quot;:28.355275590551173,&quot;width&quot;:850.5}"/>
</p:tagLst>
</file>

<file path=ppt/tags/tag210.xml><?xml version="1.0" encoding="utf-8"?>
<p:tagLst xmlns:p="http://schemas.openxmlformats.org/presentationml/2006/main">
  <p:tag name="KSO_WM_DIAGRAM_VIRTUALLY_FRAME" val="{&quot;height&quot;:506.61322645412656,&quot;left&quot;:54.8,&quot;top&quot;:28.355275590551173,&quot;width&quot;:850.5}"/>
</p:tagLst>
</file>

<file path=ppt/tags/tag211.xml><?xml version="1.0" encoding="utf-8"?>
<p:tagLst xmlns:p="http://schemas.openxmlformats.org/presentationml/2006/main">
  <p:tag name="KSO_WM_DIAGRAM_VIRTUALLY_FRAME" val="{&quot;height&quot;:506.61322645412656,&quot;left&quot;:54.8,&quot;top&quot;:28.355275590551173,&quot;width&quot;:850.5}"/>
</p:tagLst>
</file>

<file path=ppt/tags/tag212.xml><?xml version="1.0" encoding="utf-8"?>
<p:tagLst xmlns:p="http://schemas.openxmlformats.org/presentationml/2006/main">
  <p:tag name="KSO_WM_DIAGRAM_VIRTUALLY_FRAME" val="{&quot;height&quot;:506.61322645412656,&quot;left&quot;:54.8,&quot;top&quot;:28.355275590551173,&quot;width&quot;:850.5}"/>
</p:tagLst>
</file>

<file path=ppt/tags/tag213.xml><?xml version="1.0" encoding="utf-8"?>
<p:tagLst xmlns:p="http://schemas.openxmlformats.org/presentationml/2006/main">
  <p:tag name="KSO_WM_DIAGRAM_VIRTUALLY_FRAME" val="{&quot;height&quot;:506.61322645412656,&quot;left&quot;:54.8,&quot;top&quot;:28.355275590551173,&quot;width&quot;:850.5}"/>
</p:tagLst>
</file>

<file path=ppt/tags/tag214.xml><?xml version="1.0" encoding="utf-8"?>
<p:tagLst xmlns:p="http://schemas.openxmlformats.org/presentationml/2006/main">
  <p:tag name="KSO_WM_DIAGRAM_VIRTUALLY_FRAME" val="{&quot;height&quot;:506.61322645412656,&quot;left&quot;:54.8,&quot;top&quot;:28.355275590551173,&quot;width&quot;:850.5}"/>
</p:tagLst>
</file>

<file path=ppt/tags/tag215.xml><?xml version="1.0" encoding="utf-8"?>
<p:tagLst xmlns:p="http://schemas.openxmlformats.org/presentationml/2006/main">
  <p:tag name="KSO_WM_DIAGRAM_VIRTUALLY_FRAME" val="{&quot;height&quot;:506.61322645412656,&quot;left&quot;:54.8,&quot;top&quot;:28.355275590551173,&quot;width&quot;:850.5}"/>
</p:tagLst>
</file>

<file path=ppt/tags/tag216.xml><?xml version="1.0" encoding="utf-8"?>
<p:tagLst xmlns:p="http://schemas.openxmlformats.org/presentationml/2006/main">
  <p:tag name="KSO_DOCER_RESOURCE_TRACE_INFO" val="{&quot;id&quot;:&quot;22905135&quot;,&quot;origin&quot;:0,&quot;type&quot;:&quot;pictures&quot;,&quot;user&quot;:&quot;1784106338&quot;}"/>
  <p:tag name="KSO_WM_DIAGRAM_VIRTUALLY_FRAME" val="{&quot;height&quot;:506.61322645412656,&quot;left&quot;:54.8,&quot;top&quot;:28.355275590551173,&quot;width&quot;:850.5}"/>
</p:tagLst>
</file>

<file path=ppt/tags/tag217.xml><?xml version="1.0" encoding="utf-8"?>
<p:tagLst xmlns:p="http://schemas.openxmlformats.org/presentationml/2006/main">
  <p:tag name="KSO_WM_DIAGRAM_VIRTUALLY_FRAME" val="{&quot;height&quot;:506.61322645412656,&quot;left&quot;:54.8,&quot;top&quot;:28.355275590551173,&quot;width&quot;:850.5}"/>
</p:tagLst>
</file>

<file path=ppt/tags/tag218.xml><?xml version="1.0" encoding="utf-8"?>
<p:tagLst xmlns:p="http://schemas.openxmlformats.org/presentationml/2006/main">
  <p:tag name="KSO_WM_DIAGRAM_VIRTUALLY_FRAME" val="{&quot;height&quot;:506.61322645412656,&quot;left&quot;:54.8,&quot;top&quot;:28.355275590551173,&quot;width&quot;:850.5}"/>
</p:tagLst>
</file>

<file path=ppt/tags/tag2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2973</Words>
  <Application>WPS 演示</Application>
  <PresentationFormat>宽屏</PresentationFormat>
  <Paragraphs>237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Noto Sans SC</vt:lpstr>
      <vt:lpstr>Calibri</vt:lpstr>
      <vt:lpstr>Times New Roman</vt:lpstr>
      <vt:lpstr>华文中宋</vt:lpstr>
      <vt:lpstr>Songti SC</vt:lpstr>
      <vt:lpstr>汇文明朝体</vt:lpstr>
      <vt:lpstr>Arial Unicode MS</vt:lpstr>
      <vt:lpstr>WPS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**、矜持</cp:lastModifiedBy>
  <cp:revision>201</cp:revision>
  <dcterms:created xsi:type="dcterms:W3CDTF">2019-06-19T02:08:00Z</dcterms:created>
  <dcterms:modified xsi:type="dcterms:W3CDTF">2026-05-31T17:34:40Z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96BAEE3B386B442EA0527378337E74A8_13</vt:lpwstr>
  </property>
</Properties>
</file>