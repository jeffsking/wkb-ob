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commentAuthors.xml" ContentType="application/vnd.openxmlformats-officedocument.presentationml.commentAuthors+xml"/>
  <Override PartName="/ppt/media/image10.svg" ContentType="image/svg+xml"/>
  <Override PartName="/ppt/media/image12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309" r:id="rId6"/>
    <p:sldId id="310" r:id="rId7"/>
    <p:sldId id="311" r:id="rId8"/>
    <p:sldId id="263" r:id="rId9"/>
    <p:sldId id="305" r:id="rId10"/>
    <p:sldId id="304" r:id="rId11"/>
    <p:sldId id="265" r:id="rId12"/>
    <p:sldId id="266" r:id="rId13"/>
    <p:sldId id="267" r:id="rId14"/>
    <p:sldId id="302" r:id="rId15"/>
    <p:sldId id="268" r:id="rId16"/>
    <p:sldId id="269" r:id="rId17"/>
    <p:sldId id="274" r:id="rId18"/>
    <p:sldId id="271" r:id="rId19"/>
    <p:sldId id="275" r:id="rId20"/>
    <p:sldId id="300" r:id="rId21"/>
  </p:sldIdLst>
  <p:sldSz cx="12192000" cy="6858000"/>
  <p:notesSz cx="6858000" cy="9144000"/>
  <p:custDataLst>
    <p:tags r:id="rId26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1" userDrawn="1">
          <p15:clr>
            <a:srgbClr val="A4A3A4"/>
          </p15:clr>
        </p15:guide>
        <p15:guide id="2" pos="283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_128562381" initials="authorId_128562381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98D3"/>
    <a:srgbClr val="6AA443"/>
    <a:srgbClr val="049BB6"/>
    <a:srgbClr val="C0E6ED"/>
    <a:srgbClr val="6CB83A"/>
    <a:srgbClr val="0E9FB9"/>
    <a:srgbClr val="33AEC4"/>
    <a:srgbClr val="51B065"/>
    <a:srgbClr val="68B6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0D3BE1-320C-436E-86CD-834242B4EECF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5"/>
              </a:solidFill>
              <a:prstDash val="solid"/>
            </a:ln>
          </a:left>
          <a:right>
            <a:ln w="9525" cmpd="sng">
              <a:solidFill>
                <a:schemeClr val="accent5"/>
              </a:solidFill>
              <a:prstDash val="solid"/>
            </a:ln>
          </a:right>
          <a:top>
            <a:ln w="9525" cmpd="sng">
              <a:solidFill>
                <a:schemeClr val="accent5"/>
              </a:solidFill>
              <a:prstDash val="solid"/>
            </a:ln>
          </a:top>
          <a:bottom>
            <a:ln w="9525" cmpd="sng">
              <a:solidFill>
                <a:schemeClr val="accent5"/>
              </a:solidFill>
              <a:prstDash val="solid"/>
            </a:ln>
          </a:bottom>
          <a:insideH>
            <a:ln w="9525" cmpd="sng">
              <a:solidFill>
                <a:schemeClr val="accent5">
                  <a:lumMod val="34000"/>
                  <a:lumOff val="66000"/>
                </a:schemeClr>
              </a:solidFill>
              <a:prstDash val="solid"/>
            </a:ln>
          </a:insideH>
          <a:insideV>
            <a:ln w="9525" cmpd="sng">
              <a:solidFill>
                <a:schemeClr val="accent5">
                  <a:lumMod val="34000"/>
                  <a:lumOff val="66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>
        <a:fontRef idx="none">
          <a:schemeClr val="tx1"/>
        </a:fontRef>
      </a:tcTxStyle>
      <a:tcStyle>
        <a:tcBdr/>
        <a:fill>
          <a:solidFill>
            <a:schemeClr val="accent5">
              <a:alpha val="25000"/>
              <a:lumMod val="40000"/>
              <a:lumOff val="60000"/>
            </a:schemeClr>
          </a:solidFill>
        </a:fill>
      </a:tcStyle>
    </a:band2H>
    <a:band1V>
      <a:tcStyle>
        <a:tcBdr>
          <a:left>
            <a:ln w="9525" cmpd="sng">
              <a:solidFill>
                <a:schemeClr val="accent5"/>
              </a:solidFill>
              <a:prstDash val="solid"/>
            </a:ln>
          </a:left>
          <a:right>
            <a:ln w="9525" cmpd="sng">
              <a:solidFill>
                <a:schemeClr val="accent5"/>
              </a:solidFill>
              <a:prstDash val="solid"/>
            </a:ln>
          </a:right>
          <a:top>
            <a:ln w="9525" cmpd="sng">
              <a:solidFill>
                <a:schemeClr val="accent5"/>
              </a:solidFill>
              <a:prstDash val="solid"/>
            </a:ln>
          </a:top>
          <a:bottom>
            <a:ln w="9525" cmpd="sng">
              <a:solidFill>
                <a:schemeClr val="accent5"/>
              </a:solidFill>
              <a:prstDash val="solid"/>
            </a:ln>
          </a:bottom>
          <a:insideH>
            <a:ln w="9525" cmpd="sng">
              <a:solidFill>
                <a:schemeClr val="accent5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5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5">
              <a:alpha val="25000"/>
              <a:lumMod val="40000"/>
              <a:lumOff val="60000"/>
            </a:schemeClr>
          </a:solidFill>
        </a:fill>
      </a:tcStyle>
    </a:band1V>
    <a:band2V>
      <a:tcStyle>
        <a:tcBdr>
          <a:left>
            <a:ln w="9525" cmpd="sng">
              <a:solidFill>
                <a:schemeClr val="accent5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5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5"/>
              </a:solidFill>
              <a:prstDash val="solid"/>
            </a:ln>
          </a:top>
          <a:bottom>
            <a:ln w="9525" cmpd="sng">
              <a:solidFill>
                <a:schemeClr val="accent5"/>
              </a:solidFill>
              <a:prstDash val="solid"/>
            </a:ln>
          </a:bottom>
          <a:insideH>
            <a:ln w="9525" cmpd="sng">
              <a:solidFill>
                <a:schemeClr val="accent5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5">
                  <a:lumMod val="34000"/>
                  <a:lumOff val="66000"/>
                </a:schemeClr>
              </a:solidFill>
              <a:prstDash val="solid"/>
            </a:ln>
          </a:left>
          <a:right>
            <a:ln w="9525" cmpd="sng">
              <a:solidFill>
                <a:schemeClr val="accent5"/>
              </a:solidFill>
              <a:prstDash val="solid"/>
            </a:ln>
          </a:right>
          <a:top>
            <a:ln w="9525" cmpd="sng">
              <a:solidFill>
                <a:schemeClr val="accent5">
                  <a:lumMod val="34000"/>
                  <a:lumOff val="66000"/>
                </a:schemeClr>
              </a:solidFill>
              <a:prstDash val="solid"/>
            </a:ln>
          </a:top>
          <a:bottom>
            <a:ln w="9525" cmpd="sng">
              <a:solidFill>
                <a:schemeClr val="accent5"/>
              </a:solidFill>
              <a:prstDash val="solid"/>
            </a:ln>
          </a:bottom>
          <a:insideH>
            <a:ln w="9525" cmpd="sng">
              <a:solidFill>
                <a:schemeClr val="accent5">
                  <a:lumMod val="34000"/>
                  <a:lumOff val="66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5"/>
              </a:solidFill>
              <a:prstDash val="solid"/>
            </a:ln>
          </a:left>
          <a:right>
            <a:ln w="9525" cmpd="sng">
              <a:solidFill>
                <a:schemeClr val="accent5">
                  <a:lumMod val="34000"/>
                  <a:lumOff val="66000"/>
                </a:schemeClr>
              </a:solidFill>
              <a:prstDash val="solid"/>
            </a:ln>
          </a:right>
          <a:top>
            <a:ln w="9525" cmpd="sng">
              <a:solidFill>
                <a:schemeClr val="accent5">
                  <a:lumMod val="34000"/>
                  <a:lumOff val="66000"/>
                </a:schemeClr>
              </a:solidFill>
              <a:prstDash val="solid"/>
            </a:ln>
          </a:top>
          <a:bottom>
            <a:ln w="9525" cmpd="sng">
              <a:solidFill>
                <a:schemeClr val="accent5"/>
              </a:solidFill>
              <a:prstDash val="solid"/>
            </a:ln>
          </a:bottom>
          <a:insideH>
            <a:ln w="9525" cmpd="sng">
              <a:solidFill>
                <a:schemeClr val="accent5">
                  <a:lumMod val="34000"/>
                  <a:lumOff val="66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firstCol>
    <a:lastRow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5"/>
              </a:solidFill>
              <a:prstDash val="solid"/>
            </a:ln>
          </a:left>
          <a:right>
            <a:ln w="9525" cmpd="sng">
              <a:solidFill>
                <a:schemeClr val="accent5"/>
              </a:solidFill>
              <a:prstDash val="solid"/>
            </a:ln>
          </a:right>
          <a:top>
            <a:ln w="9525" cmpd="sng">
              <a:solidFill>
                <a:schemeClr val="accent5"/>
              </a:solidFill>
              <a:prstDash val="solid"/>
            </a:ln>
          </a:top>
          <a:bottom>
            <a:ln w="9525" cmpd="sng">
              <a:solidFill>
                <a:schemeClr val="accent5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>
              <a:noFill/>
            </a:ln>
          </a:left>
          <a:right>
            <a:ln w="9525" cmpd="sng">
              <a:solidFill>
                <a:schemeClr val="accent5"/>
              </a:solidFill>
              <a:prstDash val="solid"/>
            </a:ln>
          </a:right>
          <a:top>
            <a:ln w="9525" cmpd="sng">
              <a:solidFill>
                <a:schemeClr val="accent5"/>
              </a:solidFill>
              <a:prstDash val="solid"/>
            </a:ln>
          </a:top>
          <a:bottom>
            <a:ln w="9525" cmpd="sng">
              <a:solidFill>
                <a:schemeClr val="accent5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5"/>
        </a:fontRef>
      </a:tcTxStyle>
      <a:tcStyle>
        <a:tcBdr>
          <a:left>
            <a:ln w="9525" cmpd="sng">
              <a:solidFill>
                <a:schemeClr val="accent5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chemeClr val="accent5"/>
              </a:solidFill>
              <a:prstDash val="solid"/>
            </a:ln>
          </a:top>
          <a:bottom>
            <a:ln w="9525" cmpd="sng">
              <a:solidFill>
                <a:schemeClr val="accent5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5"/>
              </a:solidFill>
              <a:prstDash val="solid"/>
            </a:ln>
          </a:left>
          <a:right>
            <a:ln w="9525" cmpd="sng">
              <a:solidFill>
                <a:schemeClr val="accent5"/>
              </a:solidFill>
              <a:prstDash val="solid"/>
            </a:ln>
          </a:right>
          <a:top>
            <a:ln w="9525" cmpd="sng">
              <a:solidFill>
                <a:schemeClr val="accent5"/>
              </a:solidFill>
              <a:prstDash val="solid"/>
            </a:ln>
          </a:top>
          <a:bottom>
            <a:ln w="9525" cmpd="sng">
              <a:solidFill>
                <a:schemeClr val="accent5">
                  <a:lumMod val="34000"/>
                  <a:lumOff val="66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5">
                  <a:alpha val="20000"/>
                  <a:lumMod val="35000"/>
                  <a:lumOff val="65000"/>
                </a:schemeClr>
              </a:solidFill>
              <a:prstDash val="solid"/>
            </a:ln>
          </a:insideV>
        </a:tcBdr>
        <a:fill>
          <a:solidFill>
            <a:schemeClr val="accent5">
              <a:alpha val="50000"/>
              <a:lumMod val="40000"/>
              <a:lumOff val="6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1"/>
        <p:guide pos="2833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gs" Target="tags/tag175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sz="1400"/>
              <a:t>三大细分市场规模与增长率对比（</a:t>
            </a:r>
            <a:r>
              <a:rPr lang="en-US" altLang="zh-CN" sz="1400"/>
              <a:t>2024</a:t>
            </a:r>
            <a:r>
              <a:rPr altLang="en-US" sz="1400"/>
              <a:t>）</a:t>
            </a:r>
            <a:endParaRPr altLang="en-US" sz="140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市场规模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女性卫生用品</c:v>
                </c:pt>
                <c:pt idx="1">
                  <c:v>婴儿纸尿裤/片</c:v>
                </c:pt>
                <c:pt idx="2">
                  <c:v>成人失禁用品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867.1</c:v>
                </c:pt>
                <c:pt idx="1">
                  <c:v>317.1</c:v>
                </c:pt>
                <c:pt idx="2">
                  <c:v>137.1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69552772"/>
        <c:axId val="80285947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2018-2024年复合增长率</c:v>
                </c:pt>
              </c:strCache>
            </c:strRef>
          </c:tx>
          <c:spPr>
            <a:ln w="28575" cap="rnd">
              <a:solidFill>
                <a:srgbClr val="51B06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女性卫生用品</c:v>
                </c:pt>
                <c:pt idx="1">
                  <c:v>婴儿纸尿裤/片</c:v>
                </c:pt>
                <c:pt idx="2">
                  <c:v>成人失禁用品</c:v>
                </c:pt>
              </c:strCache>
            </c:strRef>
          </c:cat>
          <c:val>
            <c:numRef>
              <c:f>Sheet1!$C$2:$C$4</c:f>
              <c:numCache>
                <c:formatCode>0.00%</c:formatCode>
                <c:ptCount val="3"/>
                <c:pt idx="0">
                  <c:v>0.075</c:v>
                </c:pt>
                <c:pt idx="1">
                  <c:v>-0.071</c:v>
                </c:pt>
                <c:pt idx="2">
                  <c:v>0.117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906031479"/>
        <c:axId val="125629986"/>
      </c:lineChart>
      <c:catAx>
        <c:axId val="869552772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02859472"/>
        <c:crosses val="autoZero"/>
        <c:auto val="1"/>
        <c:lblAlgn val="ctr"/>
        <c:lblOffset val="100"/>
        <c:noMultiLvlLbl val="0"/>
      </c:catAx>
      <c:valAx>
        <c:axId val="802859472"/>
        <c:scaling>
          <c:orientation val="minMax"/>
        </c:scaling>
        <c:delete val="0"/>
        <c:axPos val="l"/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200"/>
                  <a:t>规模（亿元）</a:t>
                </a:r>
                <a:endParaRPr sz="120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69552772"/>
        <c:crosses val="autoZero"/>
        <c:crossBetween val="between"/>
        <c:majorUnit val="500"/>
      </c:valAx>
      <c:catAx>
        <c:axId val="906031479"/>
        <c:scaling>
          <c:orientation val="minMax"/>
        </c:scaling>
        <c:delete val="1"/>
        <c:axPos val="t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25629986"/>
        <c:crosses val="max"/>
        <c:auto val="1"/>
        <c:lblAlgn val="ctr"/>
        <c:lblOffset val="100"/>
        <c:noMultiLvlLbl val="0"/>
      </c:catAx>
      <c:valAx>
        <c:axId val="125629986"/>
        <c:scaling>
          <c:orientation val="minMax"/>
        </c:scaling>
        <c:delete val="0"/>
        <c:axPos val="r"/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sz="1200"/>
                  <a:t>CAGR</a:t>
                </a:r>
                <a:endParaRPr lang="en-US" altLang="zh-CN" sz="120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0.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06031479"/>
        <c:crosses val="max"/>
        <c:crossBetween val="between"/>
        <c:minorUnit val="0.1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da4857e-0b66-4ab5-9fa1-9ed7c4caa467}"/>
      </c:ext>
    </c:extLst>
  </c:chart>
  <c:spPr>
    <a:noFill/>
    <a:ln>
      <a:noFill/>
    </a:ln>
    <a:effectLst/>
  </c:spPr>
  <c:txPr>
    <a:bodyPr/>
    <a:lstStyle/>
    <a:p>
      <a:pPr>
        <a:defRPr lang="zh-CN" sz="1200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/>
          <p:cNvSpPr/>
          <p:nvPr userDrawn="1"/>
        </p:nvSpPr>
        <p:spPr>
          <a:xfrm>
            <a:off x="596900" y="373380"/>
            <a:ext cx="5948045" cy="6045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0" bIns="0" rtlCol="0" anchor="t" anchorCtr="0"/>
          <a:lstStyle/>
          <a:p>
            <a:pPr indent="0" algn="l">
              <a:lnSpc>
                <a:spcPct val="83000"/>
              </a:lnSpc>
              <a:defRPr/>
            </a:pPr>
            <a:endParaRPr lang="en-US" sz="30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ongti SC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8" Type="http://schemas.openxmlformats.org/officeDocument/2006/relationships/theme" Target="../theme/theme2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矩形 0"/>
          <p:cNvSpPr/>
          <p:nvPr userDrawn="1"/>
        </p:nvSpPr>
        <p:spPr>
          <a:xfrm>
            <a:off x="0" y="273685"/>
            <a:ext cx="12192000" cy="792000"/>
          </a:xfrm>
          <a:prstGeom prst="rect">
            <a:avLst/>
          </a:prstGeom>
          <a:gradFill>
            <a:gsLst>
              <a:gs pos="66000">
                <a:srgbClr val="82CDDB">
                  <a:alpha val="100000"/>
                </a:srgbClr>
              </a:gs>
              <a:gs pos="0">
                <a:schemeClr val="bg1"/>
              </a:gs>
              <a:gs pos="100000">
                <a:srgbClr val="049BB6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 descr="logo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48900" y="239395"/>
            <a:ext cx="1932940" cy="815975"/>
          </a:xfrm>
          <a:prstGeom prst="rect">
            <a:avLst/>
          </a:prstGeom>
        </p:spPr>
      </p:pic>
      <p:sp>
        <p:nvSpPr>
          <p:cNvPr id="2" name="任意多边形 1"/>
          <p:cNvSpPr/>
          <p:nvPr userDrawn="1"/>
        </p:nvSpPr>
        <p:spPr>
          <a:xfrm>
            <a:off x="0" y="6182693"/>
            <a:ext cx="12180570" cy="676944"/>
          </a:xfrm>
          <a:custGeom>
            <a:avLst/>
            <a:gdLst>
              <a:gd name="connsiteX0" fmla="*/ 0 w 19182"/>
              <a:gd name="connsiteY0" fmla="*/ 1063 h 1066"/>
              <a:gd name="connsiteX1" fmla="*/ 3690 w 19182"/>
              <a:gd name="connsiteY1" fmla="*/ 415 h 1066"/>
              <a:gd name="connsiteX2" fmla="*/ 9462 w 19182"/>
              <a:gd name="connsiteY2" fmla="*/ 881 h 1066"/>
              <a:gd name="connsiteX3" fmla="*/ 15458 w 19182"/>
              <a:gd name="connsiteY3" fmla="*/ 0 h 1066"/>
              <a:gd name="connsiteX4" fmla="*/ 19182 w 19182"/>
              <a:gd name="connsiteY4" fmla="*/ 1066 h 1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82" h="1066">
                <a:moveTo>
                  <a:pt x="0" y="1063"/>
                </a:moveTo>
                <a:cubicBezTo>
                  <a:pt x="625" y="852"/>
                  <a:pt x="1784" y="415"/>
                  <a:pt x="3690" y="415"/>
                </a:cubicBezTo>
                <a:cubicBezTo>
                  <a:pt x="5597" y="415"/>
                  <a:pt x="7112" y="901"/>
                  <a:pt x="9462" y="881"/>
                </a:cubicBezTo>
                <a:cubicBezTo>
                  <a:pt x="11811" y="860"/>
                  <a:pt x="13521" y="8"/>
                  <a:pt x="15458" y="0"/>
                </a:cubicBezTo>
                <a:cubicBezTo>
                  <a:pt x="17396" y="-8"/>
                  <a:pt x="18370" y="882"/>
                  <a:pt x="19182" y="1066"/>
                </a:cubicBezTo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40000">
                <a:srgbClr val="A4D4B1">
                  <a:alpha val="100000"/>
                </a:srgbClr>
              </a:gs>
              <a:gs pos="100000">
                <a:srgbClr val="51B06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jpeg"/><Relationship Id="rId3" Type="http://schemas.openxmlformats.org/officeDocument/2006/relationships/tags" Target="../tags/tag63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tags" Target="../tags/tag78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9" Type="http://schemas.openxmlformats.org/officeDocument/2006/relationships/slideLayout" Target="../slideLayouts/slideLayout1.xml"/><Relationship Id="rId38" Type="http://schemas.openxmlformats.org/officeDocument/2006/relationships/image" Target="../media/image12.svg"/><Relationship Id="rId37" Type="http://schemas.openxmlformats.org/officeDocument/2006/relationships/image" Target="../media/image11.png"/><Relationship Id="rId36" Type="http://schemas.openxmlformats.org/officeDocument/2006/relationships/tags" Target="../tags/tag101.xml"/><Relationship Id="rId35" Type="http://schemas.openxmlformats.org/officeDocument/2006/relationships/image" Target="../media/image10.svg"/><Relationship Id="rId34" Type="http://schemas.openxmlformats.org/officeDocument/2006/relationships/image" Target="../media/image9.png"/><Relationship Id="rId33" Type="http://schemas.openxmlformats.org/officeDocument/2006/relationships/tags" Target="../tags/tag100.xml"/><Relationship Id="rId32" Type="http://schemas.openxmlformats.org/officeDocument/2006/relationships/image" Target="../media/image8.svg"/><Relationship Id="rId31" Type="http://schemas.openxmlformats.org/officeDocument/2006/relationships/image" Target="../media/image7.png"/><Relationship Id="rId30" Type="http://schemas.openxmlformats.org/officeDocument/2006/relationships/tags" Target="../tags/tag99.xml"/><Relationship Id="rId3" Type="http://schemas.openxmlformats.org/officeDocument/2006/relationships/tags" Target="../tags/tag74.xml"/><Relationship Id="rId29" Type="http://schemas.openxmlformats.org/officeDocument/2006/relationships/image" Target="../media/image6.svg"/><Relationship Id="rId28" Type="http://schemas.openxmlformats.org/officeDocument/2006/relationships/image" Target="../media/image5.png"/><Relationship Id="rId27" Type="http://schemas.openxmlformats.org/officeDocument/2006/relationships/tags" Target="../tags/tag98.xml"/><Relationship Id="rId26" Type="http://schemas.openxmlformats.org/officeDocument/2006/relationships/tags" Target="../tags/tag97.xml"/><Relationship Id="rId25" Type="http://schemas.openxmlformats.org/officeDocument/2006/relationships/tags" Target="../tags/tag96.xml"/><Relationship Id="rId24" Type="http://schemas.openxmlformats.org/officeDocument/2006/relationships/tags" Target="../tags/tag95.xml"/><Relationship Id="rId23" Type="http://schemas.openxmlformats.org/officeDocument/2006/relationships/tags" Target="../tags/tag94.xml"/><Relationship Id="rId22" Type="http://schemas.openxmlformats.org/officeDocument/2006/relationships/tags" Target="../tags/tag93.xml"/><Relationship Id="rId21" Type="http://schemas.openxmlformats.org/officeDocument/2006/relationships/tags" Target="../tags/tag92.xml"/><Relationship Id="rId20" Type="http://schemas.openxmlformats.org/officeDocument/2006/relationships/tags" Target="../tags/tag91.xml"/><Relationship Id="rId2" Type="http://schemas.openxmlformats.org/officeDocument/2006/relationships/tags" Target="../tags/tag73.xml"/><Relationship Id="rId19" Type="http://schemas.openxmlformats.org/officeDocument/2006/relationships/tags" Target="../tags/tag90.xml"/><Relationship Id="rId18" Type="http://schemas.openxmlformats.org/officeDocument/2006/relationships/tags" Target="../tags/tag89.xml"/><Relationship Id="rId17" Type="http://schemas.openxmlformats.org/officeDocument/2006/relationships/tags" Target="../tags/tag88.xml"/><Relationship Id="rId16" Type="http://schemas.openxmlformats.org/officeDocument/2006/relationships/tags" Target="../tags/tag87.xml"/><Relationship Id="rId15" Type="http://schemas.openxmlformats.org/officeDocument/2006/relationships/tags" Target="../tags/tag86.xml"/><Relationship Id="rId14" Type="http://schemas.openxmlformats.org/officeDocument/2006/relationships/tags" Target="../tags/tag85.xml"/><Relationship Id="rId13" Type="http://schemas.openxmlformats.org/officeDocument/2006/relationships/tags" Target="../tags/tag84.xml"/><Relationship Id="rId12" Type="http://schemas.openxmlformats.org/officeDocument/2006/relationships/tags" Target="../tags/tag83.xml"/><Relationship Id="rId11" Type="http://schemas.openxmlformats.org/officeDocument/2006/relationships/tags" Target="../tags/tag82.xml"/><Relationship Id="rId10" Type="http://schemas.openxmlformats.org/officeDocument/2006/relationships/tags" Target="../tags/tag81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09.xml"/><Relationship Id="rId8" Type="http://schemas.openxmlformats.org/officeDocument/2006/relationships/tags" Target="../tags/tag108.xml"/><Relationship Id="rId7" Type="http://schemas.openxmlformats.org/officeDocument/2006/relationships/image" Target="../media/image15.jpeg"/><Relationship Id="rId6" Type="http://schemas.openxmlformats.org/officeDocument/2006/relationships/tags" Target="../tags/tag107.xml"/><Relationship Id="rId5" Type="http://schemas.openxmlformats.org/officeDocument/2006/relationships/tags" Target="../tags/tag106.xml"/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11.xml"/><Relationship Id="rId11" Type="http://schemas.openxmlformats.org/officeDocument/2006/relationships/tags" Target="../tags/tag110.xml"/><Relationship Id="rId10" Type="http://schemas.openxmlformats.org/officeDocument/2006/relationships/image" Target="../media/image16.jpeg"/><Relationship Id="rId1" Type="http://schemas.openxmlformats.org/officeDocument/2006/relationships/tags" Target="../tags/tag10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tags" Target="../tags/tag119.xml"/><Relationship Id="rId7" Type="http://schemas.openxmlformats.org/officeDocument/2006/relationships/tags" Target="../tags/tag118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tags" Target="../tags/tag115.xml"/><Relationship Id="rId3" Type="http://schemas.openxmlformats.org/officeDocument/2006/relationships/tags" Target="../tags/tag114.xml"/><Relationship Id="rId21" Type="http://schemas.openxmlformats.org/officeDocument/2006/relationships/slideLayout" Target="../slideLayouts/slideLayout1.xml"/><Relationship Id="rId20" Type="http://schemas.openxmlformats.org/officeDocument/2006/relationships/image" Target="../media/image24.svg"/><Relationship Id="rId2" Type="http://schemas.openxmlformats.org/officeDocument/2006/relationships/tags" Target="../tags/tag113.xml"/><Relationship Id="rId19" Type="http://schemas.openxmlformats.org/officeDocument/2006/relationships/image" Target="../media/image23.png"/><Relationship Id="rId18" Type="http://schemas.openxmlformats.org/officeDocument/2006/relationships/tags" Target="../tags/tag123.xml"/><Relationship Id="rId17" Type="http://schemas.openxmlformats.org/officeDocument/2006/relationships/image" Target="../media/image22.svg"/><Relationship Id="rId16" Type="http://schemas.openxmlformats.org/officeDocument/2006/relationships/image" Target="../media/image21.png"/><Relationship Id="rId15" Type="http://schemas.openxmlformats.org/officeDocument/2006/relationships/tags" Target="../tags/tag122.xml"/><Relationship Id="rId14" Type="http://schemas.openxmlformats.org/officeDocument/2006/relationships/image" Target="../media/image20.svg"/><Relationship Id="rId13" Type="http://schemas.openxmlformats.org/officeDocument/2006/relationships/image" Target="../media/image19.png"/><Relationship Id="rId12" Type="http://schemas.openxmlformats.org/officeDocument/2006/relationships/tags" Target="../tags/tag121.xml"/><Relationship Id="rId11" Type="http://schemas.openxmlformats.org/officeDocument/2006/relationships/image" Target="../media/image18.svg"/><Relationship Id="rId10" Type="http://schemas.openxmlformats.org/officeDocument/2006/relationships/image" Target="../media/image17.png"/><Relationship Id="rId1" Type="http://schemas.openxmlformats.org/officeDocument/2006/relationships/tags" Target="../tags/tag1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5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33.xml"/><Relationship Id="rId7" Type="http://schemas.openxmlformats.org/officeDocument/2006/relationships/tags" Target="../tags/tag132.xml"/><Relationship Id="rId6" Type="http://schemas.openxmlformats.org/officeDocument/2006/relationships/tags" Target="../tags/tag131.xml"/><Relationship Id="rId5" Type="http://schemas.openxmlformats.org/officeDocument/2006/relationships/tags" Target="../tags/tag130.xml"/><Relationship Id="rId4" Type="http://schemas.openxmlformats.org/officeDocument/2006/relationships/tags" Target="../tags/tag129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0" Type="http://schemas.openxmlformats.org/officeDocument/2006/relationships/notesSlide" Target="../notesSlides/notesSlide6.xml"/><Relationship Id="rId1" Type="http://schemas.openxmlformats.org/officeDocument/2006/relationships/tags" Target="../tags/tag12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139.xml"/><Relationship Id="rId5" Type="http://schemas.openxmlformats.org/officeDocument/2006/relationships/tags" Target="../tags/tag138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tags" Target="../tags/tag134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46.xml"/><Relationship Id="rId8" Type="http://schemas.openxmlformats.org/officeDocument/2006/relationships/tags" Target="../tags/tag145.xml"/><Relationship Id="rId7" Type="http://schemas.openxmlformats.org/officeDocument/2006/relationships/image" Target="../media/image28.svg"/><Relationship Id="rId6" Type="http://schemas.openxmlformats.org/officeDocument/2006/relationships/image" Target="../media/image27.png"/><Relationship Id="rId5" Type="http://schemas.openxmlformats.org/officeDocument/2006/relationships/tags" Target="../tags/tag144.xml"/><Relationship Id="rId4" Type="http://schemas.openxmlformats.org/officeDocument/2006/relationships/tags" Target="../tags/tag143.xml"/><Relationship Id="rId3" Type="http://schemas.openxmlformats.org/officeDocument/2006/relationships/tags" Target="../tags/tag142.xml"/><Relationship Id="rId22" Type="http://schemas.openxmlformats.org/officeDocument/2006/relationships/notesSlide" Target="../notesSlides/notesSlide8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151.xml"/><Relationship Id="rId2" Type="http://schemas.openxmlformats.org/officeDocument/2006/relationships/tags" Target="../tags/tag141.xml"/><Relationship Id="rId19" Type="http://schemas.openxmlformats.org/officeDocument/2006/relationships/image" Target="../media/image34.svg"/><Relationship Id="rId18" Type="http://schemas.openxmlformats.org/officeDocument/2006/relationships/image" Target="../media/image33.png"/><Relationship Id="rId17" Type="http://schemas.openxmlformats.org/officeDocument/2006/relationships/tags" Target="../tags/tag150.xml"/><Relationship Id="rId16" Type="http://schemas.openxmlformats.org/officeDocument/2006/relationships/tags" Target="../tags/tag149.xml"/><Relationship Id="rId15" Type="http://schemas.openxmlformats.org/officeDocument/2006/relationships/image" Target="../media/image32.svg"/><Relationship Id="rId14" Type="http://schemas.openxmlformats.org/officeDocument/2006/relationships/image" Target="../media/image31.png"/><Relationship Id="rId13" Type="http://schemas.openxmlformats.org/officeDocument/2006/relationships/tags" Target="../tags/tag148.xml"/><Relationship Id="rId12" Type="http://schemas.openxmlformats.org/officeDocument/2006/relationships/tags" Target="../tags/tag147.xml"/><Relationship Id="rId11" Type="http://schemas.openxmlformats.org/officeDocument/2006/relationships/image" Target="../media/image30.svg"/><Relationship Id="rId10" Type="http://schemas.openxmlformats.org/officeDocument/2006/relationships/image" Target="../media/image29.png"/><Relationship Id="rId1" Type="http://schemas.openxmlformats.org/officeDocument/2006/relationships/tags" Target="../tags/tag140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60.xml"/><Relationship Id="rId8" Type="http://schemas.openxmlformats.org/officeDocument/2006/relationships/tags" Target="../tags/tag159.xml"/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tags" Target="../tags/tag156.xml"/><Relationship Id="rId4" Type="http://schemas.openxmlformats.org/officeDocument/2006/relationships/tags" Target="../tags/tag155.xml"/><Relationship Id="rId3" Type="http://schemas.openxmlformats.org/officeDocument/2006/relationships/tags" Target="../tags/tag154.xml"/><Relationship Id="rId24" Type="http://schemas.openxmlformats.org/officeDocument/2006/relationships/notesSlide" Target="../notesSlides/notesSlide9.xml"/><Relationship Id="rId23" Type="http://schemas.openxmlformats.org/officeDocument/2006/relationships/slideLayout" Target="../slideLayouts/slideLayout1.xml"/><Relationship Id="rId22" Type="http://schemas.openxmlformats.org/officeDocument/2006/relationships/tags" Target="../tags/tag171.xml"/><Relationship Id="rId21" Type="http://schemas.openxmlformats.org/officeDocument/2006/relationships/tags" Target="../tags/tag170.xml"/><Relationship Id="rId20" Type="http://schemas.openxmlformats.org/officeDocument/2006/relationships/tags" Target="../tags/tag169.xml"/><Relationship Id="rId2" Type="http://schemas.openxmlformats.org/officeDocument/2006/relationships/tags" Target="../tags/tag153.xml"/><Relationship Id="rId19" Type="http://schemas.openxmlformats.org/officeDocument/2006/relationships/tags" Target="../tags/tag168.xml"/><Relationship Id="rId18" Type="http://schemas.openxmlformats.org/officeDocument/2006/relationships/image" Target="../media/image36.png"/><Relationship Id="rId17" Type="http://schemas.openxmlformats.org/officeDocument/2006/relationships/tags" Target="../tags/tag167.xml"/><Relationship Id="rId16" Type="http://schemas.openxmlformats.org/officeDocument/2006/relationships/tags" Target="../tags/tag166.xml"/><Relationship Id="rId15" Type="http://schemas.openxmlformats.org/officeDocument/2006/relationships/tags" Target="../tags/tag165.xml"/><Relationship Id="rId14" Type="http://schemas.openxmlformats.org/officeDocument/2006/relationships/tags" Target="../tags/tag164.xml"/><Relationship Id="rId13" Type="http://schemas.openxmlformats.org/officeDocument/2006/relationships/tags" Target="../tags/tag163.xml"/><Relationship Id="rId12" Type="http://schemas.openxmlformats.org/officeDocument/2006/relationships/tags" Target="../tags/tag162.xml"/><Relationship Id="rId11" Type="http://schemas.openxmlformats.org/officeDocument/2006/relationships/tags" Target="../tags/tag161.xml"/><Relationship Id="rId10" Type="http://schemas.openxmlformats.org/officeDocument/2006/relationships/image" Target="../media/image35.png"/><Relationship Id="rId1" Type="http://schemas.openxmlformats.org/officeDocument/2006/relationships/tags" Target="../tags/tag152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png"/><Relationship Id="rId8" Type="http://schemas.openxmlformats.org/officeDocument/2006/relationships/image" Target="../media/image42.svg"/><Relationship Id="rId7" Type="http://schemas.openxmlformats.org/officeDocument/2006/relationships/image" Target="../media/image41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Relationship Id="rId3" Type="http://schemas.openxmlformats.org/officeDocument/2006/relationships/image" Target="../media/image37.png"/><Relationship Id="rId20" Type="http://schemas.openxmlformats.org/officeDocument/2006/relationships/notesSlide" Target="../notesSlides/notesSlide10.xml"/><Relationship Id="rId2" Type="http://schemas.openxmlformats.org/officeDocument/2006/relationships/tags" Target="../tags/tag173.xml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52.svg"/><Relationship Id="rId17" Type="http://schemas.openxmlformats.org/officeDocument/2006/relationships/image" Target="../media/image51.png"/><Relationship Id="rId16" Type="http://schemas.openxmlformats.org/officeDocument/2006/relationships/image" Target="../media/image50.svg"/><Relationship Id="rId15" Type="http://schemas.openxmlformats.org/officeDocument/2006/relationships/image" Target="../media/image49.png"/><Relationship Id="rId14" Type="http://schemas.openxmlformats.org/officeDocument/2006/relationships/image" Target="../media/image48.svg"/><Relationship Id="rId13" Type="http://schemas.openxmlformats.org/officeDocument/2006/relationships/image" Target="../media/image47.png"/><Relationship Id="rId12" Type="http://schemas.openxmlformats.org/officeDocument/2006/relationships/image" Target="../media/image46.svg"/><Relationship Id="rId11" Type="http://schemas.openxmlformats.org/officeDocument/2006/relationships/image" Target="../media/image45.png"/><Relationship Id="rId10" Type="http://schemas.openxmlformats.org/officeDocument/2006/relationships/image" Target="../media/image44.svg"/><Relationship Id="rId1" Type="http://schemas.openxmlformats.org/officeDocument/2006/relationships/tags" Target="../tags/tag172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jpeg"/><Relationship Id="rId3" Type="http://schemas.openxmlformats.org/officeDocument/2006/relationships/tags" Target="../tags/tag174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555115"/>
            <a:ext cx="12192000" cy="2160000"/>
          </a:xfrm>
          <a:prstGeom prst="rect">
            <a:avLst/>
          </a:prstGeom>
          <a:solidFill>
            <a:srgbClr val="0E9FB9">
              <a:alpha val="1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AutoShape 6"/>
          <p:cNvSpPr/>
          <p:nvPr/>
        </p:nvSpPr>
        <p:spPr>
          <a:xfrm>
            <a:off x="762000" y="5231765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天津聚合芯能健护科技有限公司</a:t>
            </a:r>
            <a:r>
              <a:rPr lang="en-US" altLang="zh-CN" sz="1800" b="1" i="0" u="none" strike="noStrike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 </a:t>
            </a:r>
            <a:r>
              <a:rPr lang="en-US" sz="1800" b="1" i="0" u="none" strike="noStrike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|  2026年5月</a:t>
            </a:r>
            <a:endParaRPr lang="en-US" sz="1800" b="1" i="0" u="none" strike="noStrike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8401685" y="1226820"/>
            <a:ext cx="4678045" cy="4975860"/>
            <a:chOff x="13231" y="1705"/>
            <a:chExt cx="7367" cy="7836"/>
          </a:xfrm>
        </p:grpSpPr>
        <p:grpSp>
          <p:nvGrpSpPr>
            <p:cNvPr id="13" name="组合 12"/>
            <p:cNvGrpSpPr/>
            <p:nvPr/>
          </p:nvGrpSpPr>
          <p:grpSpPr>
            <a:xfrm>
              <a:off x="15224" y="1705"/>
              <a:ext cx="3742" cy="7836"/>
              <a:chOff x="15224" y="1705"/>
              <a:chExt cx="3742" cy="7836"/>
            </a:xfrm>
          </p:grpSpPr>
          <p:pic>
            <p:nvPicPr>
              <p:cNvPr id="3" name="图片 2" descr="&amp;pky8954437493&amp;water&amp;"/>
              <p:cNvPicPr/>
              <p:nvPr/>
            </p:nvPicPr>
            <p:blipFill>
              <a:blip r:embed="rId1"/>
              <a:srcRect l="19416" r="14119"/>
              <a:stretch>
                <a:fillRect/>
              </a:stretch>
            </p:blipFill>
            <p:spPr>
              <a:xfrm>
                <a:off x="15224" y="1705"/>
                <a:ext cx="3742" cy="3742"/>
              </a:xfrm>
              <a:prstGeom prst="diamond">
                <a:avLst/>
              </a:prstGeom>
            </p:spPr>
          </p:pic>
          <p:pic>
            <p:nvPicPr>
              <p:cNvPr id="4" name="图片 3" descr="&amp;pky8724148792&amp;water&amp;"/>
              <p:cNvPicPr/>
              <p:nvPr/>
            </p:nvPicPr>
            <p:blipFill>
              <a:blip r:embed="rId2"/>
              <a:srcRect l="20265" t="-94" r="13089" b="94"/>
              <a:stretch>
                <a:fillRect/>
              </a:stretch>
            </p:blipFill>
            <p:spPr>
              <a:xfrm>
                <a:off x="15224" y="5799"/>
                <a:ext cx="3742" cy="3742"/>
              </a:xfrm>
              <a:prstGeom prst="diamond">
                <a:avLst/>
              </a:prstGeom>
            </p:spPr>
          </p:pic>
        </p:grpSp>
        <p:pic>
          <p:nvPicPr>
            <p:cNvPr id="8" name="图片 7" descr="3D render illustration."/>
            <p:cNvPicPr/>
            <p:nvPr>
              <p:custDataLst>
                <p:tags r:id="rId3"/>
              </p:custDataLst>
            </p:nvPr>
          </p:nvPicPr>
          <p:blipFill>
            <a:blip r:embed="rId4"/>
            <a:srcRect l="24068" r="19682"/>
            <a:stretch>
              <a:fillRect/>
            </a:stretch>
          </p:blipFill>
          <p:spPr>
            <a:xfrm>
              <a:off x="13231" y="3752"/>
              <a:ext cx="3742" cy="3742"/>
            </a:xfrm>
            <a:prstGeom prst="diamond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17820" y="4234"/>
              <a:ext cx="2778" cy="2778"/>
            </a:xfrm>
            <a:prstGeom prst="rect">
              <a:avLst/>
            </a:prstGeom>
            <a:solidFill>
              <a:srgbClr val="33AEC4"/>
            </a:solidFill>
            <a:ln>
              <a:noFill/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" name="AutoShape 2"/>
          <p:cNvSpPr/>
          <p:nvPr/>
        </p:nvSpPr>
        <p:spPr>
          <a:xfrm>
            <a:off x="1235075" y="1873250"/>
            <a:ext cx="571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6600" b="1" i="0">
                <a:solidFill>
                  <a:srgbClr val="123456"/>
                </a:solidFill>
                <a:latin typeface="Noto Sans SC" panose="020B0200000000000000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LAE抑菌剂</a:t>
            </a:r>
            <a:endParaRPr lang="en-US" sz="6600" b="1">
              <a:ea typeface="宋体" panose="02010600030101010101" pitchFamily="2" charset="-122"/>
            </a:endParaRPr>
          </a:p>
          <a:p>
            <a:pPr indent="0" algn="l">
              <a:lnSpc>
                <a:spcPct val="108000"/>
              </a:lnSpc>
              <a:spcBef>
                <a:spcPts val="1500"/>
              </a:spcBef>
            </a:pPr>
            <a:r>
              <a:rPr lang="en-US"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赋能个人护理用品的</a:t>
            </a:r>
            <a:r>
              <a:rPr lang="en-US"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Noto Sans SC" panose="020B0200000000000000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创新抑菌解决方案</a:t>
            </a:r>
            <a:endParaRPr lang="en-US" sz="2000" b="0" i="0">
              <a:solidFill>
                <a:schemeClr val="tx1">
                  <a:lumMod val="65000"/>
                  <a:lumOff val="35000"/>
                </a:schemeClr>
              </a:solidFill>
              <a:latin typeface="Noto Sans SC" panose="020B0200000000000000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AutoShape 8"/>
          <p:cNvSpPr/>
          <p:nvPr/>
        </p:nvSpPr>
        <p:spPr>
          <a:xfrm>
            <a:off x="596900" y="1457643"/>
            <a:ext cx="5360035" cy="46539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eaLnBrk="1" fontAlgn="auto" latinLnBrk="0" hangingPunct="1">
              <a:lnSpc>
                <a:spcPct val="110000"/>
              </a:lnSpc>
              <a:spcBef>
                <a:spcPts val="500"/>
              </a:spcBef>
              <a:defRPr/>
            </a:pPr>
            <a:r>
              <a:rPr lang="en-US" sz="2000" b="1" i="0">
                <a:solidFill>
                  <a:schemeClr val="tx1"/>
                </a:solidFill>
                <a:latin typeface="Calibri" panose="020F05020202040302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📊   整体市场概览</a:t>
            </a:r>
            <a:endParaRPr lang="en-US" sz="2000">
              <a:solidFill>
                <a:schemeClr val="tx1"/>
              </a:solidFill>
              <a:latin typeface="Calibri" panose="020F0502020204030204" charset="0"/>
              <a:ea typeface="宋体简体" charset="0"/>
            </a:endParaRPr>
          </a:p>
          <a:p>
            <a:pPr marL="0" indent="0" algn="l" eaLnBrk="1" fontAlgn="auto" latinLnBrk="0" hangingPunct="1">
              <a:lnSpc>
                <a:spcPct val="110000"/>
              </a:lnSpc>
              <a:spcBef>
                <a:spcPts val="500"/>
              </a:spcBef>
            </a:pPr>
            <a:r>
              <a:rPr lang="en-US" sz="1600" b="0" i="0">
                <a:solidFill>
                  <a:srgbClr val="374151"/>
                </a:solidFill>
                <a:latin typeface="Calibri" panose="020F0502020204030204" charset="0"/>
                <a:ea typeface="宋体简体" charset="0"/>
                <a:cs typeface="Songti SC"/>
                <a:sym typeface="Songti SC"/>
              </a:rPr>
              <a:t>        2024年中国一次性卫生用品市场规模已</a:t>
            </a:r>
            <a:r>
              <a:rPr lang="zh-CN" altLang="en-US" sz="1600" b="0" i="0">
                <a:solidFill>
                  <a:srgbClr val="374151"/>
                </a:solidFill>
                <a:latin typeface="Calibri" panose="020F0502020204030204" charset="0"/>
                <a:ea typeface="宋体简体" charset="0"/>
                <a:cs typeface="Songti SC"/>
                <a:sym typeface="Songti SC"/>
              </a:rPr>
              <a:t>达近</a:t>
            </a:r>
            <a:r>
              <a:rPr lang="en-US" sz="1600" b="1" i="0">
                <a:solidFill>
                  <a:srgbClr val="C00000"/>
                </a:solidFill>
                <a:latin typeface="Calibri" panose="020F05020202040302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1500亿元</a:t>
            </a:r>
            <a:r>
              <a:rPr lang="en-US" sz="1600" b="0" i="0">
                <a:solidFill>
                  <a:srgbClr val="374151"/>
                </a:solidFill>
                <a:latin typeface="Calibri" panose="020F0502020204030204" charset="0"/>
                <a:ea typeface="宋体简体" charset="0"/>
                <a:cs typeface="Songti SC"/>
                <a:sym typeface="Songti SC"/>
              </a:rPr>
              <a:t>，</a:t>
            </a:r>
            <a:r>
              <a:rPr lang="zh-CN" altLang="en-US" sz="1600" b="0" i="0">
                <a:solidFill>
                  <a:srgbClr val="374151"/>
                </a:solidFill>
                <a:latin typeface="Calibri" panose="020F0502020204030204" charset="0"/>
                <a:ea typeface="宋体简体" charset="0"/>
                <a:cs typeface="Songti SC"/>
                <a:sym typeface="Songti SC"/>
              </a:rPr>
              <a:t>市场规模持续扩大。</a:t>
            </a:r>
            <a:endParaRPr lang="zh-CN" altLang="en-US" sz="1600" b="0" i="0">
              <a:solidFill>
                <a:srgbClr val="374151"/>
              </a:solidFill>
              <a:latin typeface="Calibri" panose="020F0502020204030204" charset="0"/>
              <a:ea typeface="宋体简体" charset="0"/>
              <a:cs typeface="Songti SC"/>
              <a:sym typeface="Songti SC"/>
            </a:endParaRPr>
          </a:p>
          <a:p>
            <a:pPr marL="0" indent="0" algn="l" eaLnBrk="1" fontAlgn="auto" latinLnBrk="0" hangingPunct="1">
              <a:lnSpc>
                <a:spcPts val="320"/>
              </a:lnSpc>
              <a:spcBef>
                <a:spcPts val="500"/>
              </a:spcBef>
            </a:pPr>
            <a:endParaRPr lang="en-US" sz="1600" b="0" i="0">
              <a:solidFill>
                <a:srgbClr val="374151"/>
              </a:solidFill>
              <a:latin typeface="Calibri" panose="020F0502020204030204" charset="0"/>
              <a:ea typeface="宋体简体" charset="0"/>
              <a:cs typeface="Songti SC"/>
              <a:sym typeface="Songti SC"/>
            </a:endParaRPr>
          </a:p>
          <a:p>
            <a:pPr marL="0" indent="0" algn="l" eaLnBrk="1" fontAlgn="auto" latinLnBrk="0" hangingPunct="1">
              <a:lnSpc>
                <a:spcPct val="110000"/>
              </a:lnSpc>
              <a:spcBef>
                <a:spcPts val="500"/>
              </a:spcBef>
            </a:pPr>
            <a:r>
              <a:rPr lang="en-US" sz="2000" b="1" i="0">
                <a:solidFill>
                  <a:schemeClr val="tx1"/>
                </a:solidFill>
                <a:latin typeface="Calibri" panose="020F05020202040302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🏷   三大细分领域分析</a:t>
            </a:r>
            <a:endParaRPr lang="en-US" sz="2000" b="1" i="0">
              <a:solidFill>
                <a:schemeClr val="tx1"/>
              </a:solidFill>
              <a:latin typeface="Calibri" panose="020F0502020204030204" charset="0"/>
              <a:ea typeface="宋体简体" charset="0"/>
              <a:cs typeface="Noto Sans SC" panose="020B0200000000000000" charset="-122"/>
              <a:sym typeface="Noto Sans SC" panose="020B0200000000000000" charset="-122"/>
            </a:endParaRPr>
          </a:p>
          <a:p>
            <a:pPr marL="285750" indent="-285750" algn="l" eaLnBrk="1" fontAlgn="auto" latinLnBrk="0" hangingPunct="1">
              <a:lnSpc>
                <a:spcPct val="110000"/>
              </a:lnSpc>
              <a:spcBef>
                <a:spcPts val="500"/>
              </a:spcBef>
              <a:buFont typeface="Wingdings" panose="05000000000000000000" charset="0"/>
              <a:buChar char="u"/>
            </a:pPr>
            <a:r>
              <a:rPr lang="en-US" sz="1600" b="1" i="0">
                <a:solidFill>
                  <a:srgbClr val="1F2329"/>
                </a:solidFill>
                <a:latin typeface="Calibri" panose="020F05020202040302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女性卫生用品：</a:t>
            </a:r>
            <a:r>
              <a:rPr lang="zh-CN" altLang="en-US" sz="1600" i="0">
                <a:solidFill>
                  <a:schemeClr val="tx1"/>
                </a:solidFill>
                <a:uFillTx/>
                <a:latin typeface="Calibri" panose="020F05020202040302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作为</a:t>
            </a:r>
            <a:r>
              <a:rPr lang="en-US" sz="1600" b="1">
                <a:solidFill>
                  <a:srgbClr val="C00000"/>
                </a:solidFill>
                <a:latin typeface="Calibri" panose="020F05020202040302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第一大细分市场</a:t>
            </a:r>
            <a:r>
              <a:rPr lang="zh-CN" altLang="en-US" sz="1600">
                <a:solidFill>
                  <a:schemeClr val="tx1"/>
                </a:solidFill>
                <a:uFillTx/>
                <a:latin typeface="Calibri" panose="020F05020202040302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，受益于女性初经低龄化、经期延长及健康意识升级，</a:t>
            </a:r>
            <a:r>
              <a:rPr lang="en-US" sz="1600" b="1">
                <a:solidFill>
                  <a:srgbClr val="C00000"/>
                </a:solidFill>
                <a:latin typeface="Calibri" panose="020F05020202040302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市场规模稳健增长</a:t>
            </a:r>
            <a:r>
              <a:rPr lang="zh-CN" altLang="en-US" sz="1600">
                <a:solidFill>
                  <a:schemeClr val="tx1"/>
                </a:solidFill>
                <a:uFillTx/>
                <a:latin typeface="Calibri" panose="020F05020202040302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，用户对经期抑菌、祛味</a:t>
            </a:r>
            <a:r>
              <a:rPr lang="zh-CN" altLang="en-US" sz="1600">
                <a:solidFill>
                  <a:schemeClr val="tx1"/>
                </a:solidFill>
                <a:uFillTx/>
                <a:latin typeface="Calibri" panose="020F05020202040302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等功能化需求空前提升，高端化升级趋势明确。</a:t>
            </a:r>
            <a:endParaRPr lang="zh-CN" altLang="en-US" sz="1600">
              <a:solidFill>
                <a:schemeClr val="tx1"/>
              </a:solidFill>
              <a:uFillTx/>
              <a:latin typeface="Calibri" panose="020F0502020204030204" charset="0"/>
              <a:ea typeface="宋体简体" charset="0"/>
              <a:cs typeface="Noto Sans SC" panose="020B0200000000000000" charset="-122"/>
              <a:sym typeface="Noto Sans SC" panose="020B0200000000000000" charset="-122"/>
            </a:endParaRPr>
          </a:p>
          <a:p>
            <a:pPr marL="285750" indent="-285750" algn="l" eaLnBrk="1" fontAlgn="auto" latinLnBrk="0" hangingPunct="1">
              <a:lnSpc>
                <a:spcPct val="110000"/>
              </a:lnSpc>
              <a:spcBef>
                <a:spcPts val="500"/>
              </a:spcBef>
              <a:buFont typeface="Wingdings" panose="05000000000000000000" charset="0"/>
              <a:buChar char="u"/>
            </a:pPr>
            <a:r>
              <a:rPr lang="en-US" sz="1600" b="1" i="0">
                <a:solidFill>
                  <a:srgbClr val="1F2329"/>
                </a:solidFill>
                <a:latin typeface="Calibri" panose="020F05020202040302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婴儿纸尿裤/片：</a:t>
            </a:r>
            <a:r>
              <a:rPr lang="zh-CN" altLang="en-US" sz="1600">
                <a:solidFill>
                  <a:schemeClr val="tx1"/>
                </a:solidFill>
                <a:uFillTx/>
                <a:latin typeface="Calibri" panose="020F05020202040302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尽管新生儿数量持续下滑，</a:t>
            </a:r>
            <a:r>
              <a:rPr lang="en-US" altLang="zh-CN" sz="1600">
                <a:solidFill>
                  <a:schemeClr val="tx1"/>
                </a:solidFill>
                <a:uFillTx/>
                <a:latin typeface="Calibri" panose="020F05020202040302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CAGR</a:t>
            </a:r>
            <a:r>
              <a:rPr lang="zh-CN" altLang="en-US" sz="1600">
                <a:solidFill>
                  <a:schemeClr val="tx1"/>
                </a:solidFill>
                <a:uFillTx/>
                <a:latin typeface="Calibri" panose="020F05020202040302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负增长，但育儿观念升级与三孩政策红利推动产品普及，</a:t>
            </a:r>
            <a:r>
              <a:rPr lang="en-US" sz="1600" b="1">
                <a:solidFill>
                  <a:srgbClr val="C00000"/>
                </a:solidFill>
                <a:latin typeface="Calibri" panose="020F05020202040302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市场仍保持相当规模</a:t>
            </a:r>
            <a:r>
              <a:rPr lang="zh-CN" altLang="en-US" sz="1600">
                <a:solidFill>
                  <a:schemeClr val="tx1"/>
                </a:solidFill>
                <a:uFillTx/>
                <a:latin typeface="Calibri" panose="020F05020202040302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，宝妈对产品抑菌防红臀的护理需求持续存在，产品功能升级仍有空间。</a:t>
            </a:r>
            <a:endParaRPr lang="zh-CN" altLang="en-US" sz="1600">
              <a:solidFill>
                <a:schemeClr val="tx1"/>
              </a:solidFill>
              <a:uFillTx/>
              <a:latin typeface="Calibri" panose="020F0502020204030204" charset="0"/>
              <a:ea typeface="宋体简体" charset="0"/>
              <a:cs typeface="Noto Sans SC" panose="020B0200000000000000" charset="-122"/>
              <a:sym typeface="Noto Sans SC" panose="020B0200000000000000" charset="-122"/>
            </a:endParaRPr>
          </a:p>
          <a:p>
            <a:pPr marL="285750" indent="-285750" algn="l" eaLnBrk="1" fontAlgn="auto" latinLnBrk="0" hangingPunct="1">
              <a:lnSpc>
                <a:spcPct val="110000"/>
              </a:lnSpc>
              <a:spcBef>
                <a:spcPts val="500"/>
              </a:spcBef>
              <a:buFont typeface="Wingdings" panose="05000000000000000000" charset="0"/>
              <a:buChar char="u"/>
            </a:pPr>
            <a:r>
              <a:rPr lang="en-US" sz="1600" b="1" i="0">
                <a:solidFill>
                  <a:srgbClr val="1F2329"/>
                </a:solidFill>
                <a:latin typeface="Calibri" panose="020F05020202040302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成人失禁用品：</a:t>
            </a:r>
            <a:r>
              <a:rPr lang="zh-CN" altLang="en-US" sz="1600">
                <a:solidFill>
                  <a:schemeClr val="tx1"/>
                </a:solidFill>
                <a:uFillTx/>
                <a:latin typeface="Calibri" panose="020F05020202040302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老龄化加速叠加国民卫生意识增强，是三大板块中</a:t>
            </a:r>
            <a:r>
              <a:rPr lang="en-US" sz="1600" b="1">
                <a:solidFill>
                  <a:srgbClr val="C00000"/>
                </a:solidFill>
                <a:latin typeface="Calibri" panose="020F05020202040302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增长最快、潜力最大的赛道</a:t>
            </a:r>
            <a:r>
              <a:rPr lang="zh-CN" altLang="en-US" sz="1600">
                <a:solidFill>
                  <a:schemeClr val="tx1"/>
                </a:solidFill>
                <a:uFillTx/>
                <a:latin typeface="Calibri" panose="020F05020202040302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，失禁人群对</a:t>
            </a:r>
            <a:r>
              <a:rPr lang="zh-CN" sz="1600">
                <a:solidFill>
                  <a:schemeClr val="tx1"/>
                </a:solidFill>
                <a:uFillTx/>
                <a:latin typeface="Calibri" panose="020F05020202040302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长效抑菌、祛味</a:t>
            </a:r>
            <a:r>
              <a:rPr lang="zh-CN" altLang="en-US" sz="1600">
                <a:solidFill>
                  <a:schemeClr val="tx1"/>
                </a:solidFill>
                <a:uFillTx/>
                <a:latin typeface="Calibri" panose="020F05020202040302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的需求尚未被充分满足，存在明确的功能升级缺口。</a:t>
            </a:r>
            <a:endParaRPr lang="en-US" sz="1600" b="0" i="0">
              <a:solidFill>
                <a:srgbClr val="4B5563"/>
              </a:solidFill>
              <a:latin typeface="Calibri" panose="020F0502020204030204" charset="0"/>
              <a:ea typeface="宋体简体" charset="0"/>
              <a:cs typeface="Songti SC"/>
              <a:sym typeface="Songti SC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299835" y="1797685"/>
            <a:ext cx="5508625" cy="3811270"/>
            <a:chOff x="10112" y="2486"/>
            <a:chExt cx="8675" cy="6002"/>
          </a:xfrm>
        </p:grpSpPr>
        <p:graphicFrame>
          <p:nvGraphicFramePr>
            <p:cNvPr id="4" name="图表 3"/>
            <p:cNvGraphicFramePr/>
            <p:nvPr/>
          </p:nvGraphicFramePr>
          <p:xfrm>
            <a:off x="10112" y="2486"/>
            <a:ext cx="8675" cy="556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  <p:sp>
          <p:nvSpPr>
            <p:cNvPr id="24" name="文本框 23"/>
            <p:cNvSpPr txBox="1"/>
            <p:nvPr/>
          </p:nvSpPr>
          <p:spPr>
            <a:xfrm>
              <a:off x="10112" y="8054"/>
              <a:ext cx="4780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 b="1"/>
                <a:t>数据来源：行业协会及第三方权威报告</a:t>
              </a:r>
              <a:endParaRPr lang="zh-CN" altLang="en-US" sz="1200" b="1"/>
            </a:p>
          </p:txBody>
        </p:sp>
      </p:grpSp>
      <p:sp>
        <p:nvSpPr>
          <p:cNvPr id="5" name="AutoShape 2"/>
          <p:cNvSpPr/>
          <p:nvPr/>
        </p:nvSpPr>
        <p:spPr>
          <a:xfrm>
            <a:off x="596900" y="373380"/>
            <a:ext cx="9793605" cy="6045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0" bIns="0" rtlCol="0" anchor="t" anchorCtr="0"/>
          <a:lstStyle/>
          <a:p>
            <a:pPr indent="0" algn="l">
              <a:lnSpc>
                <a:spcPct val="83000"/>
              </a:lnSpc>
              <a:defRPr/>
            </a:pPr>
            <a:r>
              <a:rPr lang="en-US" altLang="zh-CN" sz="30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ngti SC"/>
              </a:rPr>
              <a:t>   </a:t>
            </a:r>
            <a:r>
              <a:rPr lang="zh-CN" altLang="en-US" sz="28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ngti SC"/>
              </a:rPr>
              <a:t>一次性卫生用品市场：稳健增长，潜力巨大</a:t>
            </a:r>
            <a:endParaRPr lang="zh-CN" altLang="en-US" sz="30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ongti SC"/>
            </a:endParaRPr>
          </a:p>
        </p:txBody>
      </p:sp>
      <p:sp>
        <p:nvSpPr>
          <p:cNvPr id="7" name="菱形 6"/>
          <p:cNvSpPr/>
          <p:nvPr/>
        </p:nvSpPr>
        <p:spPr>
          <a:xfrm>
            <a:off x="596900" y="495300"/>
            <a:ext cx="360000" cy="360000"/>
          </a:xfrm>
          <a:prstGeom prst="diamond">
            <a:avLst/>
          </a:prstGeom>
          <a:solidFill>
            <a:srgbClr val="6CB83A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AutoShape 2"/>
          <p:cNvSpPr/>
          <p:nvPr/>
        </p:nvSpPr>
        <p:spPr>
          <a:xfrm>
            <a:off x="596900" y="373380"/>
            <a:ext cx="9793605" cy="6045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0" bIns="0" rtlCol="0" anchor="t" anchorCtr="0"/>
          <a:lstStyle/>
          <a:p>
            <a:pPr indent="0" algn="l">
              <a:lnSpc>
                <a:spcPct val="83000"/>
              </a:lnSpc>
              <a:defRPr/>
            </a:pPr>
            <a:r>
              <a:rPr lang="en-US" altLang="zh-CN" sz="30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ngti SC"/>
              </a:rPr>
              <a:t>   </a:t>
            </a:r>
            <a:r>
              <a:rPr lang="zh-CN" altLang="en-US" sz="28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ngti SC"/>
              </a:rPr>
              <a:t>行业核心痛点：四大挑战</a:t>
            </a:r>
            <a:endParaRPr lang="zh-CN" altLang="en-US" sz="30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ongti SC"/>
            </a:endParaRPr>
          </a:p>
        </p:txBody>
      </p:sp>
      <p:sp>
        <p:nvSpPr>
          <p:cNvPr id="11" name="菱形 10"/>
          <p:cNvSpPr/>
          <p:nvPr/>
        </p:nvSpPr>
        <p:spPr>
          <a:xfrm>
            <a:off x="596900" y="495300"/>
            <a:ext cx="360000" cy="360000"/>
          </a:xfrm>
          <a:prstGeom prst="diamond">
            <a:avLst/>
          </a:prstGeom>
          <a:solidFill>
            <a:srgbClr val="6CB83A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AutoShape 7"/>
          <p:cNvSpPr/>
          <p:nvPr>
            <p:custDataLst>
              <p:tags r:id="rId1"/>
            </p:custDataLst>
          </p:nvPr>
        </p:nvSpPr>
        <p:spPr>
          <a:xfrm>
            <a:off x="464185" y="1485400"/>
            <a:ext cx="5400000" cy="2160000"/>
          </a:xfrm>
          <a:prstGeom prst="roundRect">
            <a:avLst>
              <a:gd name="adj" fmla="val 4324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2"/>
            </p:custDataLst>
          </p:nvPr>
        </p:nvSpPr>
        <p:spPr>
          <a:xfrm>
            <a:off x="687705" y="1484630"/>
            <a:ext cx="4953000" cy="21602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just">
              <a:lnSpc>
                <a:spcPct val="108000"/>
              </a:lnSpc>
              <a:spcAft>
                <a:spcPts val="1000"/>
              </a:spcAft>
              <a:buSzTx/>
              <a:defRPr/>
            </a:pPr>
            <a:r>
              <a:rPr lang="en-US" sz="1800" b="1" i="0">
                <a:solidFill>
                  <a:srgbClr val="2563EB"/>
                </a:solidFill>
                <a:uFillTx/>
                <a:latin typeface="Times New Roman" panose="020206030504050203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01 / 安全焦虑</a:t>
            </a:r>
            <a:endParaRPr lang="en-US" sz="1800" b="1">
              <a:solidFill>
                <a:srgbClr val="2563EB"/>
              </a:solidFill>
              <a:uFillTx/>
              <a:latin typeface="Times New Roman" panose="02020603050405020304" charset="0"/>
              <a:ea typeface="宋体简体" charset="0"/>
              <a:cs typeface="Noto Sans SC" panose="020B0200000000000000" charset="-122"/>
            </a:endParaRPr>
          </a:p>
          <a:p>
            <a:pPr indent="0" algn="just">
              <a:lnSpc>
                <a:spcPct val="117000"/>
              </a:lnSpc>
            </a:pPr>
            <a:r>
              <a:rPr lang="en-US" sz="1600" i="0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传统抑菌方案的“双刃剑”。化学防腐剂存在潜在风险，引发消费者信任危机；氯系消毒剂刺激性强，影响体验且存在环境问题。安全与功效的平衡成为行业首要难题。</a:t>
            </a:r>
            <a:endParaRPr lang="en-US" sz="1600" i="0">
              <a:solidFill>
                <a:schemeClr val="tx1"/>
              </a:solidFill>
              <a:latin typeface="Times New Roman" panose="02020603050405020304" charset="0"/>
              <a:ea typeface="宋体简体" charset="0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6327775" y="1485400"/>
            <a:ext cx="5400000" cy="2160000"/>
          </a:xfrm>
          <a:prstGeom prst="roundRect">
            <a:avLst>
              <a:gd name="adj" fmla="val 4324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" name="AutoShape 10"/>
          <p:cNvSpPr/>
          <p:nvPr>
            <p:custDataLst>
              <p:tags r:id="rId4"/>
            </p:custDataLst>
          </p:nvPr>
        </p:nvSpPr>
        <p:spPr>
          <a:xfrm>
            <a:off x="6551295" y="1483995"/>
            <a:ext cx="4953000" cy="21602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just">
              <a:lnSpc>
                <a:spcPct val="108000"/>
              </a:lnSpc>
              <a:spcAft>
                <a:spcPts val="1000"/>
              </a:spcAft>
              <a:buSzTx/>
              <a:defRPr/>
            </a:pPr>
            <a:r>
              <a:rPr lang="en-US" sz="1800" b="1" i="0">
                <a:solidFill>
                  <a:srgbClr val="10B981"/>
                </a:solidFill>
                <a:uFillTx/>
                <a:latin typeface="Times New Roman" panose="020206030504050203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02 / 效能瓶颈</a:t>
            </a:r>
            <a:endParaRPr lang="en-US" sz="1800" b="1">
              <a:solidFill>
                <a:srgbClr val="10B981"/>
              </a:solidFill>
              <a:uFillTx/>
              <a:latin typeface="Times New Roman" panose="02020603050405020304" charset="0"/>
              <a:ea typeface="宋体简体" charset="0"/>
              <a:cs typeface="Noto Sans SC" panose="020B0200000000000000" charset="-122"/>
            </a:endParaRPr>
          </a:p>
          <a:p>
            <a:pPr indent="0" algn="just">
              <a:lnSpc>
                <a:spcPct val="117000"/>
              </a:lnSpc>
            </a:pPr>
            <a:r>
              <a:rPr lang="en-US" sz="1600" i="0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天然与高效难以兼得。传统天然防腐剂普遍存在抗菌谱窄、效果不稳定、添加量大、成本高昂等问题，难以满足大规模生产和市场需求，限制了产品的升级与普及。</a:t>
            </a:r>
            <a:endParaRPr lang="en-US" sz="1600" i="0">
              <a:solidFill>
                <a:schemeClr val="tx1"/>
              </a:solidFill>
              <a:latin typeface="Times New Roman" panose="02020603050405020304" charset="0"/>
              <a:ea typeface="宋体简体" charset="0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11"/>
          <p:cNvSpPr/>
          <p:nvPr>
            <p:custDataLst>
              <p:tags r:id="rId5"/>
            </p:custDataLst>
          </p:nvPr>
        </p:nvSpPr>
        <p:spPr>
          <a:xfrm>
            <a:off x="464185" y="3957455"/>
            <a:ext cx="5400000" cy="2160000"/>
          </a:xfrm>
          <a:prstGeom prst="roundRect">
            <a:avLst>
              <a:gd name="adj" fmla="val 4324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6"/>
            </p:custDataLst>
          </p:nvPr>
        </p:nvSpPr>
        <p:spPr>
          <a:xfrm>
            <a:off x="687705" y="3956685"/>
            <a:ext cx="4953000" cy="215709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just">
              <a:lnSpc>
                <a:spcPct val="108000"/>
              </a:lnSpc>
              <a:spcAft>
                <a:spcPts val="1000"/>
              </a:spcAft>
              <a:buSzTx/>
              <a:defRPr/>
            </a:pPr>
            <a:r>
              <a:rPr lang="en-US" sz="1800" b="1" i="0">
                <a:solidFill>
                  <a:srgbClr val="D97706"/>
                </a:solidFill>
                <a:uFillTx/>
                <a:latin typeface="Times New Roman" panose="020206030504050203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03 / 体验挑战</a:t>
            </a:r>
            <a:endParaRPr lang="en-US" sz="1800" b="1">
              <a:solidFill>
                <a:srgbClr val="D97706"/>
              </a:solidFill>
              <a:uFillTx/>
              <a:latin typeface="Times New Roman" panose="02020603050405020304" charset="0"/>
              <a:ea typeface="宋体简体" charset="0"/>
              <a:cs typeface="Noto Sans SC" panose="020B0200000000000000" charset="-122"/>
            </a:endParaRPr>
          </a:p>
          <a:p>
            <a:pPr indent="0" algn="just">
              <a:lnSpc>
                <a:spcPct val="117000"/>
              </a:lnSpc>
            </a:pPr>
            <a:r>
              <a:rPr lang="en-US" sz="1600" i="0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抑菌与温和的平衡难题。许多强效抑菌成分在发挥作用的同时，会带来皮肤干燥、刺激、粘腻感等不愉快的使用体验，尤其无法满足敏感肌人群的特殊需求。</a:t>
            </a:r>
            <a:endParaRPr lang="en-US" sz="1600" i="0">
              <a:solidFill>
                <a:schemeClr val="tx1"/>
              </a:solidFill>
              <a:latin typeface="Times New Roman" panose="02020603050405020304" charset="0"/>
              <a:ea typeface="宋体简体" charset="0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7"/>
            </p:custDataLst>
          </p:nvPr>
        </p:nvSpPr>
        <p:spPr>
          <a:xfrm>
            <a:off x="6327775" y="3957455"/>
            <a:ext cx="5400000" cy="2160000"/>
          </a:xfrm>
          <a:prstGeom prst="roundRect">
            <a:avLst>
              <a:gd name="adj" fmla="val 4324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8"/>
            </p:custDataLst>
          </p:nvPr>
        </p:nvSpPr>
        <p:spPr>
          <a:xfrm>
            <a:off x="6551295" y="3956685"/>
            <a:ext cx="4953000" cy="215836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just">
              <a:lnSpc>
                <a:spcPct val="108000"/>
              </a:lnSpc>
              <a:spcAft>
                <a:spcPts val="1000"/>
              </a:spcAft>
              <a:buSzTx/>
              <a:defRPr/>
            </a:pPr>
            <a:r>
              <a:rPr lang="en-US" sz="1800" b="1" i="0">
                <a:solidFill>
                  <a:srgbClr val="DC2626"/>
                </a:solidFill>
                <a:uFillTx/>
                <a:latin typeface="Times New Roman" panose="020206030504050203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04 / 合规压力</a:t>
            </a:r>
            <a:endParaRPr lang="en-US" sz="1800" b="1">
              <a:solidFill>
                <a:srgbClr val="DC2626"/>
              </a:solidFill>
              <a:uFillTx/>
              <a:latin typeface="Times New Roman" panose="02020603050405020304" charset="0"/>
              <a:ea typeface="宋体简体" charset="0"/>
              <a:cs typeface="Noto Sans SC" panose="020B0200000000000000" charset="-122"/>
            </a:endParaRPr>
          </a:p>
          <a:p>
            <a:pPr indent="0" algn="just">
              <a:lnSpc>
                <a:spcPct val="117000"/>
              </a:lnSpc>
            </a:pPr>
            <a:r>
              <a:rPr lang="en-US" sz="1600" i="0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全球法规日益收紧。各国对防腐剂的法规标准动态更新，准入壁垒高，企业面临持续的合规压力。引入新型抑菌剂需经过漫长严格的审批，挑战巨大。</a:t>
            </a:r>
            <a:endParaRPr lang="en-US" sz="1600" i="0">
              <a:solidFill>
                <a:schemeClr val="tx1"/>
              </a:solidFill>
              <a:latin typeface="Times New Roman" panose="02020603050405020304" charset="0"/>
              <a:ea typeface="宋体简体" charset="0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" name="AutoShape 3"/>
          <p:cNvSpPr/>
          <p:nvPr>
            <p:custDataLst>
              <p:tags r:id="rId1"/>
            </p:custDataLst>
          </p:nvPr>
        </p:nvSpPr>
        <p:spPr>
          <a:xfrm>
            <a:off x="384175" y="1671320"/>
            <a:ext cx="3456000" cy="1368000"/>
          </a:xfrm>
          <a:prstGeom prst="roundRect">
            <a:avLst>
              <a:gd name="adj" fmla="val 4324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3" name="AutoShape 3"/>
          <p:cNvSpPr/>
          <p:nvPr>
            <p:custDataLst>
              <p:tags r:id="rId2"/>
            </p:custDataLst>
          </p:nvPr>
        </p:nvSpPr>
        <p:spPr>
          <a:xfrm>
            <a:off x="381635" y="3741420"/>
            <a:ext cx="3675380" cy="1367790"/>
          </a:xfrm>
          <a:prstGeom prst="roundRect">
            <a:avLst>
              <a:gd name="adj" fmla="val 4324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4" name="AutoShape 3"/>
          <p:cNvSpPr/>
          <p:nvPr>
            <p:custDataLst>
              <p:tags r:id="rId3"/>
            </p:custDataLst>
          </p:nvPr>
        </p:nvSpPr>
        <p:spPr>
          <a:xfrm>
            <a:off x="7871460" y="2713355"/>
            <a:ext cx="4004945" cy="1367790"/>
          </a:xfrm>
          <a:prstGeom prst="roundRect">
            <a:avLst>
              <a:gd name="adj" fmla="val 4324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5" name="AutoShape 3"/>
          <p:cNvSpPr/>
          <p:nvPr>
            <p:custDataLst>
              <p:tags r:id="rId4"/>
            </p:custDataLst>
          </p:nvPr>
        </p:nvSpPr>
        <p:spPr>
          <a:xfrm>
            <a:off x="8284845" y="4584700"/>
            <a:ext cx="3557270" cy="1367790"/>
          </a:xfrm>
          <a:prstGeom prst="roundRect">
            <a:avLst>
              <a:gd name="adj" fmla="val 4324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grpSp>
        <p:nvGrpSpPr>
          <p:cNvPr id="50" name="组合 49"/>
          <p:cNvGrpSpPr/>
          <p:nvPr>
            <p:custDataLst>
              <p:tags r:id="rId5"/>
            </p:custDataLst>
          </p:nvPr>
        </p:nvGrpSpPr>
        <p:grpSpPr>
          <a:xfrm>
            <a:off x="545148" y="1617483"/>
            <a:ext cx="11184255" cy="4420732"/>
            <a:chOff x="940" y="2632"/>
            <a:chExt cx="17613" cy="6962"/>
          </a:xfrm>
        </p:grpSpPr>
        <p:grpSp>
          <p:nvGrpSpPr>
            <p:cNvPr id="43" name="组合 42"/>
            <p:cNvGrpSpPr/>
            <p:nvPr>
              <p:custDataLst>
                <p:tags r:id="rId6"/>
              </p:custDataLst>
            </p:nvPr>
          </p:nvGrpSpPr>
          <p:grpSpPr>
            <a:xfrm>
              <a:off x="7814" y="2632"/>
              <a:ext cx="3574" cy="6962"/>
              <a:chOff x="7738" y="2532"/>
              <a:chExt cx="3992" cy="7183"/>
            </a:xfrm>
          </p:grpSpPr>
          <p:sp>
            <p:nvSpPr>
              <p:cNvPr id="67" name="Freeform 5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8489" y="7779"/>
                <a:ext cx="2016" cy="1936"/>
              </a:xfrm>
              <a:custGeom>
                <a:avLst/>
                <a:gdLst>
                  <a:gd name="T0" fmla="*/ 625 w 810"/>
                  <a:gd name="T1" fmla="*/ 0 h 778"/>
                  <a:gd name="T2" fmla="*/ 810 w 810"/>
                  <a:gd name="T3" fmla="*/ 626 h 778"/>
                  <a:gd name="T4" fmla="*/ 186 w 810"/>
                  <a:gd name="T5" fmla="*/ 778 h 778"/>
                  <a:gd name="T6" fmla="*/ 0 w 810"/>
                  <a:gd name="T7" fmla="*/ 150 h 778"/>
                  <a:gd name="T8" fmla="*/ 625 w 810"/>
                  <a:gd name="T9" fmla="*/ 0 h 7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0" h="778">
                    <a:moveTo>
                      <a:pt x="625" y="0"/>
                    </a:moveTo>
                    <a:lnTo>
                      <a:pt x="810" y="626"/>
                    </a:lnTo>
                    <a:lnTo>
                      <a:pt x="186" y="778"/>
                    </a:lnTo>
                    <a:lnTo>
                      <a:pt x="0" y="150"/>
                    </a:lnTo>
                    <a:lnTo>
                      <a:pt x="62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>
                      <a:lumMod val="60000"/>
                      <a:lumOff val="40000"/>
                    </a:schemeClr>
                  </a:gs>
                  <a:gs pos="100000">
                    <a:schemeClr val="accent6">
                      <a:lumMod val="20000"/>
                      <a:lumOff val="80000"/>
                    </a:schemeClr>
                  </a:gs>
                </a:gsLst>
                <a:lin ang="20220000" scaled="0"/>
              </a:gradFill>
              <a:ln>
                <a:noFill/>
              </a:ln>
            </p:spPr>
            <p:txBody>
              <a:bodyPr vert="horz" wrap="square" lIns="91439" tIns="45719" rIns="91439" bIns="45719" numCol="1" anchor="t" anchorCtr="0" compatLnSpc="1">
                <a:noAutofit/>
              </a:bodyPr>
              <a:p>
                <a:pPr lvl="0" algn="l">
                  <a:buClrTx/>
                  <a:buSzTx/>
                  <a:buFontTx/>
                </a:pPr>
                <a:endParaRPr lang="en-US" sz="1350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68" name="Freeform 6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10040" y="7354"/>
                <a:ext cx="809" cy="1983"/>
              </a:xfrm>
              <a:custGeom>
                <a:avLst/>
                <a:gdLst>
                  <a:gd name="T0" fmla="*/ 0 w 325"/>
                  <a:gd name="T1" fmla="*/ 171 h 797"/>
                  <a:gd name="T2" fmla="*/ 140 w 325"/>
                  <a:gd name="T3" fmla="*/ 0 h 797"/>
                  <a:gd name="T4" fmla="*/ 325 w 325"/>
                  <a:gd name="T5" fmla="*/ 626 h 797"/>
                  <a:gd name="T6" fmla="*/ 185 w 325"/>
                  <a:gd name="T7" fmla="*/ 797 h 797"/>
                  <a:gd name="T8" fmla="*/ 0 w 325"/>
                  <a:gd name="T9" fmla="*/ 171 h 7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5" h="797">
                    <a:moveTo>
                      <a:pt x="0" y="171"/>
                    </a:moveTo>
                    <a:lnTo>
                      <a:pt x="140" y="0"/>
                    </a:lnTo>
                    <a:lnTo>
                      <a:pt x="325" y="626"/>
                    </a:lnTo>
                    <a:lnTo>
                      <a:pt x="185" y="797"/>
                    </a:lnTo>
                    <a:lnTo>
                      <a:pt x="0" y="17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6">
                      <a:lumMod val="40000"/>
                      <a:lumOff val="60000"/>
                    </a:schemeClr>
                  </a:gs>
                </a:gsLst>
                <a:lin ang="312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0">
                <a:noAutofit/>
              </a:bodyPr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</a:pPr>
                <a:endParaRPr lang="id-ID" sz="135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sym typeface="+mn-ea"/>
                </a:endParaRPr>
              </a:p>
            </p:txBody>
          </p:sp>
          <p:sp>
            <p:nvSpPr>
              <p:cNvPr id="69" name="Freeform 7"/>
              <p:cNvSpPr/>
              <p:nvPr>
                <p:custDataLst>
                  <p:tags r:id="rId9"/>
                </p:custDataLst>
              </p:nvPr>
            </p:nvSpPr>
            <p:spPr bwMode="auto">
              <a:xfrm>
                <a:off x="8485" y="7364"/>
                <a:ext cx="1904" cy="798"/>
              </a:xfrm>
              <a:custGeom>
                <a:avLst/>
                <a:gdLst>
                  <a:gd name="T0" fmla="*/ 0 w 765"/>
                  <a:gd name="T1" fmla="*/ 321 h 321"/>
                  <a:gd name="T2" fmla="*/ 139 w 765"/>
                  <a:gd name="T3" fmla="*/ 151 h 321"/>
                  <a:gd name="T4" fmla="*/ 765 w 765"/>
                  <a:gd name="T5" fmla="*/ 0 h 321"/>
                  <a:gd name="T6" fmla="*/ 625 w 765"/>
                  <a:gd name="T7" fmla="*/ 171 h 321"/>
                  <a:gd name="T8" fmla="*/ 0 w 765"/>
                  <a:gd name="T9" fmla="*/ 321 h 3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5" h="321">
                    <a:moveTo>
                      <a:pt x="0" y="321"/>
                    </a:moveTo>
                    <a:lnTo>
                      <a:pt x="139" y="151"/>
                    </a:lnTo>
                    <a:lnTo>
                      <a:pt x="765" y="0"/>
                    </a:lnTo>
                    <a:lnTo>
                      <a:pt x="625" y="171"/>
                    </a:lnTo>
                    <a:lnTo>
                      <a:pt x="0" y="321"/>
                    </a:lnTo>
                    <a:close/>
                  </a:path>
                </a:pathLst>
              </a:custGeom>
              <a:gradFill>
                <a:gsLst>
                  <a:gs pos="39000">
                    <a:schemeClr val="accent6"/>
                  </a:gs>
                  <a:gs pos="100000">
                    <a:schemeClr val="accent6">
                      <a:lumMod val="75000"/>
                    </a:schemeClr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39" tIns="45719" rIns="91439" bIns="45719" numCol="1" anchor="t" anchorCtr="0" compatLnSpc="1">
                <a:noAutofit/>
              </a:bodyPr>
              <a:p>
                <a:pPr lvl="0" algn="l">
                  <a:buClrTx/>
                  <a:buSzTx/>
                  <a:buFontTx/>
                </a:pPr>
                <a:endParaRPr lang="en-US" sz="1350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71" name="Freeform 8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7738" y="4532"/>
                <a:ext cx="1802" cy="1916"/>
              </a:xfrm>
              <a:custGeom>
                <a:avLst/>
                <a:gdLst>
                  <a:gd name="T0" fmla="*/ 724 w 724"/>
                  <a:gd name="T1" fmla="*/ 123 h 770"/>
                  <a:gd name="T2" fmla="*/ 631 w 724"/>
                  <a:gd name="T3" fmla="*/ 770 h 770"/>
                  <a:gd name="T4" fmla="*/ 0 w 724"/>
                  <a:gd name="T5" fmla="*/ 647 h 770"/>
                  <a:gd name="T6" fmla="*/ 94 w 724"/>
                  <a:gd name="T7" fmla="*/ 0 h 770"/>
                  <a:gd name="T8" fmla="*/ 724 w 724"/>
                  <a:gd name="T9" fmla="*/ 123 h 7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24" h="770">
                    <a:moveTo>
                      <a:pt x="724" y="123"/>
                    </a:moveTo>
                    <a:lnTo>
                      <a:pt x="631" y="770"/>
                    </a:lnTo>
                    <a:lnTo>
                      <a:pt x="0" y="647"/>
                    </a:lnTo>
                    <a:lnTo>
                      <a:pt x="94" y="0"/>
                    </a:lnTo>
                    <a:lnTo>
                      <a:pt x="724" y="12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>
                      <a:lumMod val="60000"/>
                      <a:lumOff val="40000"/>
                    </a:schemeClr>
                  </a:gs>
                  <a:gs pos="100000">
                    <a:schemeClr val="accent6">
                      <a:lumMod val="20000"/>
                      <a:lumOff val="80000"/>
                    </a:schemeClr>
                  </a:gs>
                </a:gsLst>
                <a:lin ang="180000" scaled="0"/>
              </a:gradFill>
              <a:ln>
                <a:noFill/>
              </a:ln>
            </p:spPr>
            <p:txBody>
              <a:bodyPr vert="horz" wrap="square" lIns="91439" tIns="45719" rIns="91439" bIns="45719" numCol="1" anchor="t" anchorCtr="0" compatLnSpc="1"/>
              <a:p>
                <a:endParaRPr lang="en-US" sz="135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Freeform 9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9304" y="4597"/>
                <a:ext cx="725" cy="1851"/>
              </a:xfrm>
              <a:custGeom>
                <a:avLst/>
                <a:gdLst>
                  <a:gd name="T0" fmla="*/ 93 w 291"/>
                  <a:gd name="T1" fmla="*/ 97 h 744"/>
                  <a:gd name="T2" fmla="*/ 291 w 291"/>
                  <a:gd name="T3" fmla="*/ 0 h 744"/>
                  <a:gd name="T4" fmla="*/ 198 w 291"/>
                  <a:gd name="T5" fmla="*/ 647 h 744"/>
                  <a:gd name="T6" fmla="*/ 0 w 291"/>
                  <a:gd name="T7" fmla="*/ 744 h 744"/>
                  <a:gd name="T8" fmla="*/ 93 w 291"/>
                  <a:gd name="T9" fmla="*/ 97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1" h="744">
                    <a:moveTo>
                      <a:pt x="93" y="97"/>
                    </a:moveTo>
                    <a:lnTo>
                      <a:pt x="291" y="0"/>
                    </a:lnTo>
                    <a:lnTo>
                      <a:pt x="198" y="647"/>
                    </a:lnTo>
                    <a:lnTo>
                      <a:pt x="0" y="744"/>
                    </a:lnTo>
                    <a:lnTo>
                      <a:pt x="93" y="97"/>
                    </a:lnTo>
                    <a:close/>
                  </a:path>
                </a:pathLst>
              </a:custGeom>
              <a:gradFill>
                <a:gsLst>
                  <a:gs pos="100000">
                    <a:schemeClr val="accent6">
                      <a:lumMod val="40000"/>
                      <a:lumOff val="60000"/>
                    </a:schemeClr>
                  </a:gs>
                  <a:gs pos="0">
                    <a:schemeClr val="accent6"/>
                  </a:gs>
                </a:gsLst>
                <a:lin ang="1326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0">
                <a:noAutofit/>
              </a:bodyPr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</a:pPr>
                <a:endParaRPr lang="id-ID" sz="135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sym typeface="+mn-ea"/>
                </a:endParaRPr>
              </a:p>
            </p:txBody>
          </p:sp>
          <p:sp>
            <p:nvSpPr>
              <p:cNvPr id="73" name="Freeform 10"/>
              <p:cNvSpPr/>
              <p:nvPr>
                <p:custDataLst>
                  <p:tags r:id="rId12"/>
                </p:custDataLst>
              </p:nvPr>
            </p:nvSpPr>
            <p:spPr bwMode="auto">
              <a:xfrm>
                <a:off x="7968" y="4295"/>
                <a:ext cx="2060" cy="547"/>
              </a:xfrm>
              <a:custGeom>
                <a:avLst/>
                <a:gdLst>
                  <a:gd name="T0" fmla="*/ 0 w 828"/>
                  <a:gd name="T1" fmla="*/ 97 h 220"/>
                  <a:gd name="T2" fmla="*/ 198 w 828"/>
                  <a:gd name="T3" fmla="*/ 0 h 220"/>
                  <a:gd name="T4" fmla="*/ 828 w 828"/>
                  <a:gd name="T5" fmla="*/ 123 h 220"/>
                  <a:gd name="T6" fmla="*/ 630 w 828"/>
                  <a:gd name="T7" fmla="*/ 220 h 220"/>
                  <a:gd name="T8" fmla="*/ 0 w 828"/>
                  <a:gd name="T9" fmla="*/ 97 h 2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28" h="220">
                    <a:moveTo>
                      <a:pt x="0" y="97"/>
                    </a:moveTo>
                    <a:lnTo>
                      <a:pt x="198" y="0"/>
                    </a:lnTo>
                    <a:lnTo>
                      <a:pt x="828" y="123"/>
                    </a:lnTo>
                    <a:lnTo>
                      <a:pt x="630" y="220"/>
                    </a:lnTo>
                    <a:lnTo>
                      <a:pt x="0" y="97"/>
                    </a:lnTo>
                    <a:close/>
                  </a:path>
                </a:pathLst>
              </a:custGeom>
              <a:gradFill>
                <a:gsLst>
                  <a:gs pos="39000">
                    <a:schemeClr val="accent6"/>
                  </a:gs>
                  <a:gs pos="100000">
                    <a:schemeClr val="accent6">
                      <a:lumMod val="75000"/>
                    </a:schemeClr>
                  </a:gs>
                </a:gsLst>
                <a:lin ang="10800000" scaled="1"/>
              </a:gradFill>
              <a:ln>
                <a:noFill/>
              </a:ln>
            </p:spPr>
            <p:txBody>
              <a:bodyPr vert="horz" wrap="square" lIns="91439" tIns="45719" rIns="91439" bIns="45719" numCol="1" anchor="t" anchorCtr="0" compatLnSpc="1">
                <a:noAutofit/>
              </a:bodyPr>
              <a:p>
                <a:pPr lvl="0" algn="l">
                  <a:buClrTx/>
                  <a:buSzTx/>
                  <a:buFontTx/>
                </a:pPr>
                <a:endParaRPr lang="en-US" sz="1350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75" name="Freeform 11"/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9406" y="2532"/>
                <a:ext cx="1853" cy="1823"/>
              </a:xfrm>
              <a:custGeom>
                <a:avLst/>
                <a:gdLst>
                  <a:gd name="T0" fmla="*/ 601 w 745"/>
                  <a:gd name="T1" fmla="*/ 0 h 733"/>
                  <a:gd name="T2" fmla="*/ 745 w 745"/>
                  <a:gd name="T3" fmla="*/ 641 h 733"/>
                  <a:gd name="T4" fmla="*/ 142 w 745"/>
                  <a:gd name="T5" fmla="*/ 733 h 733"/>
                  <a:gd name="T6" fmla="*/ 0 w 745"/>
                  <a:gd name="T7" fmla="*/ 91 h 733"/>
                  <a:gd name="T8" fmla="*/ 601 w 745"/>
                  <a:gd name="T9" fmla="*/ 0 h 7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45" h="733">
                    <a:moveTo>
                      <a:pt x="601" y="0"/>
                    </a:moveTo>
                    <a:lnTo>
                      <a:pt x="745" y="641"/>
                    </a:lnTo>
                    <a:lnTo>
                      <a:pt x="142" y="733"/>
                    </a:lnTo>
                    <a:lnTo>
                      <a:pt x="0" y="91"/>
                    </a:lnTo>
                    <a:lnTo>
                      <a:pt x="60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5">
                      <a:lumMod val="20000"/>
                      <a:lumOff val="80000"/>
                    </a:schemeClr>
                  </a:gs>
                  <a:gs pos="100000">
                    <a:schemeClr val="accent5">
                      <a:lumMod val="40000"/>
                      <a:lumOff val="60000"/>
                    </a:schemeClr>
                  </a:gs>
                </a:gsLst>
                <a:lin ang="27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0">
                <a:noAutofit/>
              </a:bodyPr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</a:pPr>
                <a:endParaRPr lang="id-ID" sz="135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sym typeface="+mn-ea"/>
                </a:endParaRPr>
              </a:p>
            </p:txBody>
          </p:sp>
          <p:sp>
            <p:nvSpPr>
              <p:cNvPr id="76" name="Freeform 12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9122" y="4126"/>
                <a:ext cx="2137" cy="617"/>
              </a:xfrm>
              <a:custGeom>
                <a:avLst/>
                <a:gdLst>
                  <a:gd name="T0" fmla="*/ 859 w 859"/>
                  <a:gd name="T1" fmla="*/ 0 h 248"/>
                  <a:gd name="T2" fmla="*/ 603 w 859"/>
                  <a:gd name="T3" fmla="*/ 156 h 248"/>
                  <a:gd name="T4" fmla="*/ 0 w 859"/>
                  <a:gd name="T5" fmla="*/ 248 h 248"/>
                  <a:gd name="T6" fmla="*/ 256 w 859"/>
                  <a:gd name="T7" fmla="*/ 92 h 248"/>
                  <a:gd name="T8" fmla="*/ 859 w 859"/>
                  <a:gd name="T9" fmla="*/ 0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59" h="248">
                    <a:moveTo>
                      <a:pt x="859" y="0"/>
                    </a:moveTo>
                    <a:lnTo>
                      <a:pt x="603" y="156"/>
                    </a:lnTo>
                    <a:lnTo>
                      <a:pt x="0" y="248"/>
                    </a:lnTo>
                    <a:lnTo>
                      <a:pt x="256" y="92"/>
                    </a:lnTo>
                    <a:lnTo>
                      <a:pt x="85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5">
                      <a:lumMod val="75000"/>
                    </a:schemeClr>
                  </a:gs>
                  <a:gs pos="100000">
                    <a:srgbClr val="5898D3"/>
                  </a:gs>
                </a:gsLst>
                <a:lin ang="27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0">
                <a:noAutofit/>
              </a:bodyPr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</a:pPr>
                <a:endParaRPr lang="id-ID" sz="135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sym typeface="+mn-ea"/>
                </a:endParaRPr>
              </a:p>
            </p:txBody>
          </p:sp>
          <p:sp>
            <p:nvSpPr>
              <p:cNvPr id="77" name="Freeform 13"/>
              <p:cNvSpPr/>
              <p:nvPr>
                <p:custDataLst>
                  <p:tags r:id="rId15"/>
                </p:custDataLst>
              </p:nvPr>
            </p:nvSpPr>
            <p:spPr bwMode="auto">
              <a:xfrm>
                <a:off x="8769" y="2758"/>
                <a:ext cx="990" cy="1986"/>
              </a:xfrm>
              <a:custGeom>
                <a:avLst/>
                <a:gdLst>
                  <a:gd name="T0" fmla="*/ 398 w 398"/>
                  <a:gd name="T1" fmla="*/ 642 h 798"/>
                  <a:gd name="T2" fmla="*/ 142 w 398"/>
                  <a:gd name="T3" fmla="*/ 798 h 798"/>
                  <a:gd name="T4" fmla="*/ 0 w 398"/>
                  <a:gd name="T5" fmla="*/ 157 h 798"/>
                  <a:gd name="T6" fmla="*/ 256 w 398"/>
                  <a:gd name="T7" fmla="*/ 0 h 798"/>
                  <a:gd name="T8" fmla="*/ 398 w 398"/>
                  <a:gd name="T9" fmla="*/ 642 h 7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8" h="798">
                    <a:moveTo>
                      <a:pt x="398" y="642"/>
                    </a:moveTo>
                    <a:lnTo>
                      <a:pt x="142" y="798"/>
                    </a:lnTo>
                    <a:lnTo>
                      <a:pt x="0" y="157"/>
                    </a:lnTo>
                    <a:lnTo>
                      <a:pt x="256" y="0"/>
                    </a:lnTo>
                    <a:lnTo>
                      <a:pt x="398" y="64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5">
                      <a:lumMod val="75000"/>
                    </a:schemeClr>
                  </a:gs>
                  <a:gs pos="100000">
                    <a:schemeClr val="accent5"/>
                  </a:gs>
                </a:gsLst>
                <a:lin ang="18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0">
                <a:noAutofit/>
              </a:bodyPr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</a:pPr>
                <a:endParaRPr lang="id-ID" sz="135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sym typeface="+mn-ea"/>
                </a:endParaRPr>
              </a:p>
            </p:txBody>
          </p:sp>
          <p:sp>
            <p:nvSpPr>
              <p:cNvPr id="79" name="Freeform 14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9717" y="5848"/>
                <a:ext cx="2013" cy="2145"/>
              </a:xfrm>
              <a:custGeom>
                <a:avLst/>
                <a:gdLst>
                  <a:gd name="connsiteX0" fmla="*/ 1397 w 2022"/>
                  <a:gd name="connsiteY0" fmla="*/ 0 h 2155"/>
                  <a:gd name="connsiteX1" fmla="*/ 2022 w 2022"/>
                  <a:gd name="connsiteY1" fmla="*/ 1460 h 2155"/>
                  <a:gd name="connsiteX2" fmla="*/ 600 w 2022"/>
                  <a:gd name="connsiteY2" fmla="*/ 2155 h 2155"/>
                  <a:gd name="connsiteX3" fmla="*/ 0 w 2022"/>
                  <a:gd name="connsiteY3" fmla="*/ 648 h 2155"/>
                  <a:gd name="connsiteX4" fmla="*/ 1397 w 2022"/>
                  <a:gd name="connsiteY4" fmla="*/ 0 h 2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0" t="0" r="r" b="b"/>
                <a:pathLst>
                  <a:path w="2022" h="2155">
                    <a:moveTo>
                      <a:pt x="1397" y="0"/>
                    </a:moveTo>
                    <a:lnTo>
                      <a:pt x="2022" y="1460"/>
                    </a:lnTo>
                    <a:lnTo>
                      <a:pt x="600" y="2155"/>
                    </a:lnTo>
                    <a:lnTo>
                      <a:pt x="0" y="648"/>
                    </a:lnTo>
                    <a:lnTo>
                      <a:pt x="13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5">
                      <a:lumMod val="20000"/>
                      <a:lumOff val="80000"/>
                    </a:schemeClr>
                  </a:gs>
                  <a:gs pos="100000">
                    <a:schemeClr val="accent5">
                      <a:lumMod val="40000"/>
                      <a:lumOff val="60000"/>
                    </a:schemeClr>
                  </a:gs>
                </a:gsLst>
                <a:lin ang="27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0">
                <a:noAutofit/>
              </a:bodyPr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</a:pPr>
                <a:endParaRPr lang="id-ID" sz="135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sym typeface="+mn-ea"/>
                </a:endParaRPr>
              </a:p>
            </p:txBody>
          </p:sp>
          <p:sp>
            <p:nvSpPr>
              <p:cNvPr id="80" name="Freeform 15"/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9008" y="6395"/>
                <a:ext cx="1307" cy="1597"/>
              </a:xfrm>
              <a:custGeom>
                <a:avLst/>
                <a:gdLst>
                  <a:gd name="T0" fmla="*/ 525 w 525"/>
                  <a:gd name="T1" fmla="*/ 642 h 642"/>
                  <a:gd name="T2" fmla="*/ 240 w 525"/>
                  <a:gd name="T3" fmla="*/ 603 h 642"/>
                  <a:gd name="T4" fmla="*/ 0 w 525"/>
                  <a:gd name="T5" fmla="*/ 0 h 642"/>
                  <a:gd name="T6" fmla="*/ 285 w 525"/>
                  <a:gd name="T7" fmla="*/ 39 h 642"/>
                  <a:gd name="T8" fmla="*/ 525 w 525"/>
                  <a:gd name="T9" fmla="*/ 642 h 6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5" h="642">
                    <a:moveTo>
                      <a:pt x="525" y="642"/>
                    </a:moveTo>
                    <a:lnTo>
                      <a:pt x="240" y="603"/>
                    </a:lnTo>
                    <a:lnTo>
                      <a:pt x="0" y="0"/>
                    </a:lnTo>
                    <a:lnTo>
                      <a:pt x="285" y="39"/>
                    </a:lnTo>
                    <a:lnTo>
                      <a:pt x="525" y="64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accent1">
                      <a:alpha val="100000"/>
                    </a:schemeClr>
                  </a:gs>
                </a:gsLst>
                <a:lin ang="168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0">
                <a:noAutofit/>
              </a:bodyPr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</a:pPr>
                <a:endParaRPr lang="id-ID" sz="135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sym typeface="+mn-ea"/>
                </a:endParaRPr>
              </a:p>
            </p:txBody>
          </p:sp>
          <p:sp>
            <p:nvSpPr>
              <p:cNvPr id="81" name="Freeform 16"/>
              <p:cNvSpPr/>
              <p:nvPr>
                <p:custDataLst>
                  <p:tags r:id="rId18"/>
                </p:custDataLst>
              </p:nvPr>
            </p:nvSpPr>
            <p:spPr bwMode="auto">
              <a:xfrm>
                <a:off x="9008" y="5732"/>
                <a:ext cx="2095" cy="764"/>
              </a:xfrm>
              <a:custGeom>
                <a:avLst/>
                <a:gdLst>
                  <a:gd name="connsiteX0" fmla="*/ 713 w 2105"/>
                  <a:gd name="connsiteY0" fmla="*/ 768 h 768"/>
                  <a:gd name="connsiteX1" fmla="*/ 0 w 2105"/>
                  <a:gd name="connsiteY1" fmla="*/ 671 h 768"/>
                  <a:gd name="connsiteX2" fmla="*/ 1431 w 2105"/>
                  <a:gd name="connsiteY2" fmla="*/ 0 h 768"/>
                  <a:gd name="connsiteX3" fmla="*/ 2105 w 2105"/>
                  <a:gd name="connsiteY3" fmla="*/ 119 h 768"/>
                  <a:gd name="connsiteX4" fmla="*/ 713 w 2105"/>
                  <a:gd name="connsiteY4" fmla="*/ 768 h 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0" t="0" r="r" b="b"/>
                <a:pathLst>
                  <a:path w="2105" h="768">
                    <a:moveTo>
                      <a:pt x="713" y="768"/>
                    </a:moveTo>
                    <a:lnTo>
                      <a:pt x="0" y="671"/>
                    </a:lnTo>
                    <a:lnTo>
                      <a:pt x="1431" y="0"/>
                    </a:lnTo>
                    <a:lnTo>
                      <a:pt x="2105" y="119"/>
                    </a:lnTo>
                    <a:lnTo>
                      <a:pt x="713" y="768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5">
                      <a:lumMod val="75000"/>
                    </a:schemeClr>
                  </a:gs>
                  <a:gs pos="100000">
                    <a:srgbClr val="5898D3"/>
                  </a:gs>
                </a:gsLst>
                <a:lin ang="270000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0">
                <a:noAutofit/>
              </a:bodyPr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</a:pPr>
                <a:endParaRPr lang="id-ID" sz="135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sym typeface="+mn-ea"/>
                </a:endParaRPr>
              </a:p>
            </p:txBody>
          </p:sp>
        </p:grpSp>
        <p:cxnSp>
          <p:nvCxnSpPr>
            <p:cNvPr id="89" name="Straight Connector 28"/>
            <p:cNvCxnSpPr/>
            <p:nvPr>
              <p:custDataLst>
                <p:tags r:id="rId19"/>
              </p:custDataLst>
            </p:nvPr>
          </p:nvCxnSpPr>
          <p:spPr>
            <a:xfrm flipH="1">
              <a:off x="6599" y="7050"/>
              <a:ext cx="2494" cy="0"/>
            </a:xfrm>
            <a:prstGeom prst="line">
              <a:avLst/>
            </a:prstGeom>
            <a:ln w="19050">
              <a:solidFill>
                <a:srgbClr val="5898D3"/>
              </a:solidFill>
              <a:prstDash val="sys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29"/>
            <p:cNvCxnSpPr/>
            <p:nvPr>
              <p:custDataLst>
                <p:tags r:id="rId20"/>
              </p:custDataLst>
            </p:nvPr>
          </p:nvCxnSpPr>
          <p:spPr>
            <a:xfrm flipH="1">
              <a:off x="6243" y="3801"/>
              <a:ext cx="2494" cy="0"/>
            </a:xfrm>
            <a:prstGeom prst="line">
              <a:avLst/>
            </a:prstGeom>
            <a:ln w="19050">
              <a:solidFill>
                <a:srgbClr val="5898D3"/>
              </a:solidFill>
              <a:prstDash val="sysDash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30"/>
            <p:cNvCxnSpPr/>
            <p:nvPr>
              <p:custDataLst>
                <p:tags r:id="rId21"/>
              </p:custDataLst>
            </p:nvPr>
          </p:nvCxnSpPr>
          <p:spPr>
            <a:xfrm>
              <a:off x="10616" y="8368"/>
              <a:ext cx="2494" cy="0"/>
            </a:xfrm>
            <a:prstGeom prst="line">
              <a:avLst/>
            </a:prstGeom>
            <a:ln w="19050">
              <a:solidFill>
                <a:srgbClr val="6AA443"/>
              </a:solidFill>
              <a:prstDash val="sys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30"/>
            <p:cNvCxnSpPr/>
            <p:nvPr>
              <p:custDataLst>
                <p:tags r:id="rId22"/>
              </p:custDataLst>
            </p:nvPr>
          </p:nvCxnSpPr>
          <p:spPr>
            <a:xfrm>
              <a:off x="9862" y="5379"/>
              <a:ext cx="2494" cy="0"/>
            </a:xfrm>
            <a:prstGeom prst="line">
              <a:avLst/>
            </a:prstGeom>
            <a:ln w="19050">
              <a:solidFill>
                <a:srgbClr val="6AA443"/>
              </a:solidFill>
              <a:prstDash val="sys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 11"/>
            <p:cNvSpPr/>
            <p:nvPr>
              <p:custDataLst>
                <p:tags r:id="rId23"/>
              </p:custDataLst>
            </p:nvPr>
          </p:nvSpPr>
          <p:spPr>
            <a:xfrm>
              <a:off x="941" y="2717"/>
              <a:ext cx="4999" cy="21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p>
              <a:pPr marL="0" indent="0" algn="just" eaLnBrk="1" fontAlgn="auto" latinLnBrk="0" hangingPunct="1">
                <a:lnSpc>
                  <a:spcPct val="125000"/>
                </a:lnSpc>
              </a:pPr>
              <a:r>
                <a:rPr lang="en-US" sz="1500">
                  <a:solidFill>
                    <a:schemeClr val="tx1"/>
                  </a:solidFill>
                  <a:uFillTx/>
                  <a:latin typeface="Calibri" panose="020F0502020204030204" charset="0"/>
                  <a:ea typeface="宋体简介" charset="0"/>
                  <a:cs typeface="Noto Sans SC" panose="020B0200000000000000" charset="-122"/>
                  <a:sym typeface="Noto Sans SC" panose="020B0200000000000000" charset="-122"/>
                </a:rPr>
                <a:t>从“信任品牌”转向“信任成分”。消费者化身精明“成分党”，追求权威安全认证、关注成分来源与代谢路径，更青睐“无添加”的清洁配方。</a:t>
              </a:r>
              <a:endParaRPr lang="en-US" altLang="en-US" sz="1500" b="0" i="0" dirty="0">
                <a:solidFill>
                  <a:schemeClr val="tx1"/>
                </a:solidFill>
                <a:uFillTx/>
                <a:latin typeface="Calibri" panose="020F0502020204030204" charset="0"/>
                <a:ea typeface="宋体简介" charset="0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14" name="矩形 13"/>
            <p:cNvSpPr/>
            <p:nvPr>
              <p:custDataLst>
                <p:tags r:id="rId24"/>
              </p:custDataLst>
            </p:nvPr>
          </p:nvSpPr>
          <p:spPr>
            <a:xfrm>
              <a:off x="940" y="6263"/>
              <a:ext cx="5409" cy="16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p>
              <a:pPr marL="0" indent="0" algn="just" eaLnBrk="1" fontAlgn="auto" latinLnBrk="0" hangingPunct="1">
                <a:lnSpc>
                  <a:spcPct val="125000"/>
                </a:lnSpc>
              </a:pPr>
              <a:r>
                <a:rPr lang="en-US" sz="1500">
                  <a:solidFill>
                    <a:schemeClr val="tx1"/>
                  </a:solidFill>
                  <a:uFillTx/>
                  <a:latin typeface="Calibri" panose="020F0502020204030204" charset="0"/>
                  <a:ea typeface="宋体简介" charset="0"/>
                  <a:cs typeface="Noto Sans SC" panose="020B0200000000000000" charset="-122"/>
                  <a:sym typeface="Noto Sans SC" panose="020B0200000000000000" charset="-122"/>
                </a:rPr>
                <a:t>敏感肌友好成为刚需。消费者对“零刺激”、“无感”体验要求极致，尤其在母婴市场，对原料的温和性和安全性提出了极高的标准。</a:t>
              </a:r>
              <a:endParaRPr lang="en-US" altLang="en-US" sz="1500" b="0" i="0" dirty="0">
                <a:solidFill>
                  <a:schemeClr val="tx1"/>
                </a:solidFill>
                <a:uFillTx/>
                <a:latin typeface="Calibri" panose="020F0502020204030204" charset="0"/>
                <a:ea typeface="宋体简介" charset="0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4" name="矩形 3"/>
            <p:cNvSpPr/>
            <p:nvPr>
              <p:custDataLst>
                <p:tags r:id="rId25"/>
              </p:custDataLst>
            </p:nvPr>
          </p:nvSpPr>
          <p:spPr>
            <a:xfrm>
              <a:off x="12702" y="4616"/>
              <a:ext cx="5851" cy="16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p>
              <a:pPr marL="0" indent="0" algn="just" eaLnBrk="1" fontAlgn="auto" latinLnBrk="0" hangingPunct="1">
                <a:lnSpc>
                  <a:spcPct val="125000"/>
                </a:lnSpc>
              </a:pPr>
              <a:r>
                <a:rPr lang="en-US" sz="1500">
                  <a:solidFill>
                    <a:schemeClr val="tx1"/>
                  </a:solidFill>
                  <a:uFillTx/>
                  <a:latin typeface="Calibri" panose="020F0502020204030204" charset="0"/>
                  <a:ea typeface="宋体简介" charset="0"/>
                  <a:cs typeface="Noto Sans SC" panose="020B0200000000000000" charset="-122"/>
                  <a:sym typeface="Noto Sans SC" panose="020B0200000000000000" charset="-122"/>
                </a:rPr>
                <a:t>从“基础护理”进阶“主动防御”，“抑菌”成为刚需，消费者期待产品能提供广谱高效的主动防护，实现从“事后处理”到“事前预防”的转变。</a:t>
              </a:r>
              <a:endParaRPr lang="en-US" altLang="en-US" sz="1500" b="0" i="0" dirty="0">
                <a:solidFill>
                  <a:schemeClr val="tx1"/>
                </a:solidFill>
                <a:uFillTx/>
                <a:latin typeface="Calibri" panose="020F0502020204030204" charset="0"/>
                <a:ea typeface="宋体简介" charset="0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6" name="矩形 5"/>
            <p:cNvSpPr/>
            <p:nvPr>
              <p:custDataLst>
                <p:tags r:id="rId26"/>
              </p:custDataLst>
            </p:nvPr>
          </p:nvSpPr>
          <p:spPr>
            <a:xfrm>
              <a:off x="13390" y="7542"/>
              <a:ext cx="5059" cy="16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p>
              <a:pPr marL="0" indent="0" algn="just" eaLnBrk="1" fontAlgn="auto" latinLnBrk="0" hangingPunct="1">
                <a:lnSpc>
                  <a:spcPct val="125000"/>
                </a:lnSpc>
              </a:pPr>
              <a:r>
                <a:rPr lang="en-US" sz="1500">
                  <a:solidFill>
                    <a:schemeClr val="tx1"/>
                  </a:solidFill>
                  <a:uFillTx/>
                  <a:latin typeface="Calibri" panose="020F0502020204030204" charset="0"/>
                  <a:ea typeface="宋体简介" charset="0"/>
                  <a:cs typeface="Noto Sans SC" panose="020B0200000000000000" charset="-122"/>
                  <a:sym typeface="Noto Sans SC" panose="020B0200000000000000" charset="-122"/>
                </a:rPr>
                <a:t>环保成为品牌新价值锚点。消费者日益关注产品全生命周期的环境影响，偏好可降解材料，采用环保原料将显著提升品牌形象与用户忠诚度。</a:t>
              </a:r>
              <a:endParaRPr lang="en-US" altLang="en-US" sz="1500" dirty="0">
                <a:solidFill>
                  <a:schemeClr val="tx1"/>
                </a:solidFill>
                <a:uFillTx/>
                <a:latin typeface="Calibri" panose="020F0502020204030204" charset="0"/>
                <a:ea typeface="宋体简介" charset="0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6193" y="3110"/>
              <a:ext cx="2516" cy="68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ctr">
                <a:lnSpc>
                  <a:spcPct val="125000"/>
                </a:lnSpc>
                <a:defRPr/>
              </a:pPr>
              <a:r>
                <a:rPr lang="en-US" sz="1800" b="1">
                  <a:solidFill>
                    <a:schemeClr val="tx1"/>
                  </a:solidFill>
                  <a:uFillTx/>
                  <a:latin typeface="Times New Roman" panose="02020603050405020304" charset="0"/>
                  <a:ea typeface="宋体简体" charset="0"/>
                  <a:cs typeface="Noto Sans SC" panose="020B0200000000000000" charset="-122"/>
                  <a:sym typeface="Noto Sans SC" panose="020B0200000000000000" charset="-122"/>
                </a:rPr>
                <a:t>成分主义当道</a:t>
              </a:r>
              <a:endParaRPr lang="en-US" altLang="en-US" sz="1800" b="1">
                <a:solidFill>
                  <a:schemeClr val="tx1"/>
                </a:solidFill>
                <a:uFillTx/>
                <a:latin typeface="Times New Roman" panose="020206030504050203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9652" y="4675"/>
              <a:ext cx="2919" cy="68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ctr">
                <a:lnSpc>
                  <a:spcPct val="125000"/>
                </a:lnSpc>
                <a:defRPr/>
              </a:pPr>
              <a:r>
                <a:rPr lang="zh-CN" altLang="en-US" sz="1800" b="1">
                  <a:solidFill>
                    <a:schemeClr val="tx1"/>
                  </a:solidFill>
                  <a:uFillTx/>
                  <a:latin typeface="Times New Roman" panose="02020603050405020304" charset="0"/>
                  <a:ea typeface="宋体简体" charset="0"/>
                  <a:cs typeface="Noto Sans SC" panose="020B0200000000000000" charset="-122"/>
                  <a:sym typeface="Noto Sans SC" panose="020B0200000000000000" charset="-122"/>
                </a:rPr>
                <a:t>健康防护升级</a:t>
              </a:r>
              <a:endParaRPr lang="zh-CN" altLang="en-US" sz="1800" b="1">
                <a:solidFill>
                  <a:schemeClr val="tx1"/>
                </a:solidFill>
                <a:uFillTx/>
                <a:latin typeface="Times New Roman" panose="020206030504050203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6372" y="6347"/>
              <a:ext cx="3035" cy="68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ctr">
                <a:lnSpc>
                  <a:spcPct val="125000"/>
                </a:lnSpc>
                <a:defRPr/>
              </a:pPr>
              <a:r>
                <a:rPr lang="zh-CN" altLang="en-US" sz="1800" b="1">
                  <a:solidFill>
                    <a:schemeClr val="tx1"/>
                  </a:solidFill>
                  <a:uFillTx/>
                  <a:latin typeface="Times New Roman" panose="02020603050405020304" charset="0"/>
                  <a:ea typeface="宋体简体" charset="0"/>
                  <a:cs typeface="Noto Sans SC" panose="020B0200000000000000" charset="-122"/>
                  <a:sym typeface="Noto Sans SC" panose="020B0200000000000000" charset="-122"/>
                </a:rPr>
                <a:t>温和舒适至上</a:t>
              </a:r>
              <a:endParaRPr lang="zh-CN" altLang="en-US" sz="1800" b="1">
                <a:solidFill>
                  <a:schemeClr val="tx1"/>
                </a:solidFill>
                <a:uFillTx/>
                <a:latin typeface="Times New Roman" panose="020206030504050203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0618" y="7676"/>
              <a:ext cx="2274" cy="68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ctr">
                <a:lnSpc>
                  <a:spcPct val="125000"/>
                </a:lnSpc>
                <a:defRPr/>
              </a:pPr>
              <a:r>
                <a:rPr lang="zh-CN" altLang="en-US" sz="1800" b="1">
                  <a:solidFill>
                    <a:schemeClr val="tx1"/>
                  </a:solidFill>
                  <a:uFillTx/>
                  <a:latin typeface="Times New Roman" panose="02020603050405020304" charset="0"/>
                  <a:ea typeface="宋体简体" charset="0"/>
                  <a:cs typeface="Noto Sans SC" panose="020B0200000000000000" charset="-122"/>
                  <a:sym typeface="Noto Sans SC" panose="020B0200000000000000" charset="-122"/>
                </a:rPr>
                <a:t>可持续发展</a:t>
              </a:r>
              <a:endParaRPr lang="zh-CN" altLang="en-US" sz="1800" b="1">
                <a:solidFill>
                  <a:schemeClr val="tx1"/>
                </a:solidFill>
                <a:uFillTx/>
                <a:latin typeface="Times New Roman" panose="020206030504050203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pic>
          <p:nvPicPr>
            <p:cNvPr id="46" name="图片 45" descr="环保箭头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 rot="20700000">
              <a:off x="8991" y="8241"/>
              <a:ext cx="850" cy="850"/>
            </a:xfrm>
            <a:prstGeom prst="rect">
              <a:avLst/>
            </a:prstGeom>
          </p:spPr>
        </p:pic>
        <p:pic>
          <p:nvPicPr>
            <p:cNvPr id="47" name="图片 46" descr="节能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 rot="20040000">
              <a:off x="10136" y="6398"/>
              <a:ext cx="850" cy="850"/>
            </a:xfrm>
            <a:prstGeom prst="rect">
              <a:avLst/>
            </a:prstGeom>
          </p:spPr>
        </p:pic>
        <p:pic>
          <p:nvPicPr>
            <p:cNvPr id="48" name="图片 47" descr="健康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 rot="780000">
              <a:off x="8202" y="5088"/>
              <a:ext cx="850" cy="850"/>
            </a:xfrm>
            <a:prstGeom prst="rect">
              <a:avLst/>
            </a:prstGeom>
          </p:spPr>
        </p:pic>
        <p:pic>
          <p:nvPicPr>
            <p:cNvPr id="49" name="图片 48" descr="能源更新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 rot="21000000">
              <a:off x="9761" y="3093"/>
              <a:ext cx="850" cy="850"/>
            </a:xfrm>
            <a:prstGeom prst="rect">
              <a:avLst/>
            </a:prstGeom>
          </p:spPr>
        </p:pic>
      </p:grpSp>
      <p:sp>
        <p:nvSpPr>
          <p:cNvPr id="10" name="AutoShape 2"/>
          <p:cNvSpPr/>
          <p:nvPr/>
        </p:nvSpPr>
        <p:spPr>
          <a:xfrm>
            <a:off x="596900" y="373380"/>
            <a:ext cx="9793605" cy="6045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0" bIns="0" rtlCol="0" anchor="t" anchorCtr="0"/>
          <a:lstStyle/>
          <a:p>
            <a:pPr indent="0" algn="l">
              <a:lnSpc>
                <a:spcPct val="83000"/>
              </a:lnSpc>
              <a:defRPr/>
            </a:pPr>
            <a:r>
              <a:rPr lang="en-US" altLang="zh-CN" sz="30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ngti SC"/>
              </a:rPr>
              <a:t>   </a:t>
            </a:r>
            <a:r>
              <a:rPr lang="zh-CN" altLang="en-US" sz="28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ngti SC"/>
              </a:rPr>
              <a:t>市场洞察：消费新主张</a:t>
            </a:r>
            <a:endParaRPr lang="zh-CN" altLang="en-US" sz="30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ongti SC"/>
            </a:endParaRPr>
          </a:p>
        </p:txBody>
      </p:sp>
      <p:sp>
        <p:nvSpPr>
          <p:cNvPr id="11" name="菱形 10"/>
          <p:cNvSpPr/>
          <p:nvPr/>
        </p:nvSpPr>
        <p:spPr>
          <a:xfrm>
            <a:off x="596900" y="495300"/>
            <a:ext cx="360000" cy="360000"/>
          </a:xfrm>
          <a:prstGeom prst="diamond">
            <a:avLst/>
          </a:prstGeom>
          <a:solidFill>
            <a:srgbClr val="6CB83A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6945" y="1327785"/>
            <a:ext cx="4826000" cy="11093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800" b="1" i="0">
                <a:solidFill>
                  <a:schemeClr val="tx1"/>
                </a:solidFill>
                <a:uFillTx/>
                <a:latin typeface="Times New Roman" panose="02020603050405020304" charset="0"/>
                <a:ea typeface="宋体简体" charset="0"/>
                <a:cs typeface="Times New Roman" panose="02020603050405020304"/>
                <a:sym typeface="Times New Roman" panose="02020603050405020304"/>
              </a:rPr>
              <a:t>LAE</a:t>
            </a:r>
            <a:r>
              <a:rPr lang="en-US" sz="1600" b="0" i="0">
                <a:solidFill>
                  <a:schemeClr val="tx1"/>
                </a:solidFill>
                <a:uFillTx/>
                <a:latin typeface="Times New Roman" panose="02020603050405020304" charset="0"/>
                <a:ea typeface="宋体简体" charset="0"/>
                <a:cs typeface="Songti SC"/>
                <a:sym typeface="Songti SC"/>
              </a:rPr>
              <a:t>（月桂酰精氨酸乙酯盐酸盐）</a:t>
            </a:r>
            <a:endParaRPr lang="en-US" sz="1600">
              <a:solidFill>
                <a:schemeClr val="tx1"/>
              </a:solidFill>
              <a:uFillTx/>
              <a:latin typeface="Times New Roman" panose="02020603050405020304" charset="0"/>
              <a:ea typeface="宋体简体" charset="0"/>
            </a:endParaRPr>
          </a:p>
          <a:p>
            <a:pPr indent="0" algn="l">
              <a:lnSpc>
                <a:spcPct val="125000"/>
              </a:lnSpc>
            </a:pPr>
            <a:r>
              <a:rPr lang="en-US" sz="2000" b="1" i="0">
                <a:solidFill>
                  <a:schemeClr val="tx1"/>
                </a:solidFill>
                <a:uFillTx/>
                <a:latin typeface="Times New Roman" panose="02020603050405020304" charset="0"/>
                <a:ea typeface="宋体简体" charset="0"/>
                <a:cs typeface="Songti SC"/>
                <a:sym typeface="Songti SC"/>
              </a:rPr>
              <a:t>什么是 LAE？</a:t>
            </a:r>
            <a:endParaRPr lang="en-US" sz="2000" b="1" i="0">
              <a:solidFill>
                <a:schemeClr val="tx1"/>
              </a:solidFill>
              <a:uFillTx/>
              <a:latin typeface="Times New Roman" panose="02020603050405020304" charset="0"/>
              <a:ea typeface="宋体简体" charset="0"/>
              <a:cs typeface="Songti SC"/>
              <a:sym typeface="Songti SC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t="12" b="12"/>
          <a:stretch>
            <a:fillRect/>
          </a:stretch>
        </p:blipFill>
        <p:spPr>
          <a:xfrm>
            <a:off x="8089900" y="3846195"/>
            <a:ext cx="3902075" cy="147574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596900" y="2355215"/>
            <a:ext cx="7407275" cy="35077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127000" rIns="88900" bIns="127000" rtlCol="0" anchor="t" anchorCtr="0"/>
          <a:lstStyle/>
          <a:p>
            <a:pPr marL="285750" indent="-285750" algn="just" eaLnBrk="1" fontAlgn="auto" latinLnBrk="0" hangingPunct="1">
              <a:lnSpc>
                <a:spcPct val="150000"/>
              </a:lnSpc>
              <a:buClr>
                <a:srgbClr val="D93025"/>
              </a:buClr>
              <a:buFont typeface="Wingdings" panose="05000000000000000000" charset="0"/>
              <a:buChar char="u"/>
              <a:defRPr/>
            </a:pPr>
            <a:r>
              <a:rPr lang="en-US" sz="1600" b="1" i="0">
                <a:solidFill>
                  <a:srgbClr val="D93025"/>
                </a:solidFill>
                <a:latin typeface="Times New Roman" panose="02020603050405020304" charset="0"/>
                <a:ea typeface="宋体简体" charset="0"/>
                <a:cs typeface="Songti SC"/>
                <a:sym typeface="Songti SC"/>
              </a:rPr>
              <a:t>化学名称：</a:t>
            </a:r>
            <a:r>
              <a:rPr lang="en-US" sz="1600" b="0" i="0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cs typeface="Songti SC"/>
                <a:sym typeface="Songti SC"/>
              </a:rPr>
              <a:t>月桂酰精氨酸乙酯盐酸盐 (Lauroyl arginate ethyl ester HCl)</a:t>
            </a:r>
            <a:endParaRPr lang="en-US" sz="1600" b="0" i="0">
              <a:solidFill>
                <a:schemeClr val="tx1"/>
              </a:solidFill>
              <a:latin typeface="Times New Roman" panose="02020603050405020304" charset="0"/>
              <a:ea typeface="宋体简体" charset="0"/>
              <a:cs typeface="Songti SC"/>
              <a:sym typeface="Songti SC"/>
            </a:endParaRPr>
          </a:p>
          <a:p>
            <a:pPr marL="285750" indent="-285750" algn="just" eaLnBrk="1" fontAlgn="auto" latinLnBrk="0" hangingPunct="1">
              <a:lnSpc>
                <a:spcPct val="150000"/>
              </a:lnSpc>
              <a:buClr>
                <a:srgbClr val="D93025"/>
              </a:buClr>
              <a:buFont typeface="Wingdings" panose="05000000000000000000" charset="0"/>
              <a:buChar char="u"/>
              <a:defRPr/>
            </a:pPr>
            <a:r>
              <a:rPr lang="en-US" sz="1600" b="1" i="0">
                <a:solidFill>
                  <a:srgbClr val="D93025"/>
                </a:solidFill>
                <a:latin typeface="Times New Roman" panose="02020603050405020304" charset="0"/>
                <a:ea typeface="宋体简体" charset="0"/>
                <a:cs typeface="Songti SC"/>
                <a:sym typeface="Songti SC"/>
              </a:rPr>
              <a:t>INCI 名称：</a:t>
            </a:r>
            <a:r>
              <a:rPr lang="en-US" sz="1600" b="0" i="0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cs typeface="Songti SC"/>
                <a:sym typeface="Songti SC"/>
              </a:rPr>
              <a:t>Ethyl Lauroyl Arginate HCl</a:t>
            </a:r>
            <a:endParaRPr lang="en-US" sz="1600" b="0" i="0">
              <a:solidFill>
                <a:schemeClr val="tx1"/>
              </a:solidFill>
              <a:latin typeface="Times New Roman" panose="02020603050405020304" charset="0"/>
              <a:ea typeface="宋体简体" charset="0"/>
              <a:cs typeface="Songti SC"/>
              <a:sym typeface="Songti SC"/>
            </a:endParaRPr>
          </a:p>
          <a:p>
            <a:pPr marL="285750" indent="-285750" algn="just" eaLnBrk="1" fontAlgn="auto" latinLnBrk="0" hangingPunct="1">
              <a:lnSpc>
                <a:spcPct val="150000"/>
              </a:lnSpc>
              <a:buClr>
                <a:srgbClr val="D93025"/>
              </a:buClr>
              <a:buFont typeface="Wingdings" panose="05000000000000000000" charset="0"/>
              <a:buChar char="u"/>
              <a:defRPr/>
            </a:pPr>
            <a:r>
              <a:rPr lang="en-US" sz="1600" b="1">
                <a:solidFill>
                  <a:srgbClr val="D93025"/>
                </a:solidFill>
                <a:latin typeface="Times New Roman" panose="02020603050405020304" charset="0"/>
                <a:ea typeface="宋体简体" charset="0"/>
                <a:cs typeface="Songti SC"/>
                <a:sym typeface="+mn-ea"/>
              </a:rPr>
              <a:t>外观：</a:t>
            </a: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sym typeface="+mn-ea"/>
              </a:rPr>
              <a:t>白色粉末，易溶于水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sym typeface="+mn-ea"/>
              </a:rPr>
              <a:t>/</a:t>
            </a: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sym typeface="+mn-ea"/>
              </a:rPr>
              <a:t>乙醇，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sym typeface="+mn-ea"/>
              </a:rPr>
              <a:t>pH</a:t>
            </a: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sym typeface="+mn-ea"/>
              </a:rPr>
              <a:t>稳定范围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sym typeface="+mn-ea"/>
              </a:rPr>
              <a:t>3–7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ea typeface="宋体简体" charset="0"/>
              <a:sym typeface="+mn-ea"/>
            </a:endParaRPr>
          </a:p>
          <a:p>
            <a:pPr marL="285750" indent="-285750" algn="just" eaLnBrk="1" fontAlgn="auto" latinLnBrk="0" hangingPunct="1">
              <a:lnSpc>
                <a:spcPct val="150000"/>
              </a:lnSpc>
              <a:buClr>
                <a:srgbClr val="D93025"/>
              </a:buClr>
              <a:buFont typeface="Wingdings" panose="05000000000000000000" charset="0"/>
              <a:buChar char="u"/>
              <a:defRPr/>
            </a:pPr>
            <a:r>
              <a:rPr lang="en-US" sz="1600" b="1">
                <a:solidFill>
                  <a:srgbClr val="D93025"/>
                </a:solidFill>
                <a:latin typeface="Times New Roman" panose="02020603050405020304" charset="0"/>
                <a:ea typeface="宋体简体" charset="0"/>
                <a:cs typeface="Songti SC"/>
                <a:sym typeface="+mn-ea"/>
              </a:rPr>
              <a:t>核心属性：</a:t>
            </a: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sym typeface="+mn-ea"/>
              </a:rPr>
              <a:t>阳离子表面活性剂、广谱防腐剂，由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sym typeface="+mn-ea"/>
              </a:rPr>
              <a:t>L-</a:t>
            </a: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sym typeface="+mn-ea"/>
              </a:rPr>
              <a:t>精氨酸、月桂酸、乙醇合成</a:t>
            </a:r>
            <a:endParaRPr lang="zh-CN" altLang="en-US" sz="1600">
              <a:solidFill>
                <a:schemeClr val="tx1"/>
              </a:solidFill>
              <a:latin typeface="Times New Roman" panose="02020603050405020304" charset="0"/>
              <a:ea typeface="宋体简体" charset="0"/>
              <a:sym typeface="+mn-ea"/>
            </a:endParaRPr>
          </a:p>
          <a:p>
            <a:pPr marL="285750" indent="-285750" algn="just" eaLnBrk="1" fontAlgn="auto" latinLnBrk="0" hangingPunct="1">
              <a:lnSpc>
                <a:spcPct val="150000"/>
              </a:lnSpc>
              <a:buClr>
                <a:srgbClr val="D93025"/>
              </a:buClr>
              <a:buFont typeface="Wingdings" panose="05000000000000000000" charset="0"/>
              <a:buChar char="u"/>
              <a:defRPr/>
            </a:pPr>
            <a:r>
              <a:rPr lang="en-US" sz="1600" b="1" i="0">
                <a:solidFill>
                  <a:srgbClr val="D93025"/>
                </a:solidFill>
                <a:latin typeface="Times New Roman" panose="02020603050405020304" charset="0"/>
                <a:ea typeface="宋体简体" charset="0"/>
                <a:cs typeface="Songti SC"/>
                <a:sym typeface="Songti SC"/>
              </a:rPr>
              <a:t>来源与结构：</a:t>
            </a:r>
            <a:endParaRPr lang="en-US" sz="1600" b="1" i="0">
              <a:solidFill>
                <a:srgbClr val="D93025"/>
              </a:solidFill>
              <a:latin typeface="Times New Roman" panose="02020603050405020304" charset="0"/>
              <a:ea typeface="宋体简体" charset="0"/>
              <a:cs typeface="Songti SC"/>
              <a:sym typeface="Songti SC"/>
            </a:endParaRPr>
          </a:p>
          <a:p>
            <a:pPr marL="0" indent="0" algn="just" eaLnBrk="1" fontAlgn="auto" latinLnBrk="0" hangingPunct="1">
              <a:lnSpc>
                <a:spcPct val="150000"/>
              </a:lnSpc>
            </a:pPr>
            <a:r>
              <a:rPr lang="en-US" sz="1600" b="0" i="0">
                <a:solidFill>
                  <a:srgbClr val="505050"/>
                </a:solidFill>
                <a:latin typeface="Times New Roman" panose="02020603050405020304" charset="0"/>
                <a:ea typeface="宋体简体" charset="0"/>
                <a:cs typeface="Songti SC"/>
                <a:sym typeface="Songti SC"/>
              </a:rPr>
              <a:t>     </a:t>
            </a:r>
            <a:r>
              <a:rPr lang="en-US" sz="1600" b="0" i="0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cs typeface="Songti SC"/>
                <a:sym typeface="Songti SC"/>
              </a:rPr>
              <a:t> 由天然来源的</a:t>
            </a:r>
            <a:r>
              <a:rPr lang="en-US" sz="1600" b="1" i="0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cs typeface="Songti SC"/>
                <a:sym typeface="Songti SC"/>
              </a:rPr>
              <a:t>L-精氨酸</a:t>
            </a:r>
            <a:r>
              <a:rPr lang="en-US" sz="1600" b="0" i="0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cs typeface="Songti SC"/>
                <a:sym typeface="Songti SC"/>
              </a:rPr>
              <a:t>（氨基酸）和</a:t>
            </a:r>
            <a:r>
              <a:rPr lang="en-US" sz="1600" b="1" i="0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cs typeface="Songti SC"/>
                <a:sym typeface="Songti SC"/>
              </a:rPr>
              <a:t>月桂酸</a:t>
            </a:r>
            <a:r>
              <a:rPr lang="en-US" sz="1600" b="0" i="0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cs typeface="Songti SC"/>
                <a:sym typeface="Songti SC"/>
              </a:rPr>
              <a:t>（天然脂肪酸）合成的阳离子表面活性剂。其独特的分子结构赋予了它卓越的抑菌性能和良好的生物相容性，在各类产品中都能发挥高效、温和的作用</a:t>
            </a:r>
            <a:endParaRPr lang="en-US" sz="1600" b="0" i="0">
              <a:solidFill>
                <a:schemeClr val="tx1"/>
              </a:solidFill>
              <a:latin typeface="Times New Roman" panose="02020603050405020304" charset="0"/>
              <a:ea typeface="宋体简体" charset="0"/>
              <a:cs typeface="Songti SC"/>
              <a:sym typeface="Songti SC"/>
            </a:endParaRPr>
          </a:p>
        </p:txBody>
      </p:sp>
      <p:sp>
        <p:nvSpPr>
          <p:cNvPr id="5" name="AutoShape 2"/>
          <p:cNvSpPr/>
          <p:nvPr/>
        </p:nvSpPr>
        <p:spPr>
          <a:xfrm>
            <a:off x="596900" y="373380"/>
            <a:ext cx="9793605" cy="6045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0" bIns="0" rtlCol="0" anchor="t" anchorCtr="0"/>
          <a:lstStyle/>
          <a:p>
            <a:pPr indent="0" algn="l">
              <a:lnSpc>
                <a:spcPct val="83000"/>
              </a:lnSpc>
              <a:defRPr/>
            </a:pPr>
            <a:r>
              <a:rPr lang="en-US" altLang="zh-CN" sz="30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ngti SC"/>
              </a:rPr>
              <a:t>   </a:t>
            </a:r>
            <a:r>
              <a:rPr lang="en-US" altLang="zh-CN" sz="28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ngti SC"/>
              </a:rPr>
              <a:t>ETHYL LAUROYL ARGINATE HCL</a:t>
            </a:r>
            <a:r>
              <a:rPr lang="zh-CN" altLang="en-US" sz="30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ngti SC"/>
              </a:rPr>
              <a:t>产品简介</a:t>
            </a:r>
            <a:endParaRPr lang="zh-CN" altLang="en-US" sz="30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ongti SC"/>
            </a:endParaRPr>
          </a:p>
        </p:txBody>
      </p:sp>
      <p:sp>
        <p:nvSpPr>
          <p:cNvPr id="7" name="菱形 6"/>
          <p:cNvSpPr/>
          <p:nvPr/>
        </p:nvSpPr>
        <p:spPr>
          <a:xfrm>
            <a:off x="596900" y="495300"/>
            <a:ext cx="360000" cy="360000"/>
          </a:xfrm>
          <a:prstGeom prst="diamond">
            <a:avLst/>
          </a:prstGeom>
          <a:solidFill>
            <a:srgbClr val="6CB83A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 descr="ea966e9e4cd421dbf8c01294015ca6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275" y="1530985"/>
            <a:ext cx="4457700" cy="17621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AutoShape 2"/>
          <p:cNvSpPr/>
          <p:nvPr/>
        </p:nvSpPr>
        <p:spPr>
          <a:xfrm>
            <a:off x="596900" y="373380"/>
            <a:ext cx="9793605" cy="6045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0" bIns="0" rtlCol="0" anchor="t" anchorCtr="0"/>
          <a:lstStyle/>
          <a:p>
            <a:pPr indent="0" algn="l">
              <a:lnSpc>
                <a:spcPct val="83000"/>
              </a:lnSpc>
              <a:defRPr/>
            </a:pPr>
            <a:r>
              <a:rPr lang="en-US" altLang="zh-CN" sz="30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ngti SC"/>
              </a:rPr>
              <a:t>   </a:t>
            </a:r>
            <a:r>
              <a:rPr lang="en-US" altLang="zh-CN" sz="28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ngti SC"/>
              </a:rPr>
              <a:t>ETHYL LAUROYL ARGINATE HCL</a:t>
            </a:r>
            <a:r>
              <a:rPr lang="zh-CN" altLang="en-US" sz="30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ngti SC"/>
              </a:rPr>
              <a:t>抑菌机理</a:t>
            </a:r>
            <a:endParaRPr lang="zh-CN" altLang="en-US" sz="30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ongti SC"/>
            </a:endParaRPr>
          </a:p>
        </p:txBody>
      </p:sp>
      <p:sp>
        <p:nvSpPr>
          <p:cNvPr id="7" name="菱形 6"/>
          <p:cNvSpPr/>
          <p:nvPr/>
        </p:nvSpPr>
        <p:spPr>
          <a:xfrm>
            <a:off x="596900" y="495300"/>
            <a:ext cx="360000" cy="360000"/>
          </a:xfrm>
          <a:prstGeom prst="diamond">
            <a:avLst/>
          </a:prstGeom>
          <a:solidFill>
            <a:srgbClr val="6CB83A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AutoShape 2"/>
          <p:cNvSpPr/>
          <p:nvPr/>
        </p:nvSpPr>
        <p:spPr>
          <a:xfrm>
            <a:off x="596900" y="1085215"/>
            <a:ext cx="6350000" cy="7480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>
                <a:solidFill>
                  <a:srgbClr val="C00000"/>
                </a:solidFill>
                <a:latin typeface="Times New Roman" panose="020206030504050203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LAE 抑菌机理：</a:t>
            </a:r>
            <a:r>
              <a:rPr lang="en-US" sz="2000" b="0" i="0">
                <a:solidFill>
                  <a:srgbClr val="1F2329"/>
                </a:solidFill>
                <a:latin typeface="Times New Roman" panose="020206030504050203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精准靶向，高效瓦解</a:t>
            </a:r>
            <a:endParaRPr lang="en-US" sz="2000" b="0" i="0">
              <a:solidFill>
                <a:srgbClr val="1F2329"/>
              </a:solidFill>
              <a:latin typeface="Times New Roman" panose="02020603050405020304" charset="0"/>
              <a:ea typeface="宋体简体" charset="0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4"/>
          <p:cNvSpPr/>
          <p:nvPr>
            <p:custDataLst>
              <p:tags r:id="rId1"/>
            </p:custDataLst>
          </p:nvPr>
        </p:nvSpPr>
        <p:spPr>
          <a:xfrm>
            <a:off x="514985" y="2044065"/>
            <a:ext cx="5400040" cy="1871980"/>
          </a:xfrm>
          <a:prstGeom prst="roundRect">
            <a:avLst>
              <a:gd name="adj" fmla="val 4615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4"/>
          <p:cNvSpPr/>
          <p:nvPr>
            <p:custDataLst>
              <p:tags r:id="rId2"/>
            </p:custDataLst>
          </p:nvPr>
        </p:nvSpPr>
        <p:spPr>
          <a:xfrm>
            <a:off x="6276975" y="4130040"/>
            <a:ext cx="5400040" cy="1871980"/>
          </a:xfrm>
          <a:prstGeom prst="roundRect">
            <a:avLst>
              <a:gd name="adj" fmla="val 4615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4"/>
          <p:cNvSpPr/>
          <p:nvPr>
            <p:custDataLst>
              <p:tags r:id="rId3"/>
            </p:custDataLst>
          </p:nvPr>
        </p:nvSpPr>
        <p:spPr>
          <a:xfrm>
            <a:off x="6276975" y="2044065"/>
            <a:ext cx="5400040" cy="1871980"/>
          </a:xfrm>
          <a:prstGeom prst="roundRect">
            <a:avLst>
              <a:gd name="adj" fmla="val 4615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4"/>
          <p:cNvSpPr/>
          <p:nvPr>
            <p:custDataLst>
              <p:tags r:id="rId4"/>
            </p:custDataLst>
          </p:nvPr>
        </p:nvSpPr>
        <p:spPr>
          <a:xfrm>
            <a:off x="514985" y="4130040"/>
            <a:ext cx="5400040" cy="1871980"/>
          </a:xfrm>
          <a:prstGeom prst="roundRect">
            <a:avLst>
              <a:gd name="adj" fmla="val 4615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5"/>
          <p:cNvSpPr/>
          <p:nvPr>
            <p:custDataLst>
              <p:tags r:id="rId5"/>
            </p:custDataLst>
          </p:nvPr>
        </p:nvSpPr>
        <p:spPr>
          <a:xfrm>
            <a:off x="812165" y="2046605"/>
            <a:ext cx="4805680" cy="18694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0000"/>
              </a:lnSpc>
              <a:defRPr/>
            </a:pPr>
            <a:r>
              <a:rPr lang="en-US" sz="1800" b="1" i="0">
                <a:solidFill>
                  <a:srgbClr val="2563EB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01 / 静电吸附与靶向结合</a:t>
            </a:r>
            <a:endParaRPr lang="en-US" sz="1800" b="1">
              <a:latin typeface="Calibri" panose="020F0502020204030204" charset="0"/>
              <a:ea typeface="宋体" panose="02010600030101010101" pitchFamily="2" charset="-122"/>
            </a:endParaRPr>
          </a:p>
          <a:p>
            <a:pPr indent="0" algn="just">
              <a:lnSpc>
                <a:spcPct val="108000"/>
              </a:lnSpc>
              <a:spcBef>
                <a:spcPts val="1000"/>
              </a:spcBef>
            </a:pPr>
            <a:r>
              <a:rPr lang="en-US" b="0" i="0">
                <a:solidFill>
                  <a:schemeClr val="tx1"/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LAE分子带有正电荷的亲水头部，能被带负电荷的细菌细胞膜通过静电引力强烈吸附。这种“阳离子-阴离子”的精准结合，是其发挥抑菌作用的关键第一步</a:t>
            </a:r>
            <a:r>
              <a:rPr lang="zh-CN" altLang="en-US" b="0" i="0">
                <a:solidFill>
                  <a:schemeClr val="tx1"/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zh-CN" altLang="en-US" b="0" i="0">
              <a:solidFill>
                <a:schemeClr val="tx1"/>
              </a:solidFill>
              <a:uFillTx/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Picture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34352" r="34352"/>
          <a:stretch>
            <a:fillRect/>
          </a:stretch>
        </p:blipFill>
        <p:spPr>
          <a:xfrm>
            <a:off x="6538595" y="2170430"/>
            <a:ext cx="1388745" cy="1619885"/>
          </a:xfrm>
          <a:prstGeom prst="rect">
            <a:avLst/>
          </a:prstGeom>
          <a:noFill/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</p:pic>
      <p:sp>
        <p:nvSpPr>
          <p:cNvPr id="10" name="AutoShape 8"/>
          <p:cNvSpPr/>
          <p:nvPr>
            <p:custDataLst>
              <p:tags r:id="rId8"/>
            </p:custDataLst>
          </p:nvPr>
        </p:nvSpPr>
        <p:spPr>
          <a:xfrm>
            <a:off x="8127365" y="2047240"/>
            <a:ext cx="3322955" cy="18688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0000"/>
              </a:lnSpc>
              <a:defRPr/>
            </a:pPr>
            <a:r>
              <a:rPr lang="en-US" sz="1800" b="1" i="0">
                <a:solidFill>
                  <a:srgbClr val="D97706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02 / 插入膜结构，破坏完整性</a:t>
            </a:r>
            <a:endParaRPr lang="en-US" sz="1800" b="1">
              <a:latin typeface="Calibri" panose="020F0502020204030204" charset="0"/>
              <a:ea typeface="宋体" panose="02010600030101010101" pitchFamily="2" charset="-122"/>
            </a:endParaRPr>
          </a:p>
          <a:p>
            <a:pPr indent="0" algn="just">
              <a:lnSpc>
                <a:spcPct val="108000"/>
              </a:lnSpc>
              <a:spcBef>
                <a:spcPts val="800"/>
              </a:spcBef>
            </a:pPr>
            <a:r>
              <a:rPr lang="en-US" b="0" i="0">
                <a:solidFill>
                  <a:schemeClr val="tx1"/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结合后，LAE分子的疏水长链会像“楔子”一样强行插入细菌细胞膜的脂质双层内部，破坏膜的有序排列结构，使其流动性和稳定性迅速丧失</a:t>
            </a:r>
            <a:r>
              <a:rPr lang="zh-CN" altLang="en-US" b="0" i="0">
                <a:solidFill>
                  <a:schemeClr val="tx1"/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zh-CN" altLang="en-US" b="0" i="0">
              <a:solidFill>
                <a:schemeClr val="tx1"/>
              </a:solidFill>
              <a:uFillTx/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2" name="Picture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rcRect l="27891" r="27891"/>
          <a:stretch>
            <a:fillRect/>
          </a:stretch>
        </p:blipFill>
        <p:spPr>
          <a:xfrm>
            <a:off x="779145" y="4255770"/>
            <a:ext cx="1388745" cy="1619885"/>
          </a:xfrm>
          <a:prstGeom prst="rect">
            <a:avLst/>
          </a:prstGeom>
          <a:noFill/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</p:pic>
      <p:sp>
        <p:nvSpPr>
          <p:cNvPr id="13" name="AutoShape 11"/>
          <p:cNvSpPr/>
          <p:nvPr>
            <p:custDataLst>
              <p:tags r:id="rId11"/>
            </p:custDataLst>
          </p:nvPr>
        </p:nvSpPr>
        <p:spPr>
          <a:xfrm>
            <a:off x="2345690" y="4129405"/>
            <a:ext cx="3343275" cy="1873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0000"/>
              </a:lnSpc>
              <a:defRPr/>
            </a:pPr>
            <a:r>
              <a:rPr lang="en-US" sz="1800" b="1" i="0">
                <a:solidFill>
                  <a:srgbClr val="DC2626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03 / 膜通透性剧增，内容物外泄</a:t>
            </a:r>
            <a:endParaRPr lang="en-US" sz="1800" b="1">
              <a:latin typeface="Calibri" panose="020F0502020204030204" charset="0"/>
              <a:ea typeface="宋体" panose="02010600030101010101" pitchFamily="2" charset="-122"/>
            </a:endParaRPr>
          </a:p>
          <a:p>
            <a:pPr indent="0" algn="just">
              <a:lnSpc>
                <a:spcPct val="108000"/>
              </a:lnSpc>
              <a:spcBef>
                <a:spcPts val="800"/>
              </a:spcBef>
            </a:pPr>
            <a:r>
              <a:rPr lang="en-US" b="0" i="0">
                <a:solidFill>
                  <a:schemeClr val="tx1"/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细胞膜结构的物理性破坏导致其选择透过性急剧下降，细胞内的钾离子、蛋白质、核酸等重要生命物质会不受控制地大量泄漏，无法维持生理稳态</a:t>
            </a:r>
            <a:r>
              <a:rPr lang="zh-CN" altLang="en-US" b="0" i="0">
                <a:solidFill>
                  <a:schemeClr val="tx1"/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zh-CN" altLang="en-US" b="0" i="0">
              <a:solidFill>
                <a:schemeClr val="tx1"/>
              </a:solidFill>
              <a:uFillTx/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3"/>
          <p:cNvSpPr/>
          <p:nvPr>
            <p:custDataLst>
              <p:tags r:id="rId12"/>
            </p:custDataLst>
          </p:nvPr>
        </p:nvSpPr>
        <p:spPr>
          <a:xfrm>
            <a:off x="6548755" y="4130040"/>
            <a:ext cx="4806950" cy="18726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0000"/>
              </a:lnSpc>
              <a:defRPr/>
            </a:pPr>
            <a:r>
              <a:rPr lang="en-US" sz="1800" b="1" i="0">
                <a:solidFill>
                  <a:srgbClr val="059669"/>
                </a:solidFill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04 / 代谢终止，细胞死亡</a:t>
            </a:r>
            <a:endParaRPr lang="en-US" sz="1800" b="1">
              <a:latin typeface="Calibri" panose="020F0502020204030204" charset="0"/>
              <a:ea typeface="宋体" panose="02010600030101010101" pitchFamily="2" charset="-122"/>
            </a:endParaRPr>
          </a:p>
          <a:p>
            <a:pPr indent="0" algn="just">
              <a:lnSpc>
                <a:spcPct val="108000"/>
              </a:lnSpc>
              <a:spcBef>
                <a:spcPts val="1000"/>
              </a:spcBef>
            </a:pPr>
            <a:r>
              <a:rPr lang="en-US" b="0" i="0">
                <a:solidFill>
                  <a:schemeClr val="tx1"/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随着关键物质流失和细胞膜彻底崩溃，细菌的能量代谢、物质合成等核心生命活动完全停滞，最终导致细菌无法存活，在短时间内快速死亡</a:t>
            </a:r>
            <a:r>
              <a:rPr lang="zh-CN" altLang="en-US" b="0" i="0">
                <a:solidFill>
                  <a:schemeClr val="tx1"/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zh-CN" altLang="en-US" b="0" i="0">
              <a:solidFill>
                <a:schemeClr val="tx1"/>
              </a:solidFill>
              <a:uFillTx/>
              <a:latin typeface="Calibri" panose="020F0502020204030204" charset="0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584200" y="1706040"/>
            <a:ext cx="5220000" cy="1800000"/>
          </a:xfrm>
          <a:prstGeom prst="roundRect">
            <a:avLst>
              <a:gd name="adj" fmla="val 4615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" name="AutoShape 4"/>
          <p:cNvSpPr/>
          <p:nvPr>
            <p:custDataLst>
              <p:tags r:id="rId2"/>
            </p:custDataLst>
          </p:nvPr>
        </p:nvSpPr>
        <p:spPr>
          <a:xfrm>
            <a:off x="6388100" y="4002200"/>
            <a:ext cx="5220000" cy="1800000"/>
          </a:xfrm>
          <a:prstGeom prst="roundRect">
            <a:avLst>
              <a:gd name="adj" fmla="val 4615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4"/>
          <p:cNvSpPr/>
          <p:nvPr>
            <p:custDataLst>
              <p:tags r:id="rId3"/>
            </p:custDataLst>
          </p:nvPr>
        </p:nvSpPr>
        <p:spPr>
          <a:xfrm>
            <a:off x="584200" y="4002200"/>
            <a:ext cx="5220000" cy="1800000"/>
          </a:xfrm>
          <a:prstGeom prst="roundRect">
            <a:avLst>
              <a:gd name="adj" fmla="val 4615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4"/>
          <p:cNvSpPr/>
          <p:nvPr>
            <p:custDataLst>
              <p:tags r:id="rId4"/>
            </p:custDataLst>
          </p:nvPr>
        </p:nvSpPr>
        <p:spPr>
          <a:xfrm>
            <a:off x="6388100" y="1706040"/>
            <a:ext cx="5220000" cy="1800000"/>
          </a:xfrm>
          <a:prstGeom prst="roundRect">
            <a:avLst>
              <a:gd name="adj" fmla="val 4615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5"/>
          <p:cNvSpPr/>
          <p:nvPr>
            <p:custDataLst>
              <p:tags r:id="rId5"/>
            </p:custDataLst>
          </p:nvPr>
        </p:nvSpPr>
        <p:spPr>
          <a:xfrm>
            <a:off x="1599715" y="1954848"/>
            <a:ext cx="3916680" cy="13023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just">
              <a:lnSpc>
                <a:spcPct val="100000"/>
              </a:lnSpc>
              <a:buSzTx/>
              <a:defRPr/>
            </a:pPr>
            <a:r>
              <a:rPr lang="zh-CN" altLang="en-US" sz="1800" b="1" i="0">
                <a:solidFill>
                  <a:schemeClr val="tx1"/>
                </a:solidFill>
                <a:latin typeface="Noto Sans SC" panose="020B0200000000000000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高</a:t>
            </a:r>
            <a:r>
              <a:rPr lang="en-US" sz="1800" b="1" i="0">
                <a:solidFill>
                  <a:schemeClr val="tx1"/>
                </a:solidFill>
                <a:latin typeface="Noto Sans SC" panose="020B0200000000000000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安全</a:t>
            </a:r>
            <a:r>
              <a:rPr lang="zh-CN" altLang="en-US" sz="1800" b="1" i="0">
                <a:solidFill>
                  <a:schemeClr val="tx1"/>
                </a:solidFill>
                <a:latin typeface="Noto Sans SC" panose="020B0200000000000000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性</a:t>
            </a:r>
            <a:r>
              <a:rPr lang="en-US" sz="1800" b="1" i="0">
                <a:solidFill>
                  <a:schemeClr val="tx1"/>
                </a:solidFill>
                <a:latin typeface="Noto Sans SC" panose="020B0200000000000000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 (Safety)</a:t>
            </a:r>
            <a:endParaRPr lang="en-US" sz="1800" b="1">
              <a:solidFill>
                <a:schemeClr val="tx1"/>
              </a:solidFill>
              <a:latin typeface="Noto Sans SC" panose="020B0200000000000000" charset="-122"/>
              <a:ea typeface="微软雅黑" panose="020B0503020204020204" charset="-122"/>
              <a:cs typeface="Noto Sans SC" panose="020B0200000000000000" charset="-122"/>
            </a:endParaRPr>
          </a:p>
          <a:p>
            <a:pPr indent="0" algn="just">
              <a:lnSpc>
                <a:spcPct val="117000"/>
              </a:lnSpc>
              <a:spcBef>
                <a:spcPts val="1200"/>
              </a:spcBef>
            </a:pPr>
            <a:r>
              <a:rPr lang="en-US" sz="1600" i="0">
                <a:solidFill>
                  <a:schemeClr val="tx1"/>
                </a:solidFill>
                <a:latin typeface="Songti SC"/>
                <a:ea typeface="宋体简体" charset="0"/>
                <a:cs typeface="Songti SC"/>
                <a:sym typeface="Noto Sans SC" panose="020B0200000000000000" charset="-122"/>
              </a:rPr>
              <a:t>经全球最权威机构严格评估，代谢产物为人体固有物质，无累积风险，安全性备受认可</a:t>
            </a:r>
            <a:r>
              <a:rPr lang="zh-CN" altLang="en-US" sz="1600" i="0">
                <a:solidFill>
                  <a:schemeClr val="tx1"/>
                </a:solidFill>
                <a:latin typeface="Songti SC"/>
                <a:ea typeface="宋体简体" charset="0"/>
                <a:cs typeface="Songti SC"/>
                <a:sym typeface="Noto Sans SC" panose="020B0200000000000000" charset="-122"/>
              </a:rPr>
              <a:t>。</a:t>
            </a:r>
            <a:endParaRPr lang="zh-CN" altLang="en-US" sz="1600" i="0">
              <a:solidFill>
                <a:schemeClr val="tx1"/>
              </a:solidFill>
              <a:latin typeface="Songti SC"/>
              <a:ea typeface="宋体简体" charset="0"/>
              <a:cs typeface="Songti SC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7412355" y="1954848"/>
            <a:ext cx="3915410" cy="13023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just">
              <a:lnSpc>
                <a:spcPct val="100000"/>
              </a:lnSpc>
              <a:buSzTx/>
              <a:defRPr/>
            </a:pPr>
            <a:r>
              <a:rPr lang="en-US" sz="1800" b="1" i="0">
                <a:solidFill>
                  <a:schemeClr val="tx1"/>
                </a:solidFill>
                <a:latin typeface="Noto Sans SC" panose="020B0200000000000000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广谱高效 (Efficacy)</a:t>
            </a:r>
            <a:endParaRPr lang="en-US" sz="1800" b="1">
              <a:solidFill>
                <a:schemeClr val="tx1"/>
              </a:solidFill>
              <a:latin typeface="Noto Sans SC" panose="020B0200000000000000" charset="-122"/>
              <a:ea typeface="微软雅黑" panose="020B0503020204020204" charset="-122"/>
              <a:cs typeface="Noto Sans SC" panose="020B0200000000000000" charset="-122"/>
            </a:endParaRPr>
          </a:p>
          <a:p>
            <a:pPr indent="0" algn="just">
              <a:lnSpc>
                <a:spcPct val="117000"/>
              </a:lnSpc>
              <a:spcBef>
                <a:spcPts val="1200"/>
              </a:spcBef>
            </a:pPr>
            <a:r>
              <a:rPr lang="en-US" sz="1600" i="0">
                <a:solidFill>
                  <a:schemeClr val="tx1"/>
                </a:solidFill>
                <a:latin typeface="Songti SC"/>
                <a:ea typeface="宋体简体" charset="0"/>
                <a:cs typeface="Songti SC"/>
                <a:sym typeface="Noto Sans SC" panose="020B0200000000000000" charset="-122"/>
              </a:rPr>
              <a:t>对多种</a:t>
            </a:r>
            <a:r>
              <a:rPr lang="zh-CN" altLang="en-US" sz="1600" i="0">
                <a:solidFill>
                  <a:schemeClr val="tx1"/>
                </a:solidFill>
                <a:latin typeface="Songti SC"/>
                <a:ea typeface="宋体简体" charset="0"/>
                <a:cs typeface="Songti SC"/>
                <a:sym typeface="Noto Sans SC" panose="020B0200000000000000" charset="-122"/>
              </a:rPr>
              <a:t>有害</a:t>
            </a:r>
            <a:r>
              <a:rPr lang="en-US" sz="1600" i="0">
                <a:solidFill>
                  <a:schemeClr val="tx1"/>
                </a:solidFill>
                <a:latin typeface="Songti SC"/>
                <a:ea typeface="宋体简体" charset="0"/>
                <a:cs typeface="Songti SC"/>
                <a:sym typeface="Noto Sans SC" panose="020B0200000000000000" charset="-122"/>
              </a:rPr>
              <a:t>菌、</a:t>
            </a:r>
            <a:r>
              <a:rPr lang="zh-CN" altLang="en-US" sz="1600" i="0">
                <a:solidFill>
                  <a:schemeClr val="tx1"/>
                </a:solidFill>
                <a:latin typeface="Songti SC"/>
                <a:ea typeface="宋体简体" charset="0"/>
                <a:cs typeface="Songti SC"/>
                <a:sym typeface="Noto Sans SC" panose="020B0200000000000000" charset="-122"/>
              </a:rPr>
              <a:t>有害</a:t>
            </a:r>
            <a:r>
              <a:rPr lang="en-US" sz="1600" i="0">
                <a:solidFill>
                  <a:schemeClr val="tx1"/>
                </a:solidFill>
                <a:latin typeface="Songti SC"/>
                <a:ea typeface="宋体简体" charset="0"/>
                <a:cs typeface="Songti SC"/>
                <a:sym typeface="Noto Sans SC" panose="020B0200000000000000" charset="-122"/>
              </a:rPr>
              <a:t>酵母和霉菌展现卓越抑制能力，且用量更低，能有效降低综合使用成本</a:t>
            </a:r>
            <a:r>
              <a:rPr lang="zh-CN" altLang="en-US" sz="1600" i="0">
                <a:solidFill>
                  <a:schemeClr val="tx1"/>
                </a:solidFill>
                <a:latin typeface="Songti SC"/>
                <a:ea typeface="宋体简体" charset="0"/>
                <a:cs typeface="Songti SC"/>
                <a:sym typeface="Noto Sans SC" panose="020B0200000000000000" charset="-122"/>
              </a:rPr>
              <a:t>。</a:t>
            </a:r>
            <a:endParaRPr lang="zh-CN" altLang="en-US" sz="1600" i="0">
              <a:solidFill>
                <a:schemeClr val="tx1"/>
              </a:solidFill>
              <a:latin typeface="Songti SC"/>
              <a:ea typeface="宋体简体" charset="0"/>
              <a:cs typeface="Songti SC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1600200" y="4251008"/>
            <a:ext cx="3916045" cy="13023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just">
              <a:lnSpc>
                <a:spcPct val="100000"/>
              </a:lnSpc>
              <a:buSzTx/>
              <a:defRPr/>
            </a:pPr>
            <a:r>
              <a:rPr lang="en-US" sz="1800" b="1" i="0">
                <a:solidFill>
                  <a:schemeClr val="tx1"/>
                </a:solidFill>
                <a:latin typeface="Noto Sans SC" panose="020B0200000000000000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天然亲和 (Naturalness)</a:t>
            </a:r>
            <a:endParaRPr lang="en-US" sz="1800" b="1">
              <a:solidFill>
                <a:schemeClr val="tx1"/>
              </a:solidFill>
              <a:latin typeface="Noto Sans SC" panose="020B0200000000000000" charset="-122"/>
              <a:ea typeface="微软雅黑" panose="020B0503020204020204" charset="-122"/>
              <a:cs typeface="Noto Sans SC" panose="020B0200000000000000" charset="-122"/>
            </a:endParaRPr>
          </a:p>
          <a:p>
            <a:pPr indent="0" algn="just">
              <a:lnSpc>
                <a:spcPct val="117000"/>
              </a:lnSpc>
              <a:spcBef>
                <a:spcPts val="1200"/>
              </a:spcBef>
            </a:pPr>
            <a:r>
              <a:rPr lang="en-US" sz="1600" i="0">
                <a:solidFill>
                  <a:schemeClr val="tx1"/>
                </a:solidFill>
                <a:latin typeface="Songti SC"/>
                <a:ea typeface="宋体简体" charset="0"/>
                <a:cs typeface="Songti SC"/>
                <a:sym typeface="Noto Sans SC" panose="020B0200000000000000" charset="-122"/>
              </a:rPr>
              <a:t>主要源自天然氨基酸和脂肪酸，成分天然，完美契合当下消费者追求的“清洁标签”健康趋势</a:t>
            </a:r>
            <a:r>
              <a:rPr lang="zh-CN" altLang="en-US" sz="1600" i="0">
                <a:solidFill>
                  <a:schemeClr val="tx1"/>
                </a:solidFill>
                <a:latin typeface="Songti SC"/>
                <a:ea typeface="宋体简体" charset="0"/>
                <a:cs typeface="Songti SC"/>
                <a:sym typeface="Noto Sans SC" panose="020B0200000000000000" charset="-122"/>
              </a:rPr>
              <a:t>。</a:t>
            </a:r>
            <a:endParaRPr lang="zh-CN" altLang="en-US" sz="1600" i="0">
              <a:solidFill>
                <a:schemeClr val="tx1"/>
              </a:solidFill>
              <a:latin typeface="Songti SC"/>
              <a:ea typeface="宋体简体" charset="0"/>
              <a:cs typeface="Songti SC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8"/>
            </p:custDataLst>
          </p:nvPr>
        </p:nvSpPr>
        <p:spPr>
          <a:xfrm>
            <a:off x="7412355" y="4251008"/>
            <a:ext cx="3915410" cy="13023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just">
              <a:lnSpc>
                <a:spcPct val="100000"/>
              </a:lnSpc>
              <a:buSzTx/>
              <a:defRPr/>
            </a:pPr>
            <a:r>
              <a:rPr lang="en-US" sz="1800" b="1" i="0">
                <a:solidFill>
                  <a:schemeClr val="tx1"/>
                </a:solidFill>
                <a:latin typeface="Noto Sans SC" panose="020B0200000000000000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多功能性 (Multi-functionality)</a:t>
            </a:r>
            <a:endParaRPr lang="en-US" sz="1800" b="1">
              <a:solidFill>
                <a:schemeClr val="tx1"/>
              </a:solidFill>
              <a:latin typeface="Noto Sans SC" panose="020B0200000000000000" charset="-122"/>
              <a:ea typeface="微软雅黑" panose="020B0503020204020204" charset="-122"/>
              <a:cs typeface="Noto Sans SC" panose="020B0200000000000000" charset="-122"/>
            </a:endParaRPr>
          </a:p>
          <a:p>
            <a:pPr indent="0" algn="just">
              <a:lnSpc>
                <a:spcPct val="117000"/>
              </a:lnSpc>
              <a:spcBef>
                <a:spcPts val="1200"/>
              </a:spcBef>
            </a:pPr>
            <a:r>
              <a:rPr lang="en-US" sz="1600" i="0">
                <a:solidFill>
                  <a:schemeClr val="tx1"/>
                </a:solidFill>
                <a:latin typeface="Songti SC"/>
                <a:ea typeface="宋体简体" charset="0"/>
                <a:cs typeface="Songti SC"/>
                <a:sym typeface="Noto Sans SC" panose="020B0200000000000000" charset="-122"/>
              </a:rPr>
              <a:t>集抑菌、除臭、抗静电、表面活性等多种功能于一体，实现“一料多能”，为产品提供复合价值</a:t>
            </a:r>
            <a:r>
              <a:rPr lang="zh-CN" altLang="en-US" sz="1600" i="0">
                <a:solidFill>
                  <a:schemeClr val="tx1"/>
                </a:solidFill>
                <a:latin typeface="Songti SC"/>
                <a:ea typeface="宋体简体" charset="0"/>
                <a:cs typeface="Songti SC"/>
                <a:sym typeface="Noto Sans SC" panose="020B0200000000000000" charset="-122"/>
              </a:rPr>
              <a:t>。</a:t>
            </a:r>
            <a:endParaRPr lang="zh-CN" altLang="en-US" sz="1600" i="0">
              <a:solidFill>
                <a:schemeClr val="tx1"/>
              </a:solidFill>
              <a:latin typeface="Songti SC"/>
              <a:ea typeface="宋体简体" charset="0"/>
              <a:cs typeface="Songti SC"/>
              <a:sym typeface="Noto Sans SC" panose="020B0200000000000000" charset="-122"/>
            </a:endParaRPr>
          </a:p>
        </p:txBody>
      </p:sp>
      <p:pic>
        <p:nvPicPr>
          <p:cNvPr id="7" name="Picture 4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8200" y="2336040"/>
            <a:ext cx="540000" cy="540000"/>
          </a:xfrm>
          <a:prstGeom prst="rect">
            <a:avLst/>
          </a:prstGeom>
        </p:spPr>
      </p:pic>
      <p:pic>
        <p:nvPicPr>
          <p:cNvPr id="9" name="Picture 7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67500" y="2336040"/>
            <a:ext cx="540000" cy="540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38200" y="4632200"/>
            <a:ext cx="540000" cy="540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667500" y="4632200"/>
            <a:ext cx="540000" cy="540000"/>
          </a:xfrm>
          <a:prstGeom prst="rect">
            <a:avLst/>
          </a:prstGeom>
        </p:spPr>
      </p:pic>
      <p:sp>
        <p:nvSpPr>
          <p:cNvPr id="15" name="AutoShape 2"/>
          <p:cNvSpPr/>
          <p:nvPr/>
        </p:nvSpPr>
        <p:spPr>
          <a:xfrm>
            <a:off x="596900" y="373380"/>
            <a:ext cx="10407650" cy="6045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0" bIns="0" rtlCol="0" anchor="t" anchorCtr="0"/>
          <a:lstStyle/>
          <a:p>
            <a:pPr indent="0" algn="l">
              <a:lnSpc>
                <a:spcPct val="83000"/>
              </a:lnSpc>
              <a:defRPr/>
            </a:pPr>
            <a:r>
              <a:rPr lang="en-US" sz="3000" b="1" i="0" u="none" strike="noStrike">
                <a:solidFill>
                  <a:srgbClr val="B4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   </a:t>
            </a:r>
            <a:r>
              <a:rPr lang="en-US" altLang="zh-CN" sz="2800" b="1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ngti SC"/>
              </a:rPr>
              <a:t>ETHYL LAUROYL ARGINATE HCL</a:t>
            </a:r>
            <a:r>
              <a:rPr lang="zh-CN" altLang="en-US" sz="3000" b="1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ngti SC"/>
              </a:rPr>
              <a:t>核心优势</a:t>
            </a:r>
            <a:endParaRPr lang="zh-CN" altLang="en-US" sz="30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ongti SC"/>
            </a:endParaRPr>
          </a:p>
        </p:txBody>
      </p:sp>
      <p:sp>
        <p:nvSpPr>
          <p:cNvPr id="16" name="菱形 15"/>
          <p:cNvSpPr/>
          <p:nvPr/>
        </p:nvSpPr>
        <p:spPr>
          <a:xfrm>
            <a:off x="596900" y="495300"/>
            <a:ext cx="360000" cy="360000"/>
          </a:xfrm>
          <a:prstGeom prst="diamond">
            <a:avLst/>
          </a:prstGeom>
          <a:solidFill>
            <a:srgbClr val="6CB83A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56565" y="1643380"/>
            <a:ext cx="5194935" cy="48818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25000"/>
              </a:lnSpc>
              <a:spcBef>
                <a:spcPts val="2000"/>
              </a:spcBef>
            </a:pPr>
            <a:r>
              <a:rPr lang="en-US" sz="1600" b="1" i="0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• 美国FDA：</a:t>
            </a:r>
            <a:r>
              <a:rPr lang="en-US" sz="1600" b="0" i="0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cs typeface="Songti SC"/>
                <a:sym typeface="Songti SC"/>
              </a:rPr>
              <a:t>批准为GRAS（公认安全物质），可用于多种食品领域，是食品级安全标准的重要背书</a:t>
            </a:r>
            <a:r>
              <a:rPr lang="zh-CN" altLang="en-US" sz="1600" b="0" i="0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cs typeface="Songti SC"/>
                <a:sym typeface="Songti SC"/>
              </a:rPr>
              <a:t>。</a:t>
            </a:r>
            <a:endParaRPr lang="en-US" sz="1600" b="0" i="0">
              <a:solidFill>
                <a:schemeClr val="tx1"/>
              </a:solidFill>
              <a:latin typeface="Times New Roman" panose="02020603050405020304" charset="0"/>
              <a:ea typeface="宋体简体" charset="0"/>
              <a:cs typeface="Songti SC"/>
              <a:sym typeface="Songti SC"/>
            </a:endParaRPr>
          </a:p>
          <a:p>
            <a:pPr indent="0" algn="just">
              <a:lnSpc>
                <a:spcPct val="125000"/>
              </a:lnSpc>
              <a:spcBef>
                <a:spcPts val="1500"/>
              </a:spcBef>
            </a:pPr>
            <a:r>
              <a:rPr lang="en-US" sz="1600" b="1" i="0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• 欧洲EFSA：</a:t>
            </a:r>
            <a:r>
              <a:rPr lang="en-US" sz="1600" b="0" i="0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cs typeface="Songti SC"/>
                <a:sym typeface="Songti SC"/>
              </a:rPr>
              <a:t>被正式列入欧洲食品添加剂官方目录，获得编号E243，符合欧盟严苛的食品安全标准</a:t>
            </a:r>
            <a:r>
              <a:rPr lang="zh-CN" altLang="en-US" sz="1600" b="0" i="0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cs typeface="Songti SC"/>
                <a:sym typeface="Songti SC"/>
              </a:rPr>
              <a:t>。</a:t>
            </a:r>
            <a:endParaRPr lang="en-US" sz="1600" b="0" i="0">
              <a:solidFill>
                <a:schemeClr val="tx1"/>
              </a:solidFill>
              <a:latin typeface="Times New Roman" panose="02020603050405020304" charset="0"/>
              <a:ea typeface="宋体简体" charset="0"/>
              <a:cs typeface="Songti SC"/>
              <a:sym typeface="Songti SC"/>
            </a:endParaRPr>
          </a:p>
          <a:p>
            <a:pPr indent="0" algn="just">
              <a:lnSpc>
                <a:spcPct val="125000"/>
              </a:lnSpc>
              <a:spcBef>
                <a:spcPts val="1500"/>
              </a:spcBef>
            </a:pPr>
            <a:r>
              <a:rPr lang="en-US" sz="1600" b="1" i="0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• 国际食品法典委员会(CAC)：</a:t>
            </a:r>
            <a:r>
              <a:rPr lang="en-US" sz="1600" b="0" i="0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cs typeface="Songti SC"/>
                <a:sym typeface="Songti SC"/>
              </a:rPr>
              <a:t>批准其作为食品加工助剂使用，确立了其在国际食品领域应用的通用性与合规性</a:t>
            </a:r>
            <a:r>
              <a:rPr lang="zh-CN" altLang="en-US" sz="1600" b="0" i="0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cs typeface="Songti SC"/>
                <a:sym typeface="Songti SC"/>
              </a:rPr>
              <a:t>。</a:t>
            </a:r>
            <a:endParaRPr lang="en-US" sz="1600" b="0" i="0">
              <a:solidFill>
                <a:schemeClr val="tx1"/>
              </a:solidFill>
              <a:latin typeface="Times New Roman" panose="02020603050405020304" charset="0"/>
              <a:ea typeface="宋体简体" charset="0"/>
              <a:cs typeface="Songti SC"/>
              <a:sym typeface="Songti SC"/>
            </a:endParaRPr>
          </a:p>
          <a:p>
            <a:pPr indent="0" algn="just">
              <a:lnSpc>
                <a:spcPct val="125000"/>
              </a:lnSpc>
              <a:spcBef>
                <a:spcPts val="1500"/>
              </a:spcBef>
            </a:pPr>
            <a:r>
              <a:rPr lang="en-US" sz="1600" b="1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600" b="1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cs typeface="Noto Sans SC" panose="020B0200000000000000" charset="-122"/>
                <a:sym typeface="+mn-ea"/>
              </a:rPr>
              <a:t>欧盟委员会</a:t>
            </a:r>
            <a:r>
              <a:rPr lang="en-US" altLang="zh-CN" sz="1600" b="1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cs typeface="Noto Sans SC" panose="020B0200000000000000" charset="-122"/>
                <a:sym typeface="+mn-ea"/>
              </a:rPr>
              <a:t>(EC)</a:t>
            </a:r>
            <a:r>
              <a:rPr lang="en-US" sz="1600" b="1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cs typeface="Noto Sans SC" panose="020B0200000000000000" charset="-122"/>
                <a:sym typeface="+mn-ea"/>
              </a:rPr>
              <a:t>：</a:t>
            </a:r>
            <a:r>
              <a:rPr lang="en-US" altLang="zh-CN" sz="1600" dirty="0">
                <a:solidFill>
                  <a:schemeClr val="tx1"/>
                </a:solidFill>
                <a:effectLst/>
                <a:latin typeface="Times New Roman" panose="02020603050405020304" charset="0"/>
                <a:ea typeface="宋体简体" charset="0"/>
                <a:sym typeface="+mn-ea"/>
              </a:rPr>
              <a:t>2009</a:t>
            </a:r>
            <a:r>
              <a:rPr lang="zh-CN" altLang="en-US" sz="1600" dirty="0">
                <a:solidFill>
                  <a:schemeClr val="tx1"/>
                </a:solidFill>
                <a:effectLst/>
                <a:latin typeface="Times New Roman" panose="02020603050405020304" charset="0"/>
                <a:ea typeface="宋体简体" charset="0"/>
                <a:sym typeface="+mn-ea"/>
              </a:rPr>
              <a:t>年，首次批准</a:t>
            </a:r>
            <a:r>
              <a:rPr lang="en-US" altLang="zh-CN" sz="1600" dirty="0">
                <a:solidFill>
                  <a:schemeClr val="tx1"/>
                </a:solidFill>
                <a:effectLst/>
                <a:latin typeface="Times New Roman" panose="02020603050405020304" charset="0"/>
                <a:ea typeface="宋体简体" charset="0"/>
                <a:sym typeface="+mn-ea"/>
              </a:rPr>
              <a:t>LAE</a:t>
            </a:r>
            <a:r>
              <a:rPr lang="zh-CN" altLang="en-US" sz="1600" dirty="0">
                <a:solidFill>
                  <a:schemeClr val="tx1"/>
                </a:solidFill>
                <a:effectLst/>
                <a:latin typeface="Times New Roman" panose="02020603050405020304" charset="0"/>
                <a:ea typeface="宋体简体" charset="0"/>
                <a:sym typeface="+mn-ea"/>
              </a:rPr>
              <a:t>作为化妆品防腐剂使用</a:t>
            </a:r>
            <a:r>
              <a:rPr lang="en-US" altLang="zh-CN" sz="1600" dirty="0">
                <a:solidFill>
                  <a:schemeClr val="tx1"/>
                </a:solidFill>
                <a:effectLst/>
                <a:latin typeface="Times New Roman" panose="02020603050405020304" charset="0"/>
                <a:ea typeface="宋体简体" charset="0"/>
                <a:sym typeface="+mn-ea"/>
              </a:rPr>
              <a:t>(</a:t>
            </a:r>
            <a:r>
              <a:rPr lang="zh-CN" altLang="en-US" sz="1600" dirty="0">
                <a:solidFill>
                  <a:schemeClr val="tx1"/>
                </a:solidFill>
                <a:effectLst/>
                <a:latin typeface="Times New Roman" panose="02020603050405020304" charset="0"/>
                <a:ea typeface="宋体简体" charset="0"/>
                <a:sym typeface="+mn-ea"/>
              </a:rPr>
              <a:t>唇妆、口腔用品及喷雾除外</a:t>
            </a:r>
            <a:r>
              <a:rPr lang="en-US" altLang="zh-CN" sz="1600" dirty="0">
                <a:solidFill>
                  <a:schemeClr val="tx1"/>
                </a:solidFill>
                <a:effectLst/>
                <a:latin typeface="Times New Roman" panose="02020603050405020304" charset="0"/>
                <a:ea typeface="宋体简体" charset="0"/>
                <a:sym typeface="+mn-ea"/>
              </a:rPr>
              <a:t>)</a:t>
            </a:r>
            <a:r>
              <a:rPr lang="zh-CN" altLang="en-US" sz="1600" dirty="0">
                <a:solidFill>
                  <a:schemeClr val="tx1"/>
                </a:solidFill>
                <a:effectLst/>
                <a:latin typeface="Times New Roman" panose="02020603050405020304" charset="0"/>
                <a:ea typeface="宋体简体" charset="0"/>
                <a:sym typeface="+mn-ea"/>
              </a:rPr>
              <a:t>，常规浓度≤0.4%，肥皂、去屑洗发水及非喷雾除臭剂中最高浓度为 0.8%。</a:t>
            </a:r>
            <a:endParaRPr lang="zh-CN" altLang="en-US" sz="1600" dirty="0">
              <a:solidFill>
                <a:schemeClr val="tx1"/>
              </a:solidFill>
              <a:effectLst/>
              <a:latin typeface="Times New Roman" panose="02020603050405020304" charset="0"/>
              <a:ea typeface="宋体简体" charset="0"/>
              <a:sym typeface="+mn-ea"/>
            </a:endParaRPr>
          </a:p>
          <a:p>
            <a:pPr indent="0" algn="just">
              <a:lnSpc>
                <a:spcPct val="125000"/>
              </a:lnSpc>
              <a:spcBef>
                <a:spcPts val="1500"/>
              </a:spcBef>
            </a:pPr>
            <a:r>
              <a:rPr lang="en-US" sz="1600" b="1" i="0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• 其他国家：</a:t>
            </a:r>
            <a:r>
              <a:rPr lang="en-US" sz="1600" b="0" i="0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cs typeface="Songti SC"/>
                <a:sym typeface="Songti SC"/>
              </a:rPr>
              <a:t>已成功在加拿大、墨西哥、澳大利亚、日本等全球超过20个国家和地区获得相关应用批准，实现全球化合规布局</a:t>
            </a:r>
            <a:r>
              <a:rPr lang="zh-CN" altLang="en-US" sz="1600" b="0" i="0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cs typeface="Songti SC"/>
                <a:sym typeface="Songti SC"/>
              </a:rPr>
              <a:t>。</a:t>
            </a:r>
            <a:endParaRPr lang="zh-CN" altLang="en-US" sz="1600" b="0" i="0">
              <a:solidFill>
                <a:schemeClr val="tx1"/>
              </a:solidFill>
              <a:latin typeface="Times New Roman" panose="02020603050405020304" charset="0"/>
              <a:ea typeface="宋体简体" charset="0"/>
              <a:cs typeface="Songti SC"/>
              <a:sym typeface="Songti SC"/>
            </a:endParaRPr>
          </a:p>
        </p:txBody>
      </p:sp>
      <p:sp>
        <p:nvSpPr>
          <p:cNvPr id="4" name="AutoShape 2"/>
          <p:cNvSpPr/>
          <p:nvPr/>
        </p:nvSpPr>
        <p:spPr>
          <a:xfrm>
            <a:off x="596900" y="373380"/>
            <a:ext cx="9469120" cy="6045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0" bIns="0" rtlCol="0" anchor="t" anchorCtr="0"/>
          <a:lstStyle/>
          <a:p>
            <a:pPr indent="0" algn="l">
              <a:lnSpc>
                <a:spcPct val="83000"/>
              </a:lnSpc>
              <a:defRPr/>
            </a:pPr>
            <a:r>
              <a:rPr lang="en-US" sz="3000" b="1" i="0" u="none" strike="noStrike">
                <a:solidFill>
                  <a:srgbClr val="B4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   </a:t>
            </a:r>
            <a:r>
              <a:rPr lang="en-US" sz="3000" b="1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全球权威认证：安全性与合规性的有力证明</a:t>
            </a:r>
            <a:endParaRPr lang="en-US" sz="3000" b="1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83000"/>
              </a:lnSpc>
              <a:defRPr/>
            </a:pPr>
            <a:endParaRPr lang="en-US" sz="30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ongti SC"/>
            </a:endParaRPr>
          </a:p>
        </p:txBody>
      </p:sp>
      <p:sp>
        <p:nvSpPr>
          <p:cNvPr id="7" name="菱形 6"/>
          <p:cNvSpPr/>
          <p:nvPr/>
        </p:nvSpPr>
        <p:spPr>
          <a:xfrm>
            <a:off x="596900" y="495300"/>
            <a:ext cx="360000" cy="360000"/>
          </a:xfrm>
          <a:prstGeom prst="diamond">
            <a:avLst/>
          </a:prstGeom>
          <a:solidFill>
            <a:srgbClr val="6CB83A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1395" y="1607185"/>
            <a:ext cx="5624830" cy="33280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994400" y="5119370"/>
            <a:ext cx="579818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just">
              <a:lnSpc>
                <a:spcPct val="125000"/>
              </a:lnSpc>
              <a:spcBef>
                <a:spcPts val="1500"/>
              </a:spcBef>
            </a:pPr>
            <a:r>
              <a:rPr lang="en-US" sz="1600" b="1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• 中国NMPA：</a:t>
            </a:r>
            <a:r>
              <a:rPr lang="en-US" sz="1600" b="1">
                <a:solidFill>
                  <a:srgbClr val="C00000"/>
                </a:solidFill>
                <a:latin typeface="Times New Roman" panose="02020603050405020304" charset="0"/>
                <a:ea typeface="宋体简体" charset="0"/>
                <a:cs typeface="Songti SC"/>
                <a:sym typeface="Songti SC"/>
              </a:rPr>
              <a:t>2020年12月，国家药监局正式批准LAE作为化妆品原料使用（2020年第141号公告），为国内市场应用提供了明确的法规依据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ea typeface="宋体简体" charset="0"/>
                <a:cs typeface="Songti SC"/>
                <a:sym typeface="Songti SC"/>
              </a:rPr>
              <a:t>。</a:t>
            </a:r>
            <a:endParaRPr lang="zh-CN" altLang="en-US" sz="1600" b="1">
              <a:solidFill>
                <a:srgbClr val="C00000"/>
              </a:solidFill>
              <a:latin typeface="Times New Roman" panose="02020603050405020304" charset="0"/>
              <a:ea typeface="宋体简体" charset="0"/>
              <a:cs typeface="Songti SC"/>
              <a:sym typeface="Songti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1290320"/>
            <a:ext cx="10160000" cy="3543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92000"/>
              </a:lnSpc>
              <a:defRPr/>
            </a:pPr>
            <a:r>
              <a:rPr lang="en-US" sz="1800" b="0" i="0" u="none" strike="noStrike">
                <a:solidFill>
                  <a:srgbClr val="646A73"/>
                </a:solidFill>
                <a:latin typeface="Songti SC"/>
                <a:ea typeface="Songti SC"/>
                <a:cs typeface="Songti SC"/>
                <a:sym typeface="Songti SC"/>
              </a:rPr>
              <a:t>—— 广谱高效 · 安全温和 · 多功能性 ——</a:t>
            </a:r>
            <a:endParaRPr lang="en-US" sz="1800" b="0" i="0" u="none" strike="noStrike">
              <a:solidFill>
                <a:srgbClr val="646A73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863600" y="2390775"/>
            <a:ext cx="10464800" cy="36614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127000" rIns="88900" bIns="127000" rtlCol="0" anchor="t" anchorCtr="0"/>
          <a:lstStyle/>
          <a:p>
            <a:pPr marL="0" indent="0" algn="just">
              <a:lnSpc>
                <a:spcPct val="117000"/>
              </a:lnSpc>
              <a:buClr>
                <a:srgbClr val="D93025"/>
              </a:buClr>
              <a:buNone/>
              <a:defRPr/>
            </a:pPr>
            <a:r>
              <a:rPr lang="en-US" sz="1800" b="1" i="0">
                <a:solidFill>
                  <a:srgbClr val="D93025"/>
                </a:solidFill>
                <a:latin typeface="Times New Roman" panose="02020603050405020304" charset="0"/>
                <a:ea typeface="宋体简体" charset="0"/>
                <a:cs typeface="Songti SC"/>
                <a:sym typeface="Songti SC"/>
              </a:rPr>
              <a:t>▍ 卓越抑菌：广谱覆盖，高效低量</a:t>
            </a:r>
            <a:endParaRPr lang="en-US" sz="1800" b="1">
              <a:latin typeface="Times New Roman" panose="02020603050405020304" charset="0"/>
              <a:ea typeface="宋体简体" charset="0"/>
            </a:endParaRPr>
          </a:p>
          <a:p>
            <a:pPr indent="0" algn="just">
              <a:lnSpc>
                <a:spcPct val="108000"/>
              </a:lnSpc>
              <a:spcBef>
                <a:spcPts val="400"/>
              </a:spcBef>
            </a:pPr>
            <a:r>
              <a:rPr lang="en-US" sz="1600" i="0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cs typeface="Songti SC"/>
                <a:sym typeface="Songti SC"/>
              </a:rPr>
              <a:t>LAE对革兰氏阳性菌、阴性菌及真菌均展现出优异的抑制活性，尤其在低浓度下即可有效控制多种致病菌与腐败菌的生长，兼具杀菌与抑菌双重功效，为各类产品提供持久稳定的微生物防护。</a:t>
            </a:r>
            <a:endParaRPr lang="en-US" sz="1600" i="0">
              <a:solidFill>
                <a:schemeClr val="tx1"/>
              </a:solidFill>
              <a:latin typeface="Times New Roman" panose="02020603050405020304" charset="0"/>
              <a:ea typeface="宋体简体" charset="0"/>
              <a:cs typeface="Songti SC"/>
              <a:sym typeface="Songti SC"/>
            </a:endParaRPr>
          </a:p>
          <a:p>
            <a:pPr marL="0" indent="0" algn="just">
              <a:lnSpc>
                <a:spcPct val="117000"/>
              </a:lnSpc>
              <a:spcBef>
                <a:spcPts val="1200"/>
              </a:spcBef>
              <a:buClr>
                <a:srgbClr val="D93025"/>
              </a:buClr>
              <a:buNone/>
            </a:pPr>
            <a:r>
              <a:rPr lang="en-US" sz="1800" b="1" i="0">
                <a:solidFill>
                  <a:srgbClr val="D93025"/>
                </a:solidFill>
                <a:latin typeface="Times New Roman" panose="02020603050405020304" charset="0"/>
                <a:ea typeface="宋体简体" charset="0"/>
                <a:cs typeface="Songti SC"/>
                <a:sym typeface="Songti SC"/>
              </a:rPr>
              <a:t>▍ 安全温和：人体友好，生物降解</a:t>
            </a:r>
            <a:endParaRPr lang="en-US" sz="1800" b="1" i="0">
              <a:solidFill>
                <a:srgbClr val="D93025"/>
              </a:solidFill>
              <a:latin typeface="Times New Roman" panose="02020603050405020304" charset="0"/>
              <a:ea typeface="宋体简体" charset="0"/>
              <a:cs typeface="Songti SC"/>
              <a:sym typeface="Songti SC"/>
            </a:endParaRPr>
          </a:p>
          <a:p>
            <a:pPr indent="0" algn="just">
              <a:lnSpc>
                <a:spcPct val="108000"/>
              </a:lnSpc>
              <a:spcBef>
                <a:spcPts val="400"/>
              </a:spcBef>
            </a:pPr>
            <a:r>
              <a:rPr lang="en-US" sz="1600" i="0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cs typeface="Songti SC"/>
                <a:sym typeface="Songti SC"/>
              </a:rPr>
              <a:t>源于天然氨基酸与脂肪酸的合成路径，使其具备极佳的生物相容性，对皮肤与黏膜刺激性极低，符合严苛的化妆品与食品接触级安全标准。同时，在自然环境中可快速生物降解，兼具人体安全与环境友好双重优势。</a:t>
            </a:r>
            <a:endParaRPr lang="en-US" sz="1600" i="0">
              <a:solidFill>
                <a:schemeClr val="tx1"/>
              </a:solidFill>
              <a:latin typeface="Times New Roman" panose="02020603050405020304" charset="0"/>
              <a:ea typeface="宋体简体" charset="0"/>
              <a:cs typeface="Songti SC"/>
              <a:sym typeface="Songti SC"/>
            </a:endParaRPr>
          </a:p>
          <a:p>
            <a:pPr marL="0" indent="0" algn="just">
              <a:lnSpc>
                <a:spcPct val="117000"/>
              </a:lnSpc>
              <a:spcBef>
                <a:spcPts val="1200"/>
              </a:spcBef>
              <a:buClr>
                <a:srgbClr val="D93025"/>
              </a:buClr>
              <a:buNone/>
            </a:pPr>
            <a:r>
              <a:rPr lang="en-US" sz="1800" b="1" i="0">
                <a:solidFill>
                  <a:srgbClr val="D93025"/>
                </a:solidFill>
                <a:latin typeface="Times New Roman" panose="02020603050405020304" charset="0"/>
                <a:ea typeface="宋体简体" charset="0"/>
                <a:cs typeface="Songti SC"/>
                <a:sym typeface="Songti SC"/>
              </a:rPr>
              <a:t>▍ 功能协同：多重优势，适配性强</a:t>
            </a:r>
            <a:endParaRPr lang="en-US" sz="1800" b="1" i="0">
              <a:solidFill>
                <a:srgbClr val="D93025"/>
              </a:solidFill>
              <a:latin typeface="Times New Roman" panose="02020603050405020304" charset="0"/>
              <a:ea typeface="宋体简体" charset="0"/>
              <a:cs typeface="Songti SC"/>
              <a:sym typeface="Songti SC"/>
            </a:endParaRPr>
          </a:p>
          <a:p>
            <a:pPr indent="0" algn="just">
              <a:lnSpc>
                <a:spcPct val="108000"/>
              </a:lnSpc>
              <a:spcBef>
                <a:spcPts val="400"/>
              </a:spcBef>
            </a:pPr>
            <a:r>
              <a:rPr lang="en-US" sz="1600" i="0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cs typeface="Songti SC"/>
                <a:sym typeface="Songti SC"/>
              </a:rPr>
              <a:t>除核心抑菌功能外，还兼具抗静电、乳化及保湿等辅助特性，能与配方中各类表面活性剂、活性成分良好兼容，不影响产品基础质地与功效，可广泛应用于</a:t>
            </a:r>
            <a:r>
              <a:rPr lang="zh-CN" altLang="en-US" sz="1600" i="0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cs typeface="Songti SC"/>
                <a:sym typeface="Songti SC"/>
              </a:rPr>
              <a:t>女性卫生用品、婴儿纸尿裤、成人失禁用品三大核心领域</a:t>
            </a:r>
            <a:r>
              <a:rPr lang="en-US" sz="1600" i="0">
                <a:solidFill>
                  <a:schemeClr val="tx1"/>
                </a:solidFill>
                <a:latin typeface="Times New Roman" panose="02020603050405020304" charset="0"/>
                <a:ea typeface="宋体简体" charset="0"/>
                <a:cs typeface="Songti SC"/>
                <a:sym typeface="Songti SC"/>
              </a:rPr>
              <a:t>。</a:t>
            </a:r>
            <a:endParaRPr lang="en-US" sz="1600" i="0">
              <a:solidFill>
                <a:schemeClr val="tx1"/>
              </a:solidFill>
              <a:latin typeface="Times New Roman" panose="02020603050405020304" charset="0"/>
              <a:ea typeface="宋体简体" charset="0"/>
              <a:cs typeface="Songti SC"/>
              <a:sym typeface="Songti SC"/>
            </a:endParaRPr>
          </a:p>
        </p:txBody>
      </p:sp>
      <p:sp>
        <p:nvSpPr>
          <p:cNvPr id="4" name="AutoShape 2"/>
          <p:cNvSpPr/>
          <p:nvPr/>
        </p:nvSpPr>
        <p:spPr>
          <a:xfrm>
            <a:off x="596900" y="373380"/>
            <a:ext cx="5948045" cy="6045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0" bIns="0" rtlCol="0" anchor="t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3000" b="1" i="0" u="none" strike="noStrike">
                <a:solidFill>
                  <a:srgbClr val="B4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   </a:t>
            </a:r>
            <a:r>
              <a:rPr lang="en-US" sz="3000" b="1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ngti SC"/>
              </a:rPr>
              <a:t>LAE 核心性能与价值解析</a:t>
            </a:r>
            <a:endParaRPr lang="en-US" sz="30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ongti SC"/>
            </a:endParaRPr>
          </a:p>
        </p:txBody>
      </p:sp>
      <p:sp>
        <p:nvSpPr>
          <p:cNvPr id="7" name="菱形 6"/>
          <p:cNvSpPr/>
          <p:nvPr/>
        </p:nvSpPr>
        <p:spPr>
          <a:xfrm>
            <a:off x="596900" y="495300"/>
            <a:ext cx="360000" cy="360000"/>
          </a:xfrm>
          <a:prstGeom prst="diamond">
            <a:avLst/>
          </a:prstGeom>
          <a:solidFill>
            <a:srgbClr val="6CB83A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7880" y="1290320"/>
            <a:ext cx="3574415" cy="14585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utoShape 2"/>
          <p:cNvSpPr/>
          <p:nvPr/>
        </p:nvSpPr>
        <p:spPr>
          <a:xfrm>
            <a:off x="596900" y="373380"/>
            <a:ext cx="5948045" cy="6045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0" bIns="0" rtlCol="0" anchor="t" anchorCtr="0"/>
          <a:lstStyle/>
          <a:p>
            <a:pPr indent="0" algn="l">
              <a:lnSpc>
                <a:spcPct val="83000"/>
              </a:lnSpc>
              <a:defRPr/>
            </a:pPr>
            <a:r>
              <a:rPr lang="en-US" sz="3000" b="1" i="0" u="none" strike="noStrike">
                <a:solidFill>
                  <a:srgbClr val="B4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   </a:t>
            </a:r>
            <a:r>
              <a:rPr lang="en-US" sz="3000" b="1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LAE 抑菌</a:t>
            </a:r>
            <a:r>
              <a:rPr lang="zh-CN" altLang="en-US" sz="3000" b="1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性能</a:t>
            </a:r>
            <a:endParaRPr lang="en-US" sz="30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ongti SC"/>
            </a:endParaRPr>
          </a:p>
        </p:txBody>
      </p:sp>
      <p:sp>
        <p:nvSpPr>
          <p:cNvPr id="21" name="菱形 20"/>
          <p:cNvSpPr/>
          <p:nvPr/>
        </p:nvSpPr>
        <p:spPr>
          <a:xfrm>
            <a:off x="596900" y="495300"/>
            <a:ext cx="360000" cy="360000"/>
          </a:xfrm>
          <a:prstGeom prst="diamond">
            <a:avLst/>
          </a:prstGeom>
          <a:solidFill>
            <a:srgbClr val="6CB83A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988820" y="1269365"/>
            <a:ext cx="821563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406400" algn="just" eaLnBrk="1" fontAlgn="auto" latinLnBrk="0" hangingPunct="1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val="200" checksum="1740828767"/>
                </a:ext>
              </a:extLst>
            </a:pPr>
            <a:r>
              <a:rPr lang="zh-CN" altLang="en-US" sz="1600" b="0" i="0">
                <a:solidFill>
                  <a:srgbClr val="333333"/>
                </a:solidFill>
                <a:uFillTx/>
                <a:latin typeface="Times New Roman" panose="02020603050405020304" charset="0"/>
                <a:ea typeface="宋体简体" charset="0"/>
              </a:rPr>
              <a:t>广谱抗菌活性，能有效抑制革兰氏阴性菌、阳性菌、酵母菌及霉菌。</a:t>
            </a:r>
            <a:endParaRPr lang="zh-CN" altLang="en-US" sz="1600" b="0" i="0">
              <a:solidFill>
                <a:srgbClr val="333333"/>
              </a:solidFill>
              <a:uFillTx/>
              <a:latin typeface="Times New Roman" panose="02020603050405020304" charset="0"/>
              <a:ea typeface="宋体简体" charset="0"/>
            </a:endParaRPr>
          </a:p>
        </p:txBody>
      </p:sp>
      <p:graphicFrame>
        <p:nvGraphicFramePr>
          <p:cNvPr id="26" name="表格 25"/>
          <p:cNvGraphicFramePr/>
          <p:nvPr>
            <p:custDataLst>
              <p:tags r:id="rId1"/>
            </p:custDataLst>
          </p:nvPr>
        </p:nvGraphicFramePr>
        <p:xfrm>
          <a:off x="1987868" y="1804035"/>
          <a:ext cx="8216450" cy="4164905"/>
        </p:xfrm>
        <a:graphic>
          <a:graphicData uri="http://schemas.openxmlformats.org/drawingml/2006/table">
            <a:tbl>
              <a:tblPr firstRow="1">
                <a:tableStyleId>{F20D3BE1-320C-436E-86CD-834242B4EECF}</a:tableStyleId>
              </a:tblPr>
              <a:tblGrid>
                <a:gridCol w="3600000"/>
                <a:gridCol w="4616450"/>
              </a:tblGrid>
              <a:tr h="63690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微生物名称</a:t>
                      </a:r>
                      <a:endParaRPr lang="zh-CN" altLang="en-US" sz="1400" b="1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最小抑菌浓度（</a:t>
                      </a:r>
                      <a:r>
                        <a:rPr lang="en-US" altLang="zh-CN" sz="14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MIC</a:t>
                      </a:r>
                      <a:r>
                        <a:rPr lang="zh-CN" altLang="en-US" sz="14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）（</a:t>
                      </a:r>
                      <a:r>
                        <a:rPr lang="en-US" altLang="zh-CN" sz="14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ppm</a:t>
                      </a:r>
                      <a:r>
                        <a:rPr lang="zh-CN" altLang="en-US" sz="14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）</a:t>
                      </a:r>
                      <a:endParaRPr lang="zh-CN" altLang="en-US" sz="1400" b="1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</a:tr>
              <a:tr h="50400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枯草芽孢杆菌</a:t>
                      </a:r>
                      <a:r>
                        <a:rPr lang="zh-CN" altLang="en-US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（</a:t>
                      </a: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Bac.subtilis</a:t>
                      </a:r>
                      <a:r>
                        <a:rPr lang="zh-CN" altLang="en-US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）</a:t>
                      </a:r>
                      <a:endParaRPr lang="zh-CN" altLang="en-US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15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</a:tr>
              <a:tr h="50400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大肠杆菌</a:t>
                      </a:r>
                      <a:r>
                        <a:rPr lang="zh-CN" altLang="en-US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（</a:t>
                      </a: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E.coli</a:t>
                      </a:r>
                      <a:r>
                        <a:rPr lang="zh-CN" altLang="en-US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）</a:t>
                      </a:r>
                      <a:endParaRPr lang="zh-CN" altLang="en-US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200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</a:tr>
              <a:tr h="50400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铜绿色假单胞菌</a:t>
                      </a:r>
                      <a:r>
                        <a:rPr lang="zh-CN" altLang="en-US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（</a:t>
                      </a: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Ps.aeruginosa</a:t>
                      </a:r>
                      <a:r>
                        <a:rPr lang="zh-CN" altLang="en-US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）</a:t>
                      </a:r>
                      <a:endParaRPr lang="zh-CN" altLang="en-US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200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</a:tr>
              <a:tr h="50400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金黄色葡萄球菌</a:t>
                      </a:r>
                      <a:r>
                        <a:rPr lang="zh-CN" altLang="en-US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（</a:t>
                      </a: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Staph.aureus</a:t>
                      </a:r>
                      <a:r>
                        <a:rPr lang="zh-CN" altLang="en-US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）</a:t>
                      </a:r>
                      <a:endParaRPr lang="zh-CN" altLang="en-US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15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</a:tr>
              <a:tr h="50400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黑曲霉</a:t>
                      </a:r>
                      <a:r>
                        <a:rPr lang="zh-CN" altLang="en-US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（</a:t>
                      </a: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Asp.niger</a:t>
                      </a:r>
                      <a:r>
                        <a:rPr lang="zh-CN" altLang="en-US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）</a:t>
                      </a:r>
                      <a:endParaRPr lang="zh-CN" altLang="en-US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100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</a:tr>
              <a:tr h="50400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4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产黄青霉</a:t>
                      </a:r>
                      <a:r>
                        <a:rPr lang="zh-CN" altLang="en-US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（</a:t>
                      </a: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Pen.chrysogenum</a:t>
                      </a:r>
                      <a:r>
                        <a:rPr lang="zh-CN" altLang="en-US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）</a:t>
                      </a:r>
                      <a:endParaRPr lang="zh-CN" altLang="en-US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200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</a:tr>
              <a:tr h="50400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4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白假丝酵母</a:t>
                      </a:r>
                      <a:r>
                        <a:rPr lang="zh-CN" altLang="en-US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（</a:t>
                      </a: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Can.albicans</a:t>
                      </a:r>
                      <a:r>
                        <a:rPr lang="zh-CN" altLang="en-US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）</a:t>
                      </a:r>
                      <a:endParaRPr lang="zh-CN" altLang="en-US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50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4" name="表格 23"/>
          <p:cNvGraphicFramePr/>
          <p:nvPr>
            <p:custDataLst>
              <p:tags r:id="rId1"/>
            </p:custDataLst>
          </p:nvPr>
        </p:nvGraphicFramePr>
        <p:xfrm>
          <a:off x="1776095" y="1898650"/>
          <a:ext cx="8640000" cy="4510405"/>
        </p:xfrm>
        <a:graphic>
          <a:graphicData uri="http://schemas.openxmlformats.org/drawingml/2006/table">
            <a:tbl>
              <a:tblPr firstRow="1">
                <a:tableStyleId>{F20D3BE1-320C-436E-86CD-834242B4EECF}</a:tableStyleId>
              </a:tblPr>
              <a:tblGrid>
                <a:gridCol w="1440000"/>
                <a:gridCol w="1440000"/>
                <a:gridCol w="1440000"/>
                <a:gridCol w="1440000"/>
                <a:gridCol w="1440000"/>
                <a:gridCol w="1440000"/>
              </a:tblGrid>
              <a:tr h="360000">
                <a:tc row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菌种</a:t>
                      </a:r>
                      <a:endParaRPr lang="zh-CN" altLang="en-US" sz="1400" b="1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抑菌剂</a:t>
                      </a:r>
                      <a:endParaRPr lang="zh-CN" altLang="en-US" sz="1400" b="1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抑菌率</a:t>
                      </a:r>
                      <a:r>
                        <a:rPr lang="en-US" altLang="zh-CN" sz="14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/%</a:t>
                      </a:r>
                      <a:endParaRPr lang="en-US" altLang="zh-CN" sz="1400" b="1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 hMerge="1">
                  <a:tcP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 hMerge="1">
                  <a:tcP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 hMerge="1">
                  <a:tcPr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</a:tr>
              <a:tr h="360000">
                <a:tc vMerge="1">
                  <a:tcPr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 vMerge="1">
                  <a:tcPr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5mg/L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10mg/L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20mg/L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30mg/L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</a:tr>
              <a:tr h="360000">
                <a:tc row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金黄色葡萄球菌</a:t>
                      </a:r>
                      <a:r>
                        <a:rPr lang="zh-CN" altLang="en-US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（</a:t>
                      </a: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ATCC-6538</a:t>
                      </a:r>
                      <a:r>
                        <a:rPr lang="zh-CN" altLang="en-US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）</a:t>
                      </a:r>
                      <a:endParaRPr lang="zh-CN" altLang="en-US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LAE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64.73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89.14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100.00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100.00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</a:tr>
              <a:tr h="360000">
                <a:tc vMerge="1">
                  <a:tcPr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CTAB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78.85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100.00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100.00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100.00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</a:tr>
              <a:tr h="360000">
                <a:tc row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大肠杆菌</a:t>
                      </a:r>
                      <a:r>
                        <a:rPr lang="zh-CN" altLang="en-US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（</a:t>
                      </a: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ATCC-8099</a:t>
                      </a:r>
                      <a:r>
                        <a:rPr lang="zh-CN" altLang="en-US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）</a:t>
                      </a:r>
                      <a:endParaRPr lang="zh-CN" altLang="en-US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LAE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39.31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63.69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100.00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100.00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</a:tr>
              <a:tr h="360000">
                <a:tc vMerge="1">
                  <a:tcPr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CTAB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78.44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100.00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100.00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100.00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</a:tr>
              <a:tr h="360000">
                <a:tc row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枯草杆菌</a:t>
                      </a:r>
                      <a:r>
                        <a:rPr lang="zh-CN" altLang="en-US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（</a:t>
                      </a: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ATCC-6633</a:t>
                      </a:r>
                      <a:r>
                        <a:rPr lang="zh-CN" altLang="en-US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）</a:t>
                      </a:r>
                      <a:endParaRPr lang="zh-CN" altLang="en-US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LAE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53.62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87.73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100.00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100.00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</a:tr>
              <a:tr h="360000">
                <a:tc vMerge="1">
                  <a:tcPr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CTAB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58.15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99.60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100.00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100.00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</a:tr>
              <a:tr h="360000">
                <a:tc row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白色念珠菌</a:t>
                      </a:r>
                      <a:r>
                        <a:rPr lang="zh-CN" altLang="en-US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（</a:t>
                      </a: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ATCC-10231</a:t>
                      </a:r>
                      <a:r>
                        <a:rPr lang="zh-CN" altLang="en-US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）</a:t>
                      </a:r>
                      <a:endParaRPr lang="zh-CN" altLang="en-US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LAE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5.39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45.59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81.43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90.71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</a:tr>
              <a:tr h="360000">
                <a:tc vMerge="1">
                  <a:tcPr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CTAB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93.68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100.00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100.00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100.00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</a:tr>
              <a:tr h="360000">
                <a:tc row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绿脓杆菌</a:t>
                      </a:r>
                      <a:r>
                        <a:rPr lang="zh-CN" altLang="en-US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（</a:t>
                      </a: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ATCC-15442</a:t>
                      </a:r>
                      <a:r>
                        <a:rPr lang="zh-CN" altLang="en-US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）</a:t>
                      </a:r>
                      <a:endParaRPr lang="zh-CN" altLang="en-US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LAE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27.28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63.14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94.15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99.62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</a:tr>
              <a:tr h="360000">
                <a:tc vMerge="1">
                  <a:tcPr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CTAB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82.77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100.00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100.00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简体" charset="0"/>
                        </a:rPr>
                        <a:t>100.00</a:t>
                      </a:r>
                      <a:endParaRPr lang="en-US" altLang="zh-CN" sz="14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简体" charset="0"/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rgbClr val="33AEC4"/>
                      </a:solidFill>
                      <a:prstDash val="solid"/>
                    </a:lnL>
                    <a:lnR w="12700" cmpd="sng">
                      <a:solidFill>
                        <a:srgbClr val="33AEC4"/>
                      </a:solidFill>
                      <a:prstDash val="solid"/>
                    </a:lnR>
                    <a:lnT w="12700" cmpd="sng">
                      <a:solidFill>
                        <a:srgbClr val="33AEC4"/>
                      </a:solidFill>
                      <a:prstDash val="solid"/>
                    </a:lnT>
                    <a:lnB w="12700" cmpd="sng">
                      <a:solidFill>
                        <a:srgbClr val="33AEC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5" name="文本框 24"/>
          <p:cNvSpPr txBox="1"/>
          <p:nvPr/>
        </p:nvSpPr>
        <p:spPr>
          <a:xfrm>
            <a:off x="1366203" y="1136650"/>
            <a:ext cx="9459595" cy="69469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406400" algn="just" eaLnBrk="1" fontAlgn="auto" latinLnBrk="0" hangingPunct="1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val="200" checksum="1740828767"/>
                </a:ext>
              </a:extLst>
            </a:pPr>
            <a:r>
              <a:rPr lang="zh-CN" altLang="en-US" sz="1600" b="0" i="0">
                <a:solidFill>
                  <a:schemeClr val="tx1"/>
                </a:solidFill>
                <a:uFillTx/>
                <a:latin typeface="Times New Roman" panose="02020603050405020304" charset="0"/>
                <a:ea typeface="宋体简体" charset="0"/>
              </a:rPr>
              <a:t>研究发现</a:t>
            </a:r>
            <a:r>
              <a:rPr lang="en-US" altLang="zh-CN" sz="1600" b="0" i="0">
                <a:solidFill>
                  <a:schemeClr val="tx1"/>
                </a:solidFill>
                <a:uFillTx/>
                <a:latin typeface="Times New Roman" panose="02020603050405020304" charset="0"/>
                <a:ea typeface="宋体简体" charset="0"/>
              </a:rPr>
              <a:t>LAE</a:t>
            </a:r>
            <a:r>
              <a:rPr lang="zh-CN" altLang="en-US" sz="1600" b="0" i="0">
                <a:solidFill>
                  <a:schemeClr val="tx1"/>
                </a:solidFill>
                <a:uFillTx/>
                <a:latin typeface="Times New Roman" panose="02020603050405020304" charset="0"/>
                <a:ea typeface="宋体简体" charset="0"/>
              </a:rPr>
              <a:t>对金黄色葡萄球菌、大肠杆菌、枯草杆菌、白色念珠菌、绿脓杆菌都有较好的抑菌效果且</a:t>
            </a:r>
            <a:r>
              <a:rPr lang="en-US" altLang="zh-CN" sz="1600" b="0" i="0">
                <a:solidFill>
                  <a:schemeClr val="tx1"/>
                </a:solidFill>
                <a:uFillTx/>
                <a:latin typeface="Times New Roman" panose="02020603050405020304" charset="0"/>
                <a:ea typeface="宋体简体" charset="0"/>
              </a:rPr>
              <a:t>LAE</a:t>
            </a:r>
            <a:r>
              <a:rPr lang="zh-CN" altLang="en-US" sz="1600" b="0" i="0">
                <a:solidFill>
                  <a:schemeClr val="tx1"/>
                </a:solidFill>
                <a:uFillTx/>
                <a:latin typeface="Times New Roman" panose="02020603050405020304" charset="0"/>
                <a:ea typeface="宋体简体" charset="0"/>
              </a:rPr>
              <a:t>质量浓度在</a:t>
            </a:r>
            <a:r>
              <a:rPr lang="en-US" altLang="zh-CN" sz="1600" b="0" i="0">
                <a:solidFill>
                  <a:schemeClr val="tx1"/>
                </a:solidFill>
                <a:uFillTx/>
                <a:latin typeface="Times New Roman" panose="02020603050405020304" charset="0"/>
                <a:ea typeface="宋体简体" charset="0"/>
              </a:rPr>
              <a:t>30mg/L</a:t>
            </a:r>
            <a:r>
              <a:rPr lang="zh-CN" altLang="en-US" sz="1600" b="0" i="0">
                <a:solidFill>
                  <a:schemeClr val="tx1"/>
                </a:solidFill>
                <a:uFillTx/>
                <a:latin typeface="Times New Roman" panose="02020603050405020304" charset="0"/>
                <a:ea typeface="宋体简体" charset="0"/>
              </a:rPr>
              <a:t>时，对上述菌的抑制率达</a:t>
            </a:r>
            <a:r>
              <a:rPr lang="en-US" altLang="zh-CN" sz="1600" b="0" i="0">
                <a:solidFill>
                  <a:schemeClr val="tx1"/>
                </a:solidFill>
                <a:uFillTx/>
                <a:latin typeface="Times New Roman" panose="02020603050405020304" charset="0"/>
                <a:ea typeface="宋体简体" charset="0"/>
              </a:rPr>
              <a:t>90%</a:t>
            </a:r>
            <a:r>
              <a:rPr lang="zh-CN" altLang="en-US" sz="1600" b="0" i="0">
                <a:solidFill>
                  <a:schemeClr val="tx1"/>
                </a:solidFill>
                <a:uFillTx/>
                <a:latin typeface="Times New Roman" panose="02020603050405020304" charset="0"/>
                <a:ea typeface="宋体简体" charset="0"/>
              </a:rPr>
              <a:t>以上（如下表）。</a:t>
            </a:r>
            <a:endParaRPr lang="zh-CN" altLang="en-US" sz="1600" b="0" i="0">
              <a:solidFill>
                <a:schemeClr val="tx1"/>
              </a:solidFill>
              <a:uFillTx/>
              <a:latin typeface="Times New Roman" panose="02020603050405020304" charset="0"/>
              <a:ea typeface="宋体简体" charset="0"/>
            </a:endParaRPr>
          </a:p>
        </p:txBody>
      </p:sp>
      <p:sp>
        <p:nvSpPr>
          <p:cNvPr id="20" name="AutoShape 2"/>
          <p:cNvSpPr/>
          <p:nvPr/>
        </p:nvSpPr>
        <p:spPr>
          <a:xfrm>
            <a:off x="596900" y="373380"/>
            <a:ext cx="5948045" cy="6045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0" bIns="0" rtlCol="0" anchor="t" anchorCtr="0"/>
          <a:lstStyle/>
          <a:p>
            <a:pPr indent="0" algn="l">
              <a:lnSpc>
                <a:spcPct val="83000"/>
              </a:lnSpc>
              <a:defRPr/>
            </a:pPr>
            <a:r>
              <a:rPr lang="en-US" sz="3000" b="1" i="0" u="none" strike="noStrike">
                <a:solidFill>
                  <a:srgbClr val="B4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   </a:t>
            </a:r>
            <a:r>
              <a:rPr lang="en-US" sz="3000" b="1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LAE 抑菌</a:t>
            </a:r>
            <a:r>
              <a:rPr lang="zh-CN" altLang="en-US" sz="3000" b="1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数据表</a:t>
            </a:r>
            <a:endParaRPr lang="en-US" sz="30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ongti SC"/>
            </a:endParaRPr>
          </a:p>
        </p:txBody>
      </p:sp>
      <p:sp>
        <p:nvSpPr>
          <p:cNvPr id="21" name="菱形 20"/>
          <p:cNvSpPr/>
          <p:nvPr/>
        </p:nvSpPr>
        <p:spPr>
          <a:xfrm>
            <a:off x="596900" y="495300"/>
            <a:ext cx="360000" cy="360000"/>
          </a:xfrm>
          <a:prstGeom prst="diamond">
            <a:avLst/>
          </a:prstGeom>
          <a:solidFill>
            <a:srgbClr val="6CB83A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584200" y="1697785"/>
            <a:ext cx="5220000" cy="1800000"/>
          </a:xfrm>
          <a:prstGeom prst="roundRect">
            <a:avLst>
              <a:gd name="adj" fmla="val 4324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833270" y="1698625"/>
            <a:ext cx="4721860" cy="18040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spcAft>
                <a:spcPts val="1000"/>
              </a:spcAft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低毒性</a:t>
            </a:r>
            <a:endParaRPr lang="en-US" sz="1800" b="1"/>
          </a:p>
          <a:p>
            <a:pPr indent="0" algn="just">
              <a:lnSpc>
                <a:spcPct val="117000"/>
              </a:lnSpc>
            </a:pPr>
            <a:r>
              <a:rPr lang="en-US" sz="1600" b="0" i="0">
                <a:solidFill>
                  <a:srgbClr val="374151"/>
                </a:solidFill>
                <a:uFillTx/>
                <a:latin typeface="Calibri" panose="020F05020202040302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急性经口毒性（大鼠）LD50 &gt; 1,800 mg/kg；急性经皮毒性（大鼠）LD50 &gt; 1,802 mg/kg，经权威毒理学测试判定，属于低毒物质，安全性基础扎实。</a:t>
            </a:r>
            <a:endParaRPr lang="en-US" sz="1600" b="0" i="0">
              <a:solidFill>
                <a:srgbClr val="374151"/>
              </a:solidFill>
              <a:uFillTx/>
              <a:latin typeface="Calibri" panose="020F0502020204030204" charset="0"/>
              <a:ea typeface="宋体简体" charset="0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6388100" y="1697785"/>
            <a:ext cx="5220000" cy="1800000"/>
          </a:xfrm>
          <a:prstGeom prst="roundRect">
            <a:avLst>
              <a:gd name="adj" fmla="val 4324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6636217" y="1699260"/>
            <a:ext cx="4723765" cy="17983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spcAft>
                <a:spcPts val="1000"/>
              </a:spcAft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无刺激性与致敏性</a:t>
            </a:r>
            <a:endParaRPr lang="en-US" sz="1800" b="1"/>
          </a:p>
          <a:p>
            <a:pPr indent="0" algn="just">
              <a:lnSpc>
                <a:spcPct val="117000"/>
              </a:lnSpc>
            </a:pPr>
            <a:r>
              <a:rPr lang="en-US" sz="1600" b="0" i="0">
                <a:solidFill>
                  <a:srgbClr val="374151"/>
                </a:solidFill>
                <a:uFillTx/>
                <a:latin typeface="Calibri" panose="020F05020202040302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在日常产品应用的正常使用浓度下，对人体皮肤和眼部黏膜均无刺激性，且无接触性致敏风险，对敏感人群同样友好。</a:t>
            </a:r>
            <a:endParaRPr lang="en-US" sz="1600" b="0" i="0">
              <a:solidFill>
                <a:srgbClr val="374151"/>
              </a:solidFill>
              <a:uFillTx/>
              <a:latin typeface="Calibri" panose="020F0502020204030204" charset="0"/>
              <a:ea typeface="宋体简体" charset="0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584200" y="3802810"/>
            <a:ext cx="5220000" cy="1800000"/>
          </a:xfrm>
          <a:prstGeom prst="roundRect">
            <a:avLst>
              <a:gd name="adj" fmla="val 4324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832317" y="3803650"/>
            <a:ext cx="4723765" cy="17989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spcAft>
                <a:spcPts val="1000"/>
              </a:spcAft>
              <a:defRPr/>
            </a:pPr>
            <a:r>
              <a:rPr lang="en-US" sz="1800" b="1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/ 无遗传毒性</a:t>
            </a:r>
            <a:endParaRPr lang="en-US" sz="1800" b="1"/>
          </a:p>
          <a:p>
            <a:pPr algn="just">
              <a:lnSpc>
                <a:spcPct val="117000"/>
              </a:lnSpc>
              <a:buSzTx/>
            </a:pPr>
            <a:r>
              <a:rPr lang="en-US" sz="1600" b="0" i="0" u="none" strike="noStrike">
                <a:solidFill>
                  <a:srgbClr val="374151"/>
                </a:solidFill>
                <a:uFillTx/>
                <a:latin typeface="Calibri" panose="020F05020202040302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多项严谨的毒理学体内外研究一致表明：LAE无致突变性、无致畸性、无致癌性，从基因层面消除了长期使用的潜在健康隐患。</a:t>
            </a:r>
            <a:endParaRPr lang="en-US" sz="1600" b="0" i="0" u="none" strike="noStrike">
              <a:solidFill>
                <a:srgbClr val="374151"/>
              </a:solidFill>
              <a:uFillTx/>
              <a:latin typeface="Calibri" panose="020F0502020204030204" charset="0"/>
              <a:ea typeface="宋体简体" charset="0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6388100" y="3802810"/>
            <a:ext cx="5220000" cy="1800000"/>
          </a:xfrm>
          <a:prstGeom prst="roundRect">
            <a:avLst>
              <a:gd name="adj" fmla="val 4324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6636217" y="3803015"/>
            <a:ext cx="4723765" cy="17995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spcAft>
                <a:spcPts val="1000"/>
              </a:spcAft>
              <a:defRPr/>
            </a:pPr>
            <a:r>
              <a:rPr lang="en-US" sz="18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/ 快速代谢无累积</a:t>
            </a:r>
            <a:endParaRPr lang="en-US" sz="1800" b="1"/>
          </a:p>
          <a:p>
            <a:pPr algn="just">
              <a:lnSpc>
                <a:spcPct val="117000"/>
              </a:lnSpc>
              <a:buSzTx/>
            </a:pPr>
            <a:r>
              <a:rPr lang="en-US" sz="1600" b="0" i="0" u="none" strike="noStrike">
                <a:solidFill>
                  <a:srgbClr val="374151"/>
                </a:solidFill>
                <a:uFillTx/>
                <a:latin typeface="Calibri" panose="020F05020202040302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进入人体后能快速代谢分解为月桂酸、乙醇和精氨酸。这些均为人体自身含有或日常可安全代谢的常见物质，在体内无残留、无生物累积风险。</a:t>
            </a:r>
            <a:endParaRPr lang="en-US" sz="1600" b="0" i="0" u="none" strike="noStrike">
              <a:solidFill>
                <a:srgbClr val="374151"/>
              </a:solidFill>
              <a:uFillTx/>
              <a:latin typeface="Calibri" panose="020F0502020204030204" charset="0"/>
              <a:ea typeface="宋体简体" charset="0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2"/>
          <p:cNvSpPr/>
          <p:nvPr/>
        </p:nvSpPr>
        <p:spPr>
          <a:xfrm>
            <a:off x="596900" y="373380"/>
            <a:ext cx="8592185" cy="6045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0" bIns="0" rtlCol="0" anchor="t" anchorCtr="0"/>
          <a:lstStyle/>
          <a:p>
            <a:pPr indent="0" algn="l">
              <a:lnSpc>
                <a:spcPct val="83000"/>
              </a:lnSpc>
              <a:defRPr/>
            </a:pPr>
            <a:r>
              <a:rPr lang="en-US" sz="3000" b="1" i="0" u="none" strike="noStrike">
                <a:solidFill>
                  <a:srgbClr val="B4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   </a:t>
            </a:r>
            <a:r>
              <a:rPr lang="zh-CN" altLang="en-US" sz="30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四大安全保障：筑牢产品信任基石</a:t>
            </a:r>
            <a:endParaRPr lang="zh-CN" altLang="en-US" sz="30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</p:txBody>
      </p:sp>
      <p:sp>
        <p:nvSpPr>
          <p:cNvPr id="12" name="菱形 11"/>
          <p:cNvSpPr/>
          <p:nvPr/>
        </p:nvSpPr>
        <p:spPr>
          <a:xfrm>
            <a:off x="596900" y="495300"/>
            <a:ext cx="360000" cy="360000"/>
          </a:xfrm>
          <a:prstGeom prst="diamond">
            <a:avLst/>
          </a:prstGeom>
          <a:solidFill>
            <a:srgbClr val="6CB83A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75970" y="1264285"/>
            <a:ext cx="4826000" cy="6851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 eaLnBrk="1" fontAlgn="auto" latinLnBrk="0" hangingPunct="1">
              <a:lnSpc>
                <a:spcPct val="135000"/>
              </a:lnSpc>
            </a:pPr>
            <a:r>
              <a:rPr lang="en-US" sz="2000" b="1" i="0">
                <a:solidFill>
                  <a:srgbClr val="FF0000"/>
                </a:solidFill>
                <a:latin typeface="Times New Roman" panose="020206030504050203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超越抑菌的附加价值</a:t>
            </a:r>
            <a:endParaRPr lang="en-US" sz="2000" b="1" i="0">
              <a:solidFill>
                <a:srgbClr val="FF0000"/>
              </a:solidFill>
              <a:latin typeface="Times New Roman" panose="02020603050405020304" charset="0"/>
              <a:ea typeface="宋体简体" charset="0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75970" y="2235819"/>
            <a:ext cx="3148014" cy="3796681"/>
          </a:xfrm>
          <a:prstGeom prst="roundRect">
            <a:avLst>
              <a:gd name="adj" fmla="val 4615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1018059" y="2560075"/>
            <a:ext cx="2663835" cy="314816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2000" b="1" i="0">
                <a:solidFill>
                  <a:srgbClr val="D92D20"/>
                </a:solidFill>
                <a:latin typeface="Times New Roman" panose="020206030504050203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强效除臭</a:t>
            </a:r>
            <a:endParaRPr lang="en-US" sz="2000" b="1" i="0">
              <a:solidFill>
                <a:srgbClr val="D92D20"/>
              </a:solidFill>
              <a:latin typeface="Times New Roman" panose="02020603050405020304" charset="0"/>
              <a:ea typeface="宋体简体" charset="0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17000"/>
              </a:lnSpc>
              <a:defRPr/>
            </a:pPr>
            <a:endParaRPr lang="en-US" sz="2000" b="1" i="0">
              <a:solidFill>
                <a:srgbClr val="D92D20"/>
              </a:solidFill>
              <a:latin typeface="Times New Roman" panose="02020603050405020304" charset="0"/>
              <a:ea typeface="宋体简体" charset="0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just" eaLnBrk="1" fontAlgn="auto" latinLnBrk="0" hangingPunct="1">
              <a:lnSpc>
                <a:spcPct val="125000"/>
              </a:lnSpc>
              <a:defRPr/>
            </a:pPr>
            <a:r>
              <a:rPr lang="en-US" sz="1600" b="0" i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宋体简体" charset="0"/>
                <a:cs typeface="Songti SC"/>
                <a:sym typeface="Songti SC"/>
              </a:rPr>
              <a:t>从根源上抑制异味微生物的生长繁殖，减少异味产生</a:t>
            </a:r>
            <a:r>
              <a:rPr lang="zh-CN" altLang="en-US" sz="1600" b="0" i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宋体简体" charset="0"/>
                <a:cs typeface="Songti SC"/>
                <a:sym typeface="Songti SC"/>
              </a:rPr>
              <a:t>；</a:t>
            </a:r>
            <a:r>
              <a:rPr lang="en-US" sz="1600" b="0" i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宋体简体" charset="0"/>
                <a:cs typeface="Songti SC"/>
                <a:sym typeface="Songti SC"/>
              </a:rPr>
              <a:t>同时结合其表面活性特性，吸附并分解异味分子，</a:t>
            </a:r>
            <a:r>
              <a:rPr lang="zh-CN" altLang="en-US" sz="1600" b="0" i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宋体简体" charset="0"/>
                <a:cs typeface="Songti SC"/>
                <a:sym typeface="Songti SC"/>
              </a:rPr>
              <a:t>精准解决女性经期、婴儿排泄及成人失禁场景下的异味困扰，显著提升产品使用体验与用户满意度</a:t>
            </a:r>
            <a:r>
              <a:rPr lang="en-US" sz="1600" b="0" i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宋体简体" charset="0"/>
                <a:cs typeface="Songti SC"/>
                <a:sym typeface="Songti SC"/>
              </a:rPr>
              <a:t>。</a:t>
            </a:r>
            <a:endParaRPr lang="en-US" sz="1600" b="0" i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charset="0"/>
              <a:ea typeface="宋体简体" charset="0"/>
              <a:cs typeface="Songti SC"/>
              <a:sym typeface="Songti SC"/>
            </a:endParaR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4521835" y="2235200"/>
            <a:ext cx="3148014" cy="3797300"/>
          </a:xfrm>
          <a:prstGeom prst="roundRect">
            <a:avLst>
              <a:gd name="adj" fmla="val 4615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4763924" y="2559765"/>
            <a:ext cx="2663835" cy="314816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2000" b="1" i="0">
                <a:solidFill>
                  <a:srgbClr val="D92D20"/>
                </a:solidFill>
                <a:latin typeface="Times New Roman" panose="020206030504050203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抗静电性能</a:t>
            </a:r>
            <a:endParaRPr lang="en-US" sz="2000" b="1" i="0">
              <a:solidFill>
                <a:srgbClr val="D92D20"/>
              </a:solidFill>
              <a:latin typeface="Times New Roman" panose="02020603050405020304" charset="0"/>
              <a:ea typeface="宋体简体" charset="0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17000"/>
              </a:lnSpc>
              <a:defRPr/>
            </a:pPr>
            <a:endParaRPr lang="en-US" sz="2000" b="1" i="0">
              <a:solidFill>
                <a:srgbClr val="D92D20"/>
              </a:solidFill>
              <a:latin typeface="Times New Roman" panose="02020603050405020304" charset="0"/>
              <a:ea typeface="宋体简体" charset="0"/>
              <a:cs typeface="Noto Sans SC" panose="020B0200000000000000" charset="-122"/>
              <a:sym typeface="Noto Sans SC" panose="020B0200000000000000" charset="-122"/>
            </a:endParaRPr>
          </a:p>
          <a:p>
            <a:pPr algn="just">
              <a:lnSpc>
                <a:spcPct val="125000"/>
              </a:lnSpc>
              <a:buSzTx/>
              <a:defRPr/>
            </a:pPr>
            <a:r>
              <a:rPr lang="en-US" sz="1600" b="0" i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宋体简体" charset="0"/>
                <a:cs typeface="Songti SC"/>
                <a:sym typeface="Songti SC"/>
              </a:rPr>
              <a:t>作为阳离子表面活性剂，</a:t>
            </a:r>
            <a:r>
              <a:rPr lang="zh-CN" altLang="en-US" sz="1600" b="0" i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宋体简体" charset="0"/>
                <a:cs typeface="Songti SC"/>
                <a:sym typeface="Songti SC"/>
              </a:rPr>
              <a:t>可有效吸附在卫生巾、纸尿裤的无纺布等高分子材料表面，中和并减少静电积聚，改善材料手感，避免使用过程中的静电吸附、粘肤问题，提升产品使用的便利性与亲肤舒适度。</a:t>
            </a:r>
            <a:endParaRPr lang="en-US" sz="1600" b="0" i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charset="0"/>
              <a:ea typeface="宋体简体" charset="0"/>
              <a:cs typeface="Songti SC"/>
              <a:sym typeface="Songti SC"/>
            </a:endParaRPr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8242300" y="2235819"/>
            <a:ext cx="3148014" cy="3796681"/>
          </a:xfrm>
          <a:prstGeom prst="roundRect">
            <a:avLst>
              <a:gd name="adj" fmla="val 4615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8484389" y="2560075"/>
            <a:ext cx="2663835" cy="314816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2000" b="1" i="0">
                <a:solidFill>
                  <a:srgbClr val="D92D20"/>
                </a:solidFill>
                <a:latin typeface="Times New Roman" panose="020206030504050203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表面活性</a:t>
            </a:r>
            <a:endParaRPr lang="en-US" sz="2000" b="1" i="0">
              <a:solidFill>
                <a:srgbClr val="D92D20"/>
              </a:solidFill>
              <a:latin typeface="Times New Roman" panose="02020603050405020304" charset="0"/>
              <a:ea typeface="宋体简体" charset="0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17000"/>
              </a:lnSpc>
              <a:defRPr/>
            </a:pPr>
            <a:endParaRPr lang="en-US" sz="2000" b="1" i="0">
              <a:solidFill>
                <a:srgbClr val="D92D20"/>
              </a:solidFill>
              <a:latin typeface="Times New Roman" panose="02020603050405020304" charset="0"/>
              <a:ea typeface="宋体简体" charset="0"/>
              <a:cs typeface="Noto Sans SC" panose="020B0200000000000000" charset="-122"/>
              <a:sym typeface="Noto Sans SC" panose="020B0200000000000000" charset="-122"/>
            </a:endParaRPr>
          </a:p>
          <a:p>
            <a:pPr algn="just">
              <a:lnSpc>
                <a:spcPct val="125000"/>
              </a:lnSpc>
              <a:buSzTx/>
              <a:defRPr/>
            </a:pPr>
            <a:r>
              <a:rPr lang="zh-CN" altLang="en-US" sz="1600" b="0" i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宋体简体" charset="0"/>
                <a:cs typeface="Songti SC"/>
                <a:sym typeface="Songti SC"/>
              </a:rPr>
              <a:t>具备优异的乳化分散与润湿渗透性能，可帮助活性成分更好地附着在卫生用品纤维表面，提升抑菌、祛味成分的持效性；同时可优化产品加工过程中的配方稳定性，为功能型卫生用品的研发提供协同增效的解决方案。</a:t>
            </a:r>
            <a:endParaRPr lang="en-US" sz="1600" b="0" i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charset="0"/>
              <a:ea typeface="宋体简体" charset="0"/>
              <a:cs typeface="Songti SC"/>
              <a:sym typeface="Songti SC"/>
            </a:endParaRPr>
          </a:p>
        </p:txBody>
      </p:sp>
      <p:sp>
        <p:nvSpPr>
          <p:cNvPr id="11" name="菱形 10"/>
          <p:cNvSpPr/>
          <p:nvPr/>
        </p:nvSpPr>
        <p:spPr>
          <a:xfrm>
            <a:off x="596900" y="495300"/>
            <a:ext cx="360000" cy="360000"/>
          </a:xfrm>
          <a:prstGeom prst="diamond">
            <a:avLst/>
          </a:prstGeom>
          <a:solidFill>
            <a:srgbClr val="6CB83A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AutoShape 2"/>
          <p:cNvSpPr/>
          <p:nvPr/>
        </p:nvSpPr>
        <p:spPr>
          <a:xfrm>
            <a:off x="596900" y="373380"/>
            <a:ext cx="8361680" cy="6045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0" bIns="0" rtlCol="0" anchor="t" anchorCtr="0"/>
          <a:lstStyle/>
          <a:p>
            <a:pPr indent="0" algn="l">
              <a:lnSpc>
                <a:spcPct val="83000"/>
              </a:lnSpc>
              <a:defRPr/>
            </a:pPr>
            <a:r>
              <a:rPr lang="en-US" sz="3000" b="1" i="0" u="none" strike="noStrike">
                <a:solidFill>
                  <a:srgbClr val="B4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   </a:t>
            </a:r>
            <a:r>
              <a:rPr lang="zh-CN" altLang="en-US" sz="30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ngti SC"/>
              </a:rPr>
              <a:t>独特的多功能性</a:t>
            </a:r>
            <a:r>
              <a:rPr lang="en-US" altLang="zh-CN" sz="30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ngti SC"/>
              </a:rPr>
              <a:t>—</a:t>
            </a:r>
            <a:r>
              <a:rPr lang="zh-CN" altLang="en-US" sz="30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ngti SC"/>
              </a:rPr>
              <a:t>附加价值</a:t>
            </a:r>
            <a:endParaRPr lang="zh-CN" altLang="en-US" sz="30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ongti S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7"/>
          <p:cNvSpPr/>
          <p:nvPr>
            <p:custDataLst>
              <p:tags r:id="rId1"/>
            </p:custDataLst>
          </p:nvPr>
        </p:nvSpPr>
        <p:spPr>
          <a:xfrm>
            <a:off x="703580" y="1935275"/>
            <a:ext cx="5040000" cy="1800000"/>
          </a:xfrm>
          <a:prstGeom prst="roundRect">
            <a:avLst>
              <a:gd name="adj" fmla="val 4324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7"/>
          <p:cNvSpPr/>
          <p:nvPr>
            <p:custDataLst>
              <p:tags r:id="rId2"/>
            </p:custDataLst>
          </p:nvPr>
        </p:nvSpPr>
        <p:spPr>
          <a:xfrm>
            <a:off x="6447155" y="4083480"/>
            <a:ext cx="5040000" cy="1800000"/>
          </a:xfrm>
          <a:prstGeom prst="roundRect">
            <a:avLst>
              <a:gd name="adj" fmla="val 4324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7"/>
          <p:cNvSpPr/>
          <p:nvPr>
            <p:custDataLst>
              <p:tags r:id="rId3"/>
            </p:custDataLst>
          </p:nvPr>
        </p:nvSpPr>
        <p:spPr>
          <a:xfrm>
            <a:off x="703580" y="4083480"/>
            <a:ext cx="5040000" cy="1800000"/>
          </a:xfrm>
          <a:prstGeom prst="roundRect">
            <a:avLst>
              <a:gd name="adj" fmla="val 4324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7"/>
          <p:cNvSpPr/>
          <p:nvPr>
            <p:custDataLst>
              <p:tags r:id="rId4"/>
            </p:custDataLst>
          </p:nvPr>
        </p:nvSpPr>
        <p:spPr>
          <a:xfrm>
            <a:off x="6447155" y="1935275"/>
            <a:ext cx="5040000" cy="1800000"/>
          </a:xfrm>
          <a:prstGeom prst="roundRect">
            <a:avLst>
              <a:gd name="adj" fmla="val 4324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" name="AutoShape 2"/>
          <p:cNvSpPr/>
          <p:nvPr/>
        </p:nvSpPr>
        <p:spPr>
          <a:xfrm>
            <a:off x="703580" y="1086485"/>
            <a:ext cx="10820400" cy="7404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>
                <a:solidFill>
                  <a:srgbClr val="1E40AF"/>
                </a:solidFill>
                <a:uFillTx/>
                <a:latin typeface="Times New Roman" panose="020206030504050203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LAE：为您的产品注入核心竞争力</a:t>
            </a:r>
            <a:endParaRPr lang="en-US" sz="2400" b="1" i="0">
              <a:solidFill>
                <a:srgbClr val="1E40AF"/>
              </a:solidFill>
              <a:uFillTx/>
              <a:latin typeface="Times New Roman" panose="02020603050405020304" charset="0"/>
              <a:ea typeface="宋体简体" charset="0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4560" y="2581275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>
            <p:custDataLst>
              <p:tags r:id="rId8"/>
            </p:custDataLst>
          </p:nvPr>
        </p:nvSpPr>
        <p:spPr>
          <a:xfrm>
            <a:off x="1590680" y="2009775"/>
            <a:ext cx="3937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2000" b="1" i="0">
                <a:solidFill>
                  <a:srgbClr val="1E40AF"/>
                </a:solidFill>
                <a:latin typeface="Calibri" panose="020F05020202040302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解决核心痛点</a:t>
            </a:r>
            <a:endParaRPr lang="en-US" sz="2000" b="1">
              <a:latin typeface="Calibri" panose="020F0502020204030204" charset="0"/>
              <a:ea typeface="宋体简体" charset="0"/>
            </a:endParaRPr>
          </a:p>
          <a:p>
            <a:pPr indent="0" algn="just">
              <a:lnSpc>
                <a:spcPct val="125000"/>
              </a:lnSpc>
              <a:spcBef>
                <a:spcPts val="1000"/>
              </a:spcBef>
            </a:pPr>
            <a:r>
              <a:rPr lang="en-US" sz="1600" i="0">
                <a:solidFill>
                  <a:schemeClr val="tx1"/>
                </a:solidFill>
                <a:latin typeface="Calibri" panose="020F05020202040302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有效抑制微生物，强力控制异味，解决产品卫生与感官两大难题，从根源上提升产品核心功能体验。</a:t>
            </a:r>
            <a:endParaRPr lang="en-US" sz="1600" i="0">
              <a:solidFill>
                <a:schemeClr val="tx1"/>
              </a:solidFill>
              <a:latin typeface="Calibri" panose="020F0502020204030204" charset="0"/>
              <a:ea typeface="宋体简体" charset="0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87185" y="2581275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12"/>
            </p:custDataLst>
          </p:nvPr>
        </p:nvSpPr>
        <p:spPr>
          <a:xfrm>
            <a:off x="7334255" y="2009775"/>
            <a:ext cx="3937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2000" b="1" i="0">
                <a:solidFill>
                  <a:srgbClr val="065F46"/>
                </a:solidFill>
                <a:latin typeface="Calibri" panose="020F05020202040302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提升产品价值</a:t>
            </a:r>
            <a:endParaRPr lang="en-US" sz="2000" b="1">
              <a:latin typeface="Calibri" panose="020F0502020204030204" charset="0"/>
              <a:ea typeface="宋体简体" charset="0"/>
            </a:endParaRPr>
          </a:p>
          <a:p>
            <a:pPr indent="0" algn="just">
              <a:lnSpc>
                <a:spcPct val="125000"/>
              </a:lnSpc>
              <a:spcBef>
                <a:spcPts val="1000"/>
              </a:spcBef>
            </a:pPr>
            <a:r>
              <a:rPr lang="en-US" sz="1600" i="0">
                <a:solidFill>
                  <a:schemeClr val="tx1"/>
                </a:solidFill>
                <a:latin typeface="Calibri" panose="020F05020202040302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以安全、天然、高效的独特成分优势，助力您在激烈的市场竞争中打造高端化、差异化的明星产品。</a:t>
            </a:r>
            <a:endParaRPr lang="en-US" sz="1600" i="0">
              <a:solidFill>
                <a:schemeClr val="tx1"/>
              </a:solidFill>
              <a:latin typeface="Calibri" panose="020F0502020204030204" charset="0"/>
              <a:ea typeface="宋体简体" charset="0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24560" y="4739005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6"/>
            </p:custDataLst>
          </p:nvPr>
        </p:nvSpPr>
        <p:spPr>
          <a:xfrm>
            <a:off x="1590680" y="4157980"/>
            <a:ext cx="3937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2000" b="1" i="0">
                <a:solidFill>
                  <a:srgbClr val="9A3412"/>
                </a:solidFill>
                <a:latin typeface="Calibri" panose="020F05020202040302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降低合规风险</a:t>
            </a:r>
            <a:endParaRPr lang="en-US" sz="2000" b="1">
              <a:latin typeface="Calibri" panose="020F0502020204030204" charset="0"/>
              <a:ea typeface="宋体简体" charset="0"/>
            </a:endParaRPr>
          </a:p>
          <a:p>
            <a:pPr indent="0" algn="just">
              <a:lnSpc>
                <a:spcPct val="125000"/>
              </a:lnSpc>
              <a:spcBef>
                <a:spcPts val="1000"/>
              </a:spcBef>
            </a:pPr>
            <a:r>
              <a:rPr lang="en-US" sz="1600" i="0">
                <a:solidFill>
                  <a:schemeClr val="tx1"/>
                </a:solidFill>
                <a:latin typeface="Calibri" panose="020F05020202040302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采用全球主流市场均广泛认可的合规原料，轻松应对各国严格的个人护理品法规挑战，无后顾之忧。</a:t>
            </a:r>
            <a:endParaRPr lang="en-US" sz="1600" i="0">
              <a:solidFill>
                <a:schemeClr val="tx1"/>
              </a:solidFill>
              <a:latin typeface="Calibri" panose="020F0502020204030204" charset="0"/>
              <a:ea typeface="宋体简体" charset="0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87185" y="472948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20"/>
            </p:custDataLst>
          </p:nvPr>
        </p:nvSpPr>
        <p:spPr>
          <a:xfrm>
            <a:off x="7334255" y="4157980"/>
            <a:ext cx="3937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2000" b="1" i="0">
                <a:solidFill>
                  <a:srgbClr val="6B21A8"/>
                </a:solidFill>
                <a:latin typeface="Calibri" panose="020F05020202040302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满足消费趋势</a:t>
            </a:r>
            <a:endParaRPr lang="en-US" sz="2000" b="1">
              <a:latin typeface="Calibri" panose="020F0502020204030204" charset="0"/>
              <a:ea typeface="宋体简体" charset="0"/>
            </a:endParaRPr>
          </a:p>
          <a:p>
            <a:pPr indent="0" algn="just">
              <a:lnSpc>
                <a:spcPct val="125000"/>
              </a:lnSpc>
              <a:spcBef>
                <a:spcPts val="1000"/>
              </a:spcBef>
            </a:pPr>
            <a:r>
              <a:rPr lang="en-US" sz="1600" i="0">
                <a:solidFill>
                  <a:schemeClr val="tx1"/>
                </a:solidFill>
                <a:latin typeface="Calibri" panose="020F0502020204030204" charset="0"/>
                <a:ea typeface="宋体简体" charset="0"/>
                <a:cs typeface="Noto Sans SC" panose="020B0200000000000000" charset="-122"/>
                <a:sym typeface="Noto Sans SC" panose="020B0200000000000000" charset="-122"/>
              </a:rPr>
              <a:t>完美契合当代消费者对个人护理产品“安全无刺激、天然来源、高品质体验”的核心追求，顺应市场潮流。</a:t>
            </a:r>
            <a:endParaRPr lang="en-US" sz="1600" i="0">
              <a:solidFill>
                <a:schemeClr val="tx1"/>
              </a:solidFill>
              <a:latin typeface="Calibri" panose="020F0502020204030204" charset="0"/>
              <a:ea typeface="宋体简体" charset="0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2"/>
          <p:cNvSpPr/>
          <p:nvPr/>
        </p:nvSpPr>
        <p:spPr>
          <a:xfrm>
            <a:off x="596900" y="373380"/>
            <a:ext cx="10775950" cy="6045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0" bIns="0" rtlCol="0" anchor="t" anchorCtr="0"/>
          <a:lstStyle/>
          <a:p>
            <a:pPr indent="0" algn="l">
              <a:lnSpc>
                <a:spcPct val="83000"/>
              </a:lnSpc>
              <a:defRPr/>
            </a:pPr>
            <a:r>
              <a:rPr lang="en-US" sz="3000" b="1" i="0" u="none" strike="noStrike">
                <a:solidFill>
                  <a:srgbClr val="B4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   </a:t>
            </a:r>
            <a:r>
              <a:rPr lang="en-US" sz="30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ngti SC"/>
              </a:rPr>
              <a:t>LAE</a:t>
            </a:r>
            <a:r>
              <a:rPr lang="zh-CN" altLang="en-US" sz="30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ngti SC"/>
              </a:rPr>
              <a:t>解决方案：直击行业痛点</a:t>
            </a:r>
            <a:endParaRPr lang="zh-CN" altLang="en-US" sz="30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ongti SC"/>
            </a:endParaRPr>
          </a:p>
        </p:txBody>
      </p:sp>
      <p:sp>
        <p:nvSpPr>
          <p:cNvPr id="16" name="菱形 15"/>
          <p:cNvSpPr/>
          <p:nvPr/>
        </p:nvSpPr>
        <p:spPr>
          <a:xfrm>
            <a:off x="596900" y="495300"/>
            <a:ext cx="360000" cy="360000"/>
          </a:xfrm>
          <a:prstGeom prst="diamond">
            <a:avLst/>
          </a:prstGeom>
          <a:solidFill>
            <a:srgbClr val="6CB83A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>
            <p:custDataLst>
              <p:tags r:id="rId1"/>
            </p:custDataLst>
          </p:nvPr>
        </p:nvGrpSpPr>
        <p:grpSpPr>
          <a:xfrm>
            <a:off x="2233295" y="1443355"/>
            <a:ext cx="8397875" cy="4549775"/>
            <a:chOff x="2263" y="2484"/>
            <a:chExt cx="11515" cy="6975"/>
          </a:xfrm>
        </p:grpSpPr>
        <p:grpSp>
          <p:nvGrpSpPr>
            <p:cNvPr id="6" name="组合 5"/>
            <p:cNvGrpSpPr/>
            <p:nvPr>
              <p:custDataLst>
                <p:tags r:id="rId2"/>
              </p:custDataLst>
            </p:nvPr>
          </p:nvGrpSpPr>
          <p:grpSpPr>
            <a:xfrm>
              <a:off x="13311" y="5262"/>
              <a:ext cx="467" cy="170"/>
              <a:chOff x="12883" y="5867"/>
              <a:chExt cx="467" cy="170"/>
            </a:xfrm>
          </p:grpSpPr>
          <p:sp>
            <p:nvSpPr>
              <p:cNvPr id="26" name="等腰三角形 25"/>
              <p:cNvSpPr/>
              <p:nvPr>
                <p:custDataLst>
                  <p:tags r:id="rId3"/>
                </p:custDataLst>
              </p:nvPr>
            </p:nvSpPr>
            <p:spPr>
              <a:xfrm rot="16200000" flipV="1">
                <a:off x="12883" y="5867"/>
                <a:ext cx="170" cy="170"/>
              </a:xfrm>
              <a:prstGeom prst="triangle">
                <a:avLst/>
              </a:prstGeom>
              <a:solidFill>
                <a:srgbClr val="33AEC4">
                  <a:alpha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800" kern="120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27" name="等腰三角形 26"/>
              <p:cNvSpPr/>
              <p:nvPr>
                <p:custDataLst>
                  <p:tags r:id="rId4"/>
                </p:custDataLst>
              </p:nvPr>
            </p:nvSpPr>
            <p:spPr>
              <a:xfrm rot="16200000" flipV="1">
                <a:off x="13180" y="5867"/>
                <a:ext cx="170" cy="170"/>
              </a:xfrm>
              <a:prstGeom prst="triangle">
                <a:avLst/>
              </a:prstGeom>
              <a:solidFill>
                <a:srgbClr val="33AEC4">
                  <a:alpha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800" kern="120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</p:grpSp>
        <p:grpSp>
          <p:nvGrpSpPr>
            <p:cNvPr id="7" name="组合 6"/>
            <p:cNvGrpSpPr/>
            <p:nvPr>
              <p:custDataLst>
                <p:tags r:id="rId5"/>
              </p:custDataLst>
            </p:nvPr>
          </p:nvGrpSpPr>
          <p:grpSpPr>
            <a:xfrm>
              <a:off x="2706" y="5972"/>
              <a:ext cx="8022" cy="3487"/>
              <a:chOff x="1762" y="5532"/>
              <a:chExt cx="8022" cy="3487"/>
            </a:xfrm>
          </p:grpSpPr>
          <p:sp>
            <p:nvSpPr>
              <p:cNvPr id="36" name="任意多边形: 形状 254"/>
              <p:cNvSpPr/>
              <p:nvPr>
                <p:custDataLst>
                  <p:tags r:id="rId6"/>
                </p:custDataLst>
              </p:nvPr>
            </p:nvSpPr>
            <p:spPr>
              <a:xfrm flipH="1" flipV="1">
                <a:off x="1763" y="6774"/>
                <a:ext cx="4961" cy="235"/>
              </a:xfrm>
              <a:custGeom>
                <a:avLst/>
                <a:gdLst>
                  <a:gd name="connsiteX0" fmla="*/ 0 w 8788400"/>
                  <a:gd name="connsiteY0" fmla="*/ 629920 h 629920"/>
                  <a:gd name="connsiteX1" fmla="*/ 1076960 w 8788400"/>
                  <a:gd name="connsiteY1" fmla="*/ 629920 h 629920"/>
                  <a:gd name="connsiteX2" fmla="*/ 1584960 w 8788400"/>
                  <a:gd name="connsiteY2" fmla="*/ 0 h 629920"/>
                  <a:gd name="connsiteX3" fmla="*/ 8788400 w 8788400"/>
                  <a:gd name="connsiteY3" fmla="*/ 0 h 6299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788400" h="629920">
                    <a:moveTo>
                      <a:pt x="0" y="629920"/>
                    </a:moveTo>
                    <a:lnTo>
                      <a:pt x="1076960" y="629920"/>
                    </a:lnTo>
                    <a:lnTo>
                      <a:pt x="1584960" y="0"/>
                    </a:lnTo>
                    <a:lnTo>
                      <a:pt x="8788400" y="0"/>
                    </a:lnTo>
                  </a:path>
                </a:pathLst>
              </a:custGeom>
              <a:noFill/>
              <a:ln w="12700" cap="flat" cmpd="sng" algn="ctr">
                <a:gradFill>
                  <a:gsLst>
                    <a:gs pos="0">
                      <a:srgbClr val="33AEC4"/>
                    </a:gs>
                    <a:gs pos="100000">
                      <a:srgbClr val="049BB6"/>
                    </a:gs>
                  </a:gsLst>
                  <a:lin ang="0" scaled="1"/>
                </a:gradFill>
                <a:prstDash val="solid"/>
                <a:miter lim="800000"/>
                <a:tailEnd type="oval"/>
              </a:ln>
              <a:effectLst/>
            </p:spPr>
            <p:txBody>
              <a:bodyPr rtlCol="0" anchor="ctr"/>
              <a:lstStyle/>
              <a:p>
                <a:pPr algn="ctr" defTabSz="91440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800" kern="120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7" name="矩形 36"/>
              <p:cNvSpPr/>
              <p:nvPr>
                <p:custDataLst>
                  <p:tags r:id="rId7"/>
                </p:custDataLst>
              </p:nvPr>
            </p:nvSpPr>
            <p:spPr>
              <a:xfrm>
                <a:off x="1763" y="6187"/>
                <a:ext cx="4462" cy="68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>
                      <a:gsLst>
                        <a:gs pos="100000">
                          <a:srgbClr val="FF7429"/>
                        </a:gs>
                        <a:gs pos="0">
                          <a:srgbClr val="FF7429">
                            <a:lumMod val="60000"/>
                            <a:lumOff val="40000"/>
                          </a:srgbClr>
                        </a:gs>
                      </a:gsLst>
                      <a:lin ang="2700000" scaled="0"/>
                    </a:gradFill>
                  </a14:hiddenFill>
                </a:ext>
              </a:extLst>
            </p:spPr>
            <p:txBody>
              <a:bodyPr vertOverflow="overflow" horzOverflow="overflow" vert="horz" wrap="square" lIns="0" tIns="0" rIns="0" bIns="0" numCol="1" spcCol="0" rtlCol="0" fromWordArt="0" anchor="b" anchorCtr="0" forceAA="0" compatLnSpc="1">
                <a:noAutofit/>
              </a:bodyPr>
              <a:lstStyle/>
              <a:p>
                <a:pPr defTabSz="91440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800" b="1" kern="1200">
                    <a:solidFill>
                      <a:srgbClr val="0E9FB9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成人护理用品</a:t>
                </a:r>
                <a:endParaRPr lang="zh-CN" altLang="en-US" sz="1800" b="1" kern="1200">
                  <a:solidFill>
                    <a:srgbClr val="0E9FB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8" name="矩形 37"/>
              <p:cNvSpPr/>
              <p:nvPr>
                <p:custDataLst>
                  <p:tags r:id="rId8"/>
                </p:custDataLst>
              </p:nvPr>
            </p:nvSpPr>
            <p:spPr>
              <a:xfrm>
                <a:off x="1762" y="7075"/>
                <a:ext cx="4462" cy="1944"/>
              </a:xfrm>
              <a:prstGeom prst="rect">
                <a:avLst/>
              </a:prstGeom>
              <a:ln>
                <a:noFill/>
                <a:prstDash val="sysDash"/>
              </a:ln>
            </p:spPr>
            <p:txBody>
              <a:bodyPr vert="horz" wrap="square" lIns="0" tIns="0" rIns="0" bIns="0" rtlCol="0" anchor="t" anchorCtr="0">
                <a:noAutofit/>
              </a:bodyPr>
              <a:lstStyle/>
              <a:p>
                <a:pPr marL="0" indent="0" algn="just" defTabSz="91440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>
                    <a:solidFill>
                      <a:schemeClr val="tx1"/>
                    </a:solidFill>
                    <a:uFillTx/>
                    <a:latin typeface="Calibri" panose="020F0502020204030204" charset="0"/>
                    <a:ea typeface="微软雅黑" panose="020B0503020204020204" charset="-122"/>
                    <a:cs typeface="Noto Sans SC" panose="020B0200000000000000" charset="-122"/>
                    <a:sym typeface="Noto Sans SC" panose="020B0200000000000000" charset="-122"/>
                  </a:rPr>
                  <a:t>高效安全抑菌，强力控制异味，呵护敏感肌肤，显著提升使用者的生活品质与尊严。</a:t>
                </a:r>
                <a:endParaRPr lang="en-US" altLang="en-US" dirty="0">
                  <a:ln>
                    <a:noFill/>
                    <a:prstDash val="sysDot"/>
                  </a:ln>
                  <a:solidFill>
                    <a:schemeClr val="tx1"/>
                  </a:solidFill>
                  <a:uFillTx/>
                  <a:latin typeface="Calibri" panose="020F0502020204030204" charset="0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endParaRPr>
              </a:p>
            </p:txBody>
          </p:sp>
          <p:pic>
            <p:nvPicPr>
              <p:cNvPr id="39" name="图片 38" descr="C:/Users/Administrator/Desktop/成人护理.png成人护理"/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10"/>
              <a:srcRect l="17567" r="17567"/>
              <a:stretch>
                <a:fillRect/>
              </a:stretch>
            </p:blipFill>
            <p:spPr>
              <a:xfrm>
                <a:off x="6898" y="5779"/>
                <a:ext cx="2628" cy="2277"/>
              </a:xfrm>
              <a:custGeom>
                <a:avLst/>
                <a:gdLst/>
                <a:ahLst/>
                <a:cxnLst>
                  <a:cxn ang="3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628" h="2277">
                    <a:moveTo>
                      <a:pt x="657" y="0"/>
                    </a:moveTo>
                    <a:lnTo>
                      <a:pt x="984" y="0"/>
                    </a:lnTo>
                    <a:lnTo>
                      <a:pt x="1130" y="145"/>
                    </a:lnTo>
                    <a:lnTo>
                      <a:pt x="2055" y="145"/>
                    </a:lnTo>
                    <a:lnTo>
                      <a:pt x="2628" y="1139"/>
                    </a:lnTo>
                    <a:lnTo>
                      <a:pt x="1971" y="2277"/>
                    </a:lnTo>
                    <a:lnTo>
                      <a:pt x="657" y="2277"/>
                    </a:lnTo>
                    <a:lnTo>
                      <a:pt x="0" y="1139"/>
                    </a:lnTo>
                    <a:lnTo>
                      <a:pt x="657" y="0"/>
                    </a:lnTo>
                    <a:close/>
                  </a:path>
                </a:pathLst>
              </a:custGeom>
              <a:ln w="6350">
                <a:solidFill>
                  <a:srgbClr val="33AEC4">
                    <a:alpha val="70000"/>
                  </a:srgbClr>
                </a:solidFill>
              </a:ln>
            </p:spPr>
          </p:pic>
          <p:sp>
            <p:nvSpPr>
              <p:cNvPr id="40" name="任意多边形: 形状 68"/>
              <p:cNvSpPr/>
              <p:nvPr>
                <p:custDataLst>
                  <p:tags r:id="rId11"/>
                </p:custDataLst>
              </p:nvPr>
            </p:nvSpPr>
            <p:spPr>
              <a:xfrm>
                <a:off x="6640" y="5532"/>
                <a:ext cx="3144" cy="2772"/>
              </a:xfrm>
              <a:custGeom>
                <a:avLst/>
                <a:gdLst>
                  <a:gd name="connsiteX0" fmla="*/ 1124334 w 1913133"/>
                  <a:gd name="connsiteY0" fmla="*/ 0 h 1687350"/>
                  <a:gd name="connsiteX1" fmla="*/ 1442663 w 1913133"/>
                  <a:gd name="connsiteY1" fmla="*/ 1 h 1687350"/>
                  <a:gd name="connsiteX2" fmla="*/ 1442664 w 1913133"/>
                  <a:gd name="connsiteY2" fmla="*/ 3611 h 1687350"/>
                  <a:gd name="connsiteX3" fmla="*/ 1600573 w 1913133"/>
                  <a:gd name="connsiteY3" fmla="*/ 277115 h 1687350"/>
                  <a:gd name="connsiteX4" fmla="*/ 1589583 w 1913133"/>
                  <a:gd name="connsiteY4" fmla="*/ 283461 h 1687350"/>
                  <a:gd name="connsiteX5" fmla="*/ 1913133 w 1913133"/>
                  <a:gd name="connsiteY5" fmla="*/ 843854 h 1687350"/>
                  <a:gd name="connsiteX6" fmla="*/ 1911736 w 1913133"/>
                  <a:gd name="connsiteY6" fmla="*/ 846378 h 1687350"/>
                  <a:gd name="connsiteX7" fmla="*/ 1434807 w 1913133"/>
                  <a:gd name="connsiteY7" fmla="*/ 1672444 h 1687350"/>
                  <a:gd name="connsiteX8" fmla="*/ 789080 w 1913133"/>
                  <a:gd name="connsiteY8" fmla="*/ 1672441 h 1687350"/>
                  <a:gd name="connsiteX9" fmla="*/ 789079 w 1913133"/>
                  <a:gd name="connsiteY9" fmla="*/ 1687350 h 1687350"/>
                  <a:gd name="connsiteX10" fmla="*/ 470750 w 1913133"/>
                  <a:gd name="connsiteY10" fmla="*/ 1687349 h 1687350"/>
                  <a:gd name="connsiteX11" fmla="*/ 470751 w 1913133"/>
                  <a:gd name="connsiteY11" fmla="*/ 1682967 h 1687350"/>
                  <a:gd name="connsiteX12" fmla="*/ 312256 w 1913133"/>
                  <a:gd name="connsiteY12" fmla="*/ 1408449 h 1687350"/>
                  <a:gd name="connsiteX13" fmla="*/ 322520 w 1913133"/>
                  <a:gd name="connsiteY13" fmla="*/ 1402524 h 1687350"/>
                  <a:gd name="connsiteX14" fmla="*/ 0 w 1913133"/>
                  <a:gd name="connsiteY14" fmla="*/ 843857 h 1687350"/>
                  <a:gd name="connsiteX15" fmla="*/ 1398 w 1913133"/>
                  <a:gd name="connsiteY15" fmla="*/ 841407 h 1687350"/>
                  <a:gd name="connsiteX16" fmla="*/ 478328 w 1913133"/>
                  <a:gd name="connsiteY16" fmla="*/ 15354 h 1687350"/>
                  <a:gd name="connsiteX17" fmla="*/ 1124334 w 1913133"/>
                  <a:gd name="connsiteY17" fmla="*/ 15353 h 1687350"/>
                  <a:gd name="connsiteX18" fmla="*/ 1124334 w 1913133"/>
                  <a:gd name="connsiteY18" fmla="*/ 0 h 1687350"/>
                  <a:gd name="connsiteX19" fmla="*/ 483734 w 1913133"/>
                  <a:gd name="connsiteY19" fmla="*/ 25208 h 1687350"/>
                  <a:gd name="connsiteX20" fmla="*/ 11077 w 1913133"/>
                  <a:gd name="connsiteY20" fmla="*/ 843855 h 1687350"/>
                  <a:gd name="connsiteX21" fmla="*/ 330922 w 1913133"/>
                  <a:gd name="connsiteY21" fmla="*/ 1397672 h 1687350"/>
                  <a:gd name="connsiteX22" fmla="*/ 351087 w 1913133"/>
                  <a:gd name="connsiteY22" fmla="*/ 1386031 h 1687350"/>
                  <a:gd name="connsiteX23" fmla="*/ 499168 w 1913133"/>
                  <a:gd name="connsiteY23" fmla="*/ 1642511 h 1687350"/>
                  <a:gd name="connsiteX24" fmla="*/ 789080 w 1913133"/>
                  <a:gd name="connsiteY24" fmla="*/ 1642511 h 1687350"/>
                  <a:gd name="connsiteX25" fmla="*/ 789078 w 1913133"/>
                  <a:gd name="connsiteY25" fmla="*/ 1662578 h 1687350"/>
                  <a:gd name="connsiteX26" fmla="*/ 1429220 w 1913133"/>
                  <a:gd name="connsiteY26" fmla="*/ 1662578 h 1687350"/>
                  <a:gd name="connsiteX27" fmla="*/ 1901880 w 1913133"/>
                  <a:gd name="connsiteY27" fmla="*/ 843854 h 1687350"/>
                  <a:gd name="connsiteX28" fmla="*/ 1581137 w 1913133"/>
                  <a:gd name="connsiteY28" fmla="*/ 288333 h 1687350"/>
                  <a:gd name="connsiteX29" fmla="*/ 1561741 w 1913133"/>
                  <a:gd name="connsiteY29" fmla="*/ 299533 h 1687350"/>
                  <a:gd name="connsiteX30" fmla="*/ 1414693 w 1913133"/>
                  <a:gd name="connsiteY30" fmla="*/ 44834 h 1687350"/>
                  <a:gd name="connsiteX31" fmla="*/ 1124332 w 1913133"/>
                  <a:gd name="connsiteY31" fmla="*/ 44839 h 1687350"/>
                  <a:gd name="connsiteX32" fmla="*/ 1124334 w 1913133"/>
                  <a:gd name="connsiteY32" fmla="*/ 25210 h 1687350"/>
                  <a:gd name="connsiteX33" fmla="*/ 483734 w 1913133"/>
                  <a:gd name="connsiteY33" fmla="*/ 25208 h 1687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1913133" h="1687350">
                    <a:moveTo>
                      <a:pt x="1124334" y="0"/>
                    </a:moveTo>
                    <a:lnTo>
                      <a:pt x="1442663" y="1"/>
                    </a:lnTo>
                    <a:lnTo>
                      <a:pt x="1442664" y="3611"/>
                    </a:lnTo>
                    <a:lnTo>
                      <a:pt x="1600573" y="277115"/>
                    </a:lnTo>
                    <a:lnTo>
                      <a:pt x="1589583" y="283461"/>
                    </a:lnTo>
                    <a:lnTo>
                      <a:pt x="1913133" y="843854"/>
                    </a:lnTo>
                    <a:lnTo>
                      <a:pt x="1911736" y="846378"/>
                    </a:lnTo>
                    <a:lnTo>
                      <a:pt x="1434807" y="1672444"/>
                    </a:lnTo>
                    <a:lnTo>
                      <a:pt x="789080" y="1672441"/>
                    </a:lnTo>
                    <a:lnTo>
                      <a:pt x="789079" y="1687350"/>
                    </a:lnTo>
                    <a:lnTo>
                      <a:pt x="470750" y="1687349"/>
                    </a:lnTo>
                    <a:lnTo>
                      <a:pt x="470751" y="1682967"/>
                    </a:lnTo>
                    <a:lnTo>
                      <a:pt x="312256" y="1408449"/>
                    </a:lnTo>
                    <a:lnTo>
                      <a:pt x="322520" y="1402524"/>
                    </a:lnTo>
                    <a:lnTo>
                      <a:pt x="0" y="843857"/>
                    </a:lnTo>
                    <a:lnTo>
                      <a:pt x="1398" y="841407"/>
                    </a:lnTo>
                    <a:lnTo>
                      <a:pt x="478328" y="15354"/>
                    </a:lnTo>
                    <a:lnTo>
                      <a:pt x="1124334" y="15353"/>
                    </a:lnTo>
                    <a:lnTo>
                      <a:pt x="1124334" y="0"/>
                    </a:lnTo>
                    <a:close/>
                    <a:moveTo>
                      <a:pt x="483734" y="25208"/>
                    </a:moveTo>
                    <a:lnTo>
                      <a:pt x="11077" y="843855"/>
                    </a:lnTo>
                    <a:lnTo>
                      <a:pt x="330922" y="1397672"/>
                    </a:lnTo>
                    <a:lnTo>
                      <a:pt x="351087" y="1386031"/>
                    </a:lnTo>
                    <a:lnTo>
                      <a:pt x="499168" y="1642511"/>
                    </a:lnTo>
                    <a:lnTo>
                      <a:pt x="789080" y="1642511"/>
                    </a:lnTo>
                    <a:lnTo>
                      <a:pt x="789078" y="1662578"/>
                    </a:lnTo>
                    <a:lnTo>
                      <a:pt x="1429220" y="1662578"/>
                    </a:lnTo>
                    <a:lnTo>
                      <a:pt x="1901880" y="843854"/>
                    </a:lnTo>
                    <a:lnTo>
                      <a:pt x="1581137" y="288333"/>
                    </a:lnTo>
                    <a:lnTo>
                      <a:pt x="1561741" y="299533"/>
                    </a:lnTo>
                    <a:lnTo>
                      <a:pt x="1414693" y="44834"/>
                    </a:lnTo>
                    <a:lnTo>
                      <a:pt x="1124332" y="44839"/>
                    </a:lnTo>
                    <a:lnTo>
                      <a:pt x="1124334" y="25210"/>
                    </a:lnTo>
                    <a:lnTo>
                      <a:pt x="483734" y="25208"/>
                    </a:lnTo>
                    <a:close/>
                  </a:path>
                </a:pathLst>
              </a:custGeom>
              <a:solidFill>
                <a:srgbClr val="33AEC4">
                  <a:alpha val="70000"/>
                </a:srgbClr>
              </a:solidFill>
              <a:ln w="162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sym typeface="微软雅黑" panose="020B0503020204020204" charset="-122"/>
                </a:endParaRPr>
              </a:p>
            </p:txBody>
          </p:sp>
          <p:sp>
            <p:nvSpPr>
              <p:cNvPr id="41" name="等腰三角形 40"/>
              <p:cNvSpPr/>
              <p:nvPr>
                <p:custDataLst>
                  <p:tags r:id="rId12"/>
                </p:custDataLst>
              </p:nvPr>
            </p:nvSpPr>
            <p:spPr>
              <a:xfrm rot="5400000" flipV="1">
                <a:off x="6410" y="6838"/>
                <a:ext cx="170" cy="170"/>
              </a:xfrm>
              <a:prstGeom prst="triangle">
                <a:avLst/>
              </a:prstGeom>
              <a:solidFill>
                <a:srgbClr val="33AEC4">
                  <a:alpha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800" kern="120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42" name="等腰三角形 41"/>
              <p:cNvSpPr/>
              <p:nvPr>
                <p:custDataLst>
                  <p:tags r:id="rId13"/>
                </p:custDataLst>
              </p:nvPr>
            </p:nvSpPr>
            <p:spPr>
              <a:xfrm rot="5400000" flipV="1">
                <a:off x="6113" y="6838"/>
                <a:ext cx="170" cy="170"/>
              </a:xfrm>
              <a:prstGeom prst="triangle">
                <a:avLst/>
              </a:prstGeom>
              <a:solidFill>
                <a:srgbClr val="33AEC4">
                  <a:alpha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800" kern="120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</p:grpSp>
        <p:grpSp>
          <p:nvGrpSpPr>
            <p:cNvPr id="5" name="组合 4"/>
            <p:cNvGrpSpPr/>
            <p:nvPr>
              <p:custDataLst>
                <p:tags r:id="rId14"/>
              </p:custDataLst>
            </p:nvPr>
          </p:nvGrpSpPr>
          <p:grpSpPr>
            <a:xfrm>
              <a:off x="2263" y="2484"/>
              <a:ext cx="7812" cy="3066"/>
              <a:chOff x="1762" y="2138"/>
              <a:chExt cx="7812" cy="3066"/>
            </a:xfrm>
          </p:grpSpPr>
          <p:sp>
            <p:nvSpPr>
              <p:cNvPr id="43" name="矩形 42"/>
              <p:cNvSpPr/>
              <p:nvPr>
                <p:custDataLst>
                  <p:tags r:id="rId15"/>
                </p:custDataLst>
              </p:nvPr>
            </p:nvSpPr>
            <p:spPr>
              <a:xfrm>
                <a:off x="1763" y="2138"/>
                <a:ext cx="4462" cy="68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>
                      <a:gsLst>
                        <a:gs pos="100000">
                          <a:srgbClr val="FF7429"/>
                        </a:gs>
                        <a:gs pos="0">
                          <a:srgbClr val="FF7429">
                            <a:lumMod val="60000"/>
                            <a:lumOff val="40000"/>
                          </a:srgbClr>
                        </a:gs>
                      </a:gsLst>
                      <a:lin ang="2700000" scaled="0"/>
                    </a:gradFill>
                  </a14:hiddenFill>
                </a:ext>
              </a:extLst>
            </p:spPr>
            <p:txBody>
              <a:bodyPr vertOverflow="overflow" horzOverflow="overflow" vert="horz" wrap="square" lIns="0" tIns="0" rIns="0" bIns="0" numCol="1" spcCol="0" rtlCol="0" fromWordArt="0" anchor="b" anchorCtr="0" forceAA="0" compatLnSpc="1">
                <a:noAutofit/>
              </a:bodyPr>
              <a:lstStyle/>
              <a:p>
                <a:pPr defTabSz="91440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800" b="1" kern="1200">
                    <a:solidFill>
                      <a:srgbClr val="0E9FB9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女性卫生用品</a:t>
                </a:r>
                <a:endParaRPr lang="zh-CN" altLang="en-US" sz="1800" b="1" kern="1200">
                  <a:solidFill>
                    <a:srgbClr val="0E9FB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44" name="矩形 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1762" y="3037"/>
                <a:ext cx="4461" cy="1944"/>
              </a:xfrm>
              <a:prstGeom prst="rect">
                <a:avLst/>
              </a:prstGeom>
              <a:ln>
                <a:noFill/>
                <a:prstDash val="sysDash"/>
              </a:ln>
            </p:spPr>
            <p:txBody>
              <a:bodyPr vert="horz" wrap="square" lIns="0" tIns="0" rIns="0" bIns="0" rtlCol="0" anchor="t" anchorCtr="0">
                <a:noAutofit/>
              </a:bodyPr>
              <a:lstStyle/>
              <a:p>
                <a:pPr marL="0" indent="0" algn="just" defTabSz="91440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>
                    <a:solidFill>
                      <a:schemeClr val="tx1"/>
                    </a:solidFill>
                    <a:uFillTx/>
                    <a:latin typeface="Calibri" panose="020F0502020204030204" charset="0"/>
                    <a:ea typeface="微软雅黑" panose="020B0503020204020204" charset="-122"/>
                    <a:cs typeface="Noto Sans SC" panose="020B0200000000000000" charset="-122"/>
                    <a:sym typeface="Noto Sans SC" panose="020B0200000000000000" charset="-122"/>
                  </a:rPr>
                  <a:t>抑制微生物滋生，控制异味，提升产品使用的卫生安全性。</a:t>
                </a:r>
                <a:endParaRPr lang="en-US" altLang="en-US" dirty="0">
                  <a:ln>
                    <a:noFill/>
                    <a:prstDash val="sysDot"/>
                  </a:ln>
                  <a:solidFill>
                    <a:schemeClr val="tx1"/>
                  </a:solidFill>
                  <a:uFillTx/>
                  <a:latin typeface="Calibri" panose="020F0502020204030204" charset="0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endParaRPr>
              </a:p>
            </p:txBody>
          </p:sp>
          <p:pic>
            <p:nvPicPr>
              <p:cNvPr id="45" name="图片 44" descr="C:/Users/Administrator/Desktop/超市卫生巾.png超市卫生巾"/>
              <p:cNvPicPr>
                <a:picLocks noChangeAspect="1"/>
              </p:cNvPicPr>
              <p:nvPr>
                <p:custDataLst>
                  <p:tags r:id="rId17"/>
                </p:custDataLst>
              </p:nvPr>
            </p:nvPicPr>
            <p:blipFill>
              <a:blip r:embed="rId18"/>
              <a:srcRect l="11550" r="11550"/>
              <a:stretch>
                <a:fillRect/>
              </a:stretch>
            </p:blipFill>
            <p:spPr>
              <a:xfrm>
                <a:off x="6688" y="2679"/>
                <a:ext cx="2628" cy="2277"/>
              </a:xfrm>
              <a:custGeom>
                <a:avLst/>
                <a:gdLst/>
                <a:ahLst/>
                <a:cxnLst>
                  <a:cxn ang="3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628" h="2277">
                    <a:moveTo>
                      <a:pt x="657" y="0"/>
                    </a:moveTo>
                    <a:lnTo>
                      <a:pt x="984" y="0"/>
                    </a:lnTo>
                    <a:lnTo>
                      <a:pt x="1130" y="145"/>
                    </a:lnTo>
                    <a:lnTo>
                      <a:pt x="2055" y="145"/>
                    </a:lnTo>
                    <a:lnTo>
                      <a:pt x="2628" y="1139"/>
                    </a:lnTo>
                    <a:lnTo>
                      <a:pt x="1971" y="2277"/>
                    </a:lnTo>
                    <a:lnTo>
                      <a:pt x="657" y="2277"/>
                    </a:lnTo>
                    <a:lnTo>
                      <a:pt x="0" y="1139"/>
                    </a:lnTo>
                    <a:lnTo>
                      <a:pt x="657" y="0"/>
                    </a:lnTo>
                    <a:close/>
                  </a:path>
                </a:pathLst>
              </a:custGeom>
              <a:ln w="6350">
                <a:solidFill>
                  <a:srgbClr val="33AEC4">
                    <a:alpha val="70000"/>
                  </a:srgbClr>
                </a:solidFill>
              </a:ln>
            </p:spPr>
          </p:pic>
          <p:sp>
            <p:nvSpPr>
              <p:cNvPr id="46" name="任意多边形: 形状 68"/>
              <p:cNvSpPr/>
              <p:nvPr>
                <p:custDataLst>
                  <p:tags r:id="rId19"/>
                </p:custDataLst>
              </p:nvPr>
            </p:nvSpPr>
            <p:spPr>
              <a:xfrm>
                <a:off x="6430" y="2432"/>
                <a:ext cx="3144" cy="2772"/>
              </a:xfrm>
              <a:custGeom>
                <a:avLst/>
                <a:gdLst>
                  <a:gd name="connsiteX0" fmla="*/ 1124334 w 1913133"/>
                  <a:gd name="connsiteY0" fmla="*/ 0 h 1687350"/>
                  <a:gd name="connsiteX1" fmla="*/ 1442663 w 1913133"/>
                  <a:gd name="connsiteY1" fmla="*/ 1 h 1687350"/>
                  <a:gd name="connsiteX2" fmla="*/ 1442664 w 1913133"/>
                  <a:gd name="connsiteY2" fmla="*/ 3611 h 1687350"/>
                  <a:gd name="connsiteX3" fmla="*/ 1600573 w 1913133"/>
                  <a:gd name="connsiteY3" fmla="*/ 277115 h 1687350"/>
                  <a:gd name="connsiteX4" fmla="*/ 1589583 w 1913133"/>
                  <a:gd name="connsiteY4" fmla="*/ 283461 h 1687350"/>
                  <a:gd name="connsiteX5" fmla="*/ 1913133 w 1913133"/>
                  <a:gd name="connsiteY5" fmla="*/ 843854 h 1687350"/>
                  <a:gd name="connsiteX6" fmla="*/ 1911736 w 1913133"/>
                  <a:gd name="connsiteY6" fmla="*/ 846378 h 1687350"/>
                  <a:gd name="connsiteX7" fmla="*/ 1434807 w 1913133"/>
                  <a:gd name="connsiteY7" fmla="*/ 1672444 h 1687350"/>
                  <a:gd name="connsiteX8" fmla="*/ 789080 w 1913133"/>
                  <a:gd name="connsiteY8" fmla="*/ 1672441 h 1687350"/>
                  <a:gd name="connsiteX9" fmla="*/ 789079 w 1913133"/>
                  <a:gd name="connsiteY9" fmla="*/ 1687350 h 1687350"/>
                  <a:gd name="connsiteX10" fmla="*/ 470750 w 1913133"/>
                  <a:gd name="connsiteY10" fmla="*/ 1687349 h 1687350"/>
                  <a:gd name="connsiteX11" fmla="*/ 470751 w 1913133"/>
                  <a:gd name="connsiteY11" fmla="*/ 1682967 h 1687350"/>
                  <a:gd name="connsiteX12" fmla="*/ 312256 w 1913133"/>
                  <a:gd name="connsiteY12" fmla="*/ 1408449 h 1687350"/>
                  <a:gd name="connsiteX13" fmla="*/ 322520 w 1913133"/>
                  <a:gd name="connsiteY13" fmla="*/ 1402524 h 1687350"/>
                  <a:gd name="connsiteX14" fmla="*/ 0 w 1913133"/>
                  <a:gd name="connsiteY14" fmla="*/ 843857 h 1687350"/>
                  <a:gd name="connsiteX15" fmla="*/ 1398 w 1913133"/>
                  <a:gd name="connsiteY15" fmla="*/ 841407 h 1687350"/>
                  <a:gd name="connsiteX16" fmla="*/ 478328 w 1913133"/>
                  <a:gd name="connsiteY16" fmla="*/ 15354 h 1687350"/>
                  <a:gd name="connsiteX17" fmla="*/ 1124334 w 1913133"/>
                  <a:gd name="connsiteY17" fmla="*/ 15353 h 1687350"/>
                  <a:gd name="connsiteX18" fmla="*/ 1124334 w 1913133"/>
                  <a:gd name="connsiteY18" fmla="*/ 0 h 1687350"/>
                  <a:gd name="connsiteX19" fmla="*/ 483734 w 1913133"/>
                  <a:gd name="connsiteY19" fmla="*/ 25208 h 1687350"/>
                  <a:gd name="connsiteX20" fmla="*/ 11077 w 1913133"/>
                  <a:gd name="connsiteY20" fmla="*/ 843855 h 1687350"/>
                  <a:gd name="connsiteX21" fmla="*/ 330922 w 1913133"/>
                  <a:gd name="connsiteY21" fmla="*/ 1397672 h 1687350"/>
                  <a:gd name="connsiteX22" fmla="*/ 351087 w 1913133"/>
                  <a:gd name="connsiteY22" fmla="*/ 1386031 h 1687350"/>
                  <a:gd name="connsiteX23" fmla="*/ 499168 w 1913133"/>
                  <a:gd name="connsiteY23" fmla="*/ 1642511 h 1687350"/>
                  <a:gd name="connsiteX24" fmla="*/ 789080 w 1913133"/>
                  <a:gd name="connsiteY24" fmla="*/ 1642511 h 1687350"/>
                  <a:gd name="connsiteX25" fmla="*/ 789078 w 1913133"/>
                  <a:gd name="connsiteY25" fmla="*/ 1662578 h 1687350"/>
                  <a:gd name="connsiteX26" fmla="*/ 1429220 w 1913133"/>
                  <a:gd name="connsiteY26" fmla="*/ 1662578 h 1687350"/>
                  <a:gd name="connsiteX27" fmla="*/ 1901880 w 1913133"/>
                  <a:gd name="connsiteY27" fmla="*/ 843854 h 1687350"/>
                  <a:gd name="connsiteX28" fmla="*/ 1581137 w 1913133"/>
                  <a:gd name="connsiteY28" fmla="*/ 288333 h 1687350"/>
                  <a:gd name="connsiteX29" fmla="*/ 1561741 w 1913133"/>
                  <a:gd name="connsiteY29" fmla="*/ 299533 h 1687350"/>
                  <a:gd name="connsiteX30" fmla="*/ 1414693 w 1913133"/>
                  <a:gd name="connsiteY30" fmla="*/ 44834 h 1687350"/>
                  <a:gd name="connsiteX31" fmla="*/ 1124332 w 1913133"/>
                  <a:gd name="connsiteY31" fmla="*/ 44839 h 1687350"/>
                  <a:gd name="connsiteX32" fmla="*/ 1124334 w 1913133"/>
                  <a:gd name="connsiteY32" fmla="*/ 25210 h 1687350"/>
                  <a:gd name="connsiteX33" fmla="*/ 483734 w 1913133"/>
                  <a:gd name="connsiteY33" fmla="*/ 25208 h 1687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1913133" h="1687350">
                    <a:moveTo>
                      <a:pt x="1124334" y="0"/>
                    </a:moveTo>
                    <a:lnTo>
                      <a:pt x="1442663" y="1"/>
                    </a:lnTo>
                    <a:lnTo>
                      <a:pt x="1442664" y="3611"/>
                    </a:lnTo>
                    <a:lnTo>
                      <a:pt x="1600573" y="277115"/>
                    </a:lnTo>
                    <a:lnTo>
                      <a:pt x="1589583" y="283461"/>
                    </a:lnTo>
                    <a:lnTo>
                      <a:pt x="1913133" y="843854"/>
                    </a:lnTo>
                    <a:lnTo>
                      <a:pt x="1911736" y="846378"/>
                    </a:lnTo>
                    <a:lnTo>
                      <a:pt x="1434807" y="1672444"/>
                    </a:lnTo>
                    <a:lnTo>
                      <a:pt x="789080" y="1672441"/>
                    </a:lnTo>
                    <a:lnTo>
                      <a:pt x="789079" y="1687350"/>
                    </a:lnTo>
                    <a:lnTo>
                      <a:pt x="470750" y="1687349"/>
                    </a:lnTo>
                    <a:lnTo>
                      <a:pt x="470751" y="1682967"/>
                    </a:lnTo>
                    <a:lnTo>
                      <a:pt x="312256" y="1408449"/>
                    </a:lnTo>
                    <a:lnTo>
                      <a:pt x="322520" y="1402524"/>
                    </a:lnTo>
                    <a:lnTo>
                      <a:pt x="0" y="843857"/>
                    </a:lnTo>
                    <a:lnTo>
                      <a:pt x="1398" y="841407"/>
                    </a:lnTo>
                    <a:lnTo>
                      <a:pt x="478328" y="15354"/>
                    </a:lnTo>
                    <a:lnTo>
                      <a:pt x="1124334" y="15353"/>
                    </a:lnTo>
                    <a:lnTo>
                      <a:pt x="1124334" y="0"/>
                    </a:lnTo>
                    <a:close/>
                    <a:moveTo>
                      <a:pt x="483734" y="25208"/>
                    </a:moveTo>
                    <a:lnTo>
                      <a:pt x="11077" y="843855"/>
                    </a:lnTo>
                    <a:lnTo>
                      <a:pt x="330922" y="1397672"/>
                    </a:lnTo>
                    <a:lnTo>
                      <a:pt x="351087" y="1386031"/>
                    </a:lnTo>
                    <a:lnTo>
                      <a:pt x="499168" y="1642511"/>
                    </a:lnTo>
                    <a:lnTo>
                      <a:pt x="789080" y="1642511"/>
                    </a:lnTo>
                    <a:lnTo>
                      <a:pt x="789078" y="1662578"/>
                    </a:lnTo>
                    <a:lnTo>
                      <a:pt x="1429220" y="1662578"/>
                    </a:lnTo>
                    <a:lnTo>
                      <a:pt x="1901880" y="843854"/>
                    </a:lnTo>
                    <a:lnTo>
                      <a:pt x="1581137" y="288333"/>
                    </a:lnTo>
                    <a:lnTo>
                      <a:pt x="1561741" y="299533"/>
                    </a:lnTo>
                    <a:lnTo>
                      <a:pt x="1414693" y="44834"/>
                    </a:lnTo>
                    <a:lnTo>
                      <a:pt x="1124332" y="44839"/>
                    </a:lnTo>
                    <a:lnTo>
                      <a:pt x="1124334" y="25210"/>
                    </a:lnTo>
                    <a:lnTo>
                      <a:pt x="483734" y="25208"/>
                    </a:lnTo>
                    <a:close/>
                  </a:path>
                </a:pathLst>
              </a:custGeom>
              <a:solidFill>
                <a:srgbClr val="33AEC4">
                  <a:alpha val="70000"/>
                </a:srgbClr>
              </a:solidFill>
              <a:ln w="1621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sym typeface="微软雅黑" panose="020B0503020204020204" charset="-122"/>
                </a:endParaRPr>
              </a:p>
            </p:txBody>
          </p:sp>
          <p:sp>
            <p:nvSpPr>
              <p:cNvPr id="47" name="任意多边形: 形状 254"/>
              <p:cNvSpPr/>
              <p:nvPr>
                <p:custDataLst>
                  <p:tags r:id="rId20"/>
                </p:custDataLst>
              </p:nvPr>
            </p:nvSpPr>
            <p:spPr>
              <a:xfrm flipH="1" flipV="1">
                <a:off x="1763" y="2711"/>
                <a:ext cx="5320" cy="244"/>
              </a:xfrm>
              <a:custGeom>
                <a:avLst/>
                <a:gdLst>
                  <a:gd name="connsiteX0" fmla="*/ 0 w 8788400"/>
                  <a:gd name="connsiteY0" fmla="*/ 629920 h 629920"/>
                  <a:gd name="connsiteX1" fmla="*/ 1076960 w 8788400"/>
                  <a:gd name="connsiteY1" fmla="*/ 629920 h 629920"/>
                  <a:gd name="connsiteX2" fmla="*/ 1584960 w 8788400"/>
                  <a:gd name="connsiteY2" fmla="*/ 0 h 629920"/>
                  <a:gd name="connsiteX3" fmla="*/ 8788400 w 8788400"/>
                  <a:gd name="connsiteY3" fmla="*/ 0 h 6299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788400" h="629920">
                    <a:moveTo>
                      <a:pt x="0" y="629920"/>
                    </a:moveTo>
                    <a:lnTo>
                      <a:pt x="1076960" y="629920"/>
                    </a:lnTo>
                    <a:lnTo>
                      <a:pt x="1584960" y="0"/>
                    </a:lnTo>
                    <a:lnTo>
                      <a:pt x="8788400" y="0"/>
                    </a:lnTo>
                  </a:path>
                </a:pathLst>
              </a:custGeom>
              <a:noFill/>
              <a:ln w="12700" cap="flat" cmpd="sng" algn="ctr">
                <a:gradFill>
                  <a:gsLst>
                    <a:gs pos="0">
                      <a:srgbClr val="33AEC4"/>
                    </a:gs>
                    <a:gs pos="100000">
                      <a:srgbClr val="049BB6"/>
                    </a:gs>
                  </a:gsLst>
                  <a:lin ang="0" scaled="1"/>
                </a:gradFill>
                <a:prstDash val="solid"/>
                <a:miter lim="800000"/>
                <a:tailEnd type="oval"/>
              </a:ln>
              <a:effectLst/>
            </p:spPr>
            <p:txBody>
              <a:bodyPr rtlCol="0" anchor="ctr"/>
              <a:lstStyle/>
              <a:p>
                <a:pPr algn="ctr" defTabSz="91440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800" kern="120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48" name="等腰三角形 47"/>
              <p:cNvSpPr/>
              <p:nvPr>
                <p:custDataLst>
                  <p:tags r:id="rId21"/>
                </p:custDataLst>
              </p:nvPr>
            </p:nvSpPr>
            <p:spPr>
              <a:xfrm rot="5400000" flipV="1">
                <a:off x="6688" y="2789"/>
                <a:ext cx="170" cy="170"/>
              </a:xfrm>
              <a:prstGeom prst="triangle">
                <a:avLst/>
              </a:prstGeom>
              <a:solidFill>
                <a:srgbClr val="33AEC4">
                  <a:alpha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800" kern="120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49" name="等腰三角形 48"/>
              <p:cNvSpPr/>
              <p:nvPr>
                <p:custDataLst>
                  <p:tags r:id="rId22"/>
                </p:custDataLst>
              </p:nvPr>
            </p:nvSpPr>
            <p:spPr>
              <a:xfrm rot="5400000" flipV="1">
                <a:off x="6391" y="2789"/>
                <a:ext cx="170" cy="170"/>
              </a:xfrm>
              <a:prstGeom prst="triangle">
                <a:avLst/>
              </a:prstGeom>
              <a:solidFill>
                <a:srgbClr val="33AEC4">
                  <a:alpha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800" kern="120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</p:grpSp>
      </p:grpSp>
      <p:sp>
        <p:nvSpPr>
          <p:cNvPr id="54" name="AutoShape 2"/>
          <p:cNvSpPr/>
          <p:nvPr/>
        </p:nvSpPr>
        <p:spPr>
          <a:xfrm>
            <a:off x="596900" y="373380"/>
            <a:ext cx="5948045" cy="6045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0" bIns="0" rtlCol="0" anchor="t" anchorCtr="0"/>
          <a:lstStyle/>
          <a:p>
            <a:pPr indent="0" algn="l">
              <a:lnSpc>
                <a:spcPct val="83000"/>
              </a:lnSpc>
              <a:defRPr/>
            </a:pPr>
            <a:r>
              <a:rPr lang="en-US" sz="3000" b="1" i="0" u="none" strike="noStrike">
                <a:solidFill>
                  <a:srgbClr val="B4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   </a:t>
            </a:r>
            <a:r>
              <a:rPr lang="zh-CN" altLang="en-US" sz="30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ngti SC"/>
              </a:rPr>
              <a:t>应用范围</a:t>
            </a:r>
            <a:endParaRPr lang="zh-CN" altLang="en-US" sz="30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ongti SC"/>
            </a:endParaRPr>
          </a:p>
        </p:txBody>
      </p:sp>
      <p:sp>
        <p:nvSpPr>
          <p:cNvPr id="55" name="菱形 54"/>
          <p:cNvSpPr/>
          <p:nvPr/>
        </p:nvSpPr>
        <p:spPr>
          <a:xfrm>
            <a:off x="596900" y="495300"/>
            <a:ext cx="360000" cy="360000"/>
          </a:xfrm>
          <a:prstGeom prst="diamond">
            <a:avLst/>
          </a:prstGeom>
          <a:solidFill>
            <a:srgbClr val="6CB83A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7"/>
          <p:cNvSpPr/>
          <p:nvPr>
            <p:custDataLst>
              <p:tags r:id="rId1"/>
            </p:custDataLst>
          </p:nvPr>
        </p:nvSpPr>
        <p:spPr>
          <a:xfrm>
            <a:off x="6388100" y="1808750"/>
            <a:ext cx="5220000" cy="4320000"/>
          </a:xfrm>
          <a:prstGeom prst="roundRect">
            <a:avLst>
              <a:gd name="adj" fmla="val 4324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" name="AutoShape 7"/>
          <p:cNvSpPr/>
          <p:nvPr>
            <p:custDataLst>
              <p:tags r:id="rId2"/>
            </p:custDataLst>
          </p:nvPr>
        </p:nvSpPr>
        <p:spPr>
          <a:xfrm>
            <a:off x="584200" y="1808750"/>
            <a:ext cx="5220000" cy="4320000"/>
          </a:xfrm>
          <a:prstGeom prst="roundRect">
            <a:avLst>
              <a:gd name="adj" fmla="val 4324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2"/>
          <p:cNvSpPr/>
          <p:nvPr/>
        </p:nvSpPr>
        <p:spPr>
          <a:xfrm>
            <a:off x="596900" y="373380"/>
            <a:ext cx="5948045" cy="6045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0" bIns="0" rtlCol="0" anchor="t" anchorCtr="0"/>
          <a:lstStyle/>
          <a:p>
            <a:pPr indent="0" algn="l">
              <a:lnSpc>
                <a:spcPct val="83000"/>
              </a:lnSpc>
              <a:defRPr/>
            </a:pPr>
            <a:r>
              <a:rPr lang="en-US" sz="3000" b="1" i="0" u="none" strike="noStrike">
                <a:solidFill>
                  <a:srgbClr val="B4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   </a:t>
            </a:r>
            <a:r>
              <a:rPr lang="zh-CN" altLang="en-US" sz="30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ngti SC"/>
              </a:rPr>
              <a:t>合作模式：共创共赢，赋能未来</a:t>
            </a:r>
            <a:endParaRPr lang="zh-CN" altLang="en-US" sz="30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ongti SC"/>
            </a:endParaRPr>
          </a:p>
        </p:txBody>
      </p:sp>
      <p:sp>
        <p:nvSpPr>
          <p:cNvPr id="16" name="AutoShape 4"/>
          <p:cNvSpPr/>
          <p:nvPr/>
        </p:nvSpPr>
        <p:spPr>
          <a:xfrm>
            <a:off x="676910" y="127254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+mj-ea"/>
                <a:ea typeface="+mj-ea"/>
                <a:cs typeface="Noto Sans SC" panose="020B0200000000000000" charset="-122"/>
                <a:sym typeface="Noto Sans SC" panose="020B0200000000000000" charset="-122"/>
              </a:rPr>
              <a:t>我们致力于成为您最可靠的技术合作伙伴，提供全流程支持与灵活方案。</a:t>
            </a:r>
            <a:endParaRPr lang="en-US" sz="1500" b="0" i="0" u="none" strike="noStrike">
              <a:solidFill>
                <a:srgbClr val="4B5563"/>
              </a:solidFill>
              <a:latin typeface="+mj-ea"/>
              <a:ea typeface="+mj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8"/>
          <p:cNvSpPr/>
          <p:nvPr/>
        </p:nvSpPr>
        <p:spPr>
          <a:xfrm>
            <a:off x="1016000" y="3175000"/>
            <a:ext cx="4699000" cy="889000"/>
          </a:xfrm>
          <a:prstGeom prst="roundRect">
            <a:avLst>
              <a:gd name="adj" fmla="val 8571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23" name="AutoShape 11"/>
          <p:cNvSpPr/>
          <p:nvPr/>
        </p:nvSpPr>
        <p:spPr>
          <a:xfrm>
            <a:off x="1016000" y="4191000"/>
            <a:ext cx="4699000" cy="889000"/>
          </a:xfrm>
          <a:prstGeom prst="roundRect">
            <a:avLst>
              <a:gd name="adj" fmla="val 8571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26" name="AutoShape 14"/>
          <p:cNvSpPr/>
          <p:nvPr/>
        </p:nvSpPr>
        <p:spPr>
          <a:xfrm>
            <a:off x="1016000" y="5207000"/>
            <a:ext cx="4699000" cy="889000"/>
          </a:xfrm>
          <a:prstGeom prst="roundRect">
            <a:avLst>
              <a:gd name="adj" fmla="val 8571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18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200" y="2217420"/>
            <a:ext cx="355600" cy="355600"/>
          </a:xfrm>
          <a:prstGeom prst="rect">
            <a:avLst/>
          </a:prstGeom>
        </p:spPr>
      </p:pic>
      <p:sp>
        <p:nvSpPr>
          <p:cNvPr id="19" name="AutoShape 7"/>
          <p:cNvSpPr/>
          <p:nvPr/>
        </p:nvSpPr>
        <p:spPr>
          <a:xfrm>
            <a:off x="1473200" y="2166620"/>
            <a:ext cx="381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E9FB9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灵活的供应模式</a:t>
            </a:r>
            <a:endParaRPr lang="en-US" sz="2000" b="1" i="0" u="none" strike="noStrike">
              <a:solidFill>
                <a:srgbClr val="0E9FB9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1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4900" y="3180080"/>
            <a:ext cx="304800" cy="304800"/>
          </a:xfrm>
          <a:prstGeom prst="rect">
            <a:avLst/>
          </a:prstGeom>
        </p:spPr>
      </p:pic>
      <p:sp>
        <p:nvSpPr>
          <p:cNvPr id="22" name="AutoShape 10"/>
          <p:cNvSpPr/>
          <p:nvPr/>
        </p:nvSpPr>
        <p:spPr>
          <a:xfrm>
            <a:off x="1612900" y="301498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sz="1800" b="1" i="0">
                <a:solidFill>
                  <a:schemeClr val="tx1"/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+mn-ea"/>
                <a:sym typeface="Noto Sans SC" panose="020B0200000000000000" charset="-122"/>
              </a:rPr>
              <a:t>样品提供</a:t>
            </a:r>
            <a:r>
              <a:rPr lang="en-US" sz="1600" i="0">
                <a:solidFill>
                  <a:schemeClr val="tx1"/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+mn-ea"/>
                <a:sym typeface="Noto Sans SC" panose="020B0200000000000000" charset="-122"/>
              </a:rPr>
              <a:t>  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Noto Sans SC" panose="020B0200000000000000" charset="-122"/>
              </a:rPr>
              <a:t>可提供产品样品与应用指导，协助客户开展产品测试与验证，降低项目落地门槛。</a:t>
            </a:r>
            <a:endParaRPr lang="zh-CN" altLang="en-US" i="0">
              <a:solidFill>
                <a:schemeClr val="tx1">
                  <a:lumMod val="75000"/>
                  <a:lumOff val="25000"/>
                </a:schemeClr>
              </a:solidFill>
              <a:uFillTx/>
              <a:latin typeface="+mn-ea"/>
              <a:ea typeface="宋体" panose="02010600030101010101" pitchFamily="2" charset="-122"/>
              <a:cs typeface="+mn-ea"/>
              <a:sym typeface="Noto Sans SC" panose="020B0200000000000000" charset="-122"/>
            </a:endParaRPr>
          </a:p>
        </p:txBody>
      </p:sp>
      <p:pic>
        <p:nvPicPr>
          <p:cNvPr id="24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4900" y="4196080"/>
            <a:ext cx="304800" cy="304800"/>
          </a:xfrm>
          <a:prstGeom prst="rect">
            <a:avLst/>
          </a:prstGeom>
        </p:spPr>
      </p:pic>
      <p:sp>
        <p:nvSpPr>
          <p:cNvPr id="25" name="AutoShape 13"/>
          <p:cNvSpPr/>
          <p:nvPr/>
        </p:nvSpPr>
        <p:spPr>
          <a:xfrm>
            <a:off x="1612900" y="403098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sz="1800" b="1" i="0">
                <a:solidFill>
                  <a:schemeClr val="tx1"/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+mn-ea"/>
                <a:sym typeface="Noto Sans SC" panose="020B0200000000000000" charset="-122"/>
              </a:rPr>
              <a:t>定制化服务</a:t>
            </a:r>
            <a:r>
              <a:rPr lang="en-US" sz="1600" i="0">
                <a:solidFill>
                  <a:schemeClr val="tx1"/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+mn-ea"/>
                <a:sym typeface="Noto Sans SC" panose="020B0200000000000000" charset="-122"/>
              </a:rPr>
              <a:t>  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Noto Sans SC" panose="020B0200000000000000" charset="-122"/>
              </a:rPr>
              <a:t>深度对接产品特性与成本要求，提供针对性的定制化解决方案。</a:t>
            </a:r>
            <a:endParaRPr lang="en-US" i="0">
              <a:solidFill>
                <a:schemeClr val="tx1">
                  <a:lumMod val="75000"/>
                  <a:lumOff val="25000"/>
                </a:schemeClr>
              </a:solidFill>
              <a:uFillTx/>
              <a:latin typeface="+mn-ea"/>
              <a:ea typeface="宋体" panose="02010600030101010101" pitchFamily="2" charset="-122"/>
              <a:cs typeface="+mn-ea"/>
              <a:sym typeface="Noto Sans SC" panose="020B0200000000000000" charset="-122"/>
            </a:endParaRPr>
          </a:p>
        </p:txBody>
      </p:sp>
      <p:pic>
        <p:nvPicPr>
          <p:cNvPr id="27" name="Picture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04900" y="5212080"/>
            <a:ext cx="304800" cy="304800"/>
          </a:xfrm>
          <a:prstGeom prst="rect">
            <a:avLst/>
          </a:prstGeom>
        </p:spPr>
      </p:pic>
      <p:sp>
        <p:nvSpPr>
          <p:cNvPr id="28" name="AutoShape 16"/>
          <p:cNvSpPr/>
          <p:nvPr/>
        </p:nvSpPr>
        <p:spPr>
          <a:xfrm>
            <a:off x="1612900" y="504698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sz="1800" b="1" i="0">
                <a:solidFill>
                  <a:schemeClr val="tx1"/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+mn-ea"/>
                <a:sym typeface="Noto Sans SC" panose="020B0200000000000000" charset="-122"/>
              </a:rPr>
              <a:t>稳定的供应</a:t>
            </a:r>
            <a:r>
              <a:rPr lang="en-US" sz="1600" i="0">
                <a:solidFill>
                  <a:schemeClr val="tx1"/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+mn-ea"/>
                <a:sym typeface="Noto Sans SC" panose="020B0200000000000000" charset="-122"/>
              </a:rPr>
              <a:t> 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Noto Sans SC" panose="020B0200000000000000" charset="-122"/>
              </a:rPr>
              <a:t>具备规模化生产能力，严格</a:t>
            </a:r>
            <a:r>
              <a:rPr lang="zh-CN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Noto Sans SC" panose="020B0200000000000000" charset="-122"/>
              </a:rPr>
              <a:t>落实品控管理，保障原材料稳定供应。</a:t>
            </a:r>
            <a:endParaRPr lang="zh-CN" altLang="en-US" i="0" dirty="0" err="1">
              <a:solidFill>
                <a:schemeClr val="tx1">
                  <a:lumMod val="75000"/>
                  <a:lumOff val="25000"/>
                </a:schemeClr>
              </a:solidFill>
              <a:uFillTx/>
              <a:latin typeface="+mn-ea"/>
              <a:ea typeface="宋体" panose="02010600030101010101" pitchFamily="2" charset="-122"/>
              <a:cs typeface="+mn-ea"/>
              <a:sym typeface="Noto Sans SC" panose="020B0200000000000000" charset="-122"/>
            </a:endParaRPr>
          </a:p>
        </p:txBody>
      </p:sp>
      <p:pic>
        <p:nvPicPr>
          <p:cNvPr id="30" name="Picture 1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99250" y="2217420"/>
            <a:ext cx="355600" cy="355600"/>
          </a:xfrm>
          <a:prstGeom prst="rect">
            <a:avLst/>
          </a:prstGeom>
        </p:spPr>
      </p:pic>
      <p:sp>
        <p:nvSpPr>
          <p:cNvPr id="31" name="AutoShape 19"/>
          <p:cNvSpPr/>
          <p:nvPr/>
        </p:nvSpPr>
        <p:spPr>
          <a:xfrm>
            <a:off x="7207250" y="2166620"/>
            <a:ext cx="381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E9FB9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全方位的技术支持</a:t>
            </a:r>
            <a:endParaRPr lang="en-US" sz="2000" b="1" i="0" u="none" strike="noStrike">
              <a:solidFill>
                <a:srgbClr val="0E9FB9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AutoShape 20"/>
          <p:cNvSpPr/>
          <p:nvPr/>
        </p:nvSpPr>
        <p:spPr>
          <a:xfrm>
            <a:off x="6648450" y="2889250"/>
            <a:ext cx="4699000" cy="889000"/>
          </a:xfrm>
          <a:prstGeom prst="roundRect">
            <a:avLst>
              <a:gd name="adj" fmla="val 8571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3" name="Picture 2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838950" y="3180080"/>
            <a:ext cx="304800" cy="304800"/>
          </a:xfrm>
          <a:prstGeom prst="rect">
            <a:avLst/>
          </a:prstGeom>
        </p:spPr>
      </p:pic>
      <p:sp>
        <p:nvSpPr>
          <p:cNvPr id="34" name="AutoShape 22"/>
          <p:cNvSpPr/>
          <p:nvPr/>
        </p:nvSpPr>
        <p:spPr>
          <a:xfrm>
            <a:off x="7346950" y="301498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sz="1800" b="1" i="0">
                <a:solidFill>
                  <a:schemeClr val="tx1"/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+mn-ea"/>
                <a:sym typeface="Noto Sans SC" panose="020B0200000000000000" charset="-122"/>
              </a:rPr>
              <a:t>应用指导</a:t>
            </a:r>
            <a:r>
              <a:rPr lang="en-US" sz="1600" i="0">
                <a:solidFill>
                  <a:schemeClr val="tx1"/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+mn-ea"/>
                <a:sym typeface="Noto Sans SC" panose="020B0200000000000000" charset="-122"/>
              </a:rPr>
              <a:t>  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Noto Sans SC" panose="020B0200000000000000" charset="-122"/>
              </a:rPr>
              <a:t>提供全程技术咨询服务，涵盖配方咨询、应用建议、开发建议及检测服务支持。</a:t>
            </a:r>
            <a:endParaRPr lang="zh-CN" altLang="en-US" i="0">
              <a:solidFill>
                <a:schemeClr val="tx1">
                  <a:lumMod val="75000"/>
                  <a:lumOff val="25000"/>
                </a:schemeClr>
              </a:solidFill>
              <a:uFillTx/>
              <a:latin typeface="+mn-ea"/>
              <a:ea typeface="宋体" panose="02010600030101010101" pitchFamily="2" charset="-122"/>
              <a:cs typeface="+mn-ea"/>
              <a:sym typeface="Noto Sans SC" panose="020B0200000000000000" charset="-122"/>
            </a:endParaRPr>
          </a:p>
        </p:txBody>
      </p:sp>
      <p:sp>
        <p:nvSpPr>
          <p:cNvPr id="35" name="AutoShape 23"/>
          <p:cNvSpPr/>
          <p:nvPr/>
        </p:nvSpPr>
        <p:spPr>
          <a:xfrm>
            <a:off x="6648450" y="3905250"/>
            <a:ext cx="4699000" cy="889000"/>
          </a:xfrm>
          <a:prstGeom prst="roundRect">
            <a:avLst>
              <a:gd name="adj" fmla="val 8571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6" name="Picture 24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838950" y="4196080"/>
            <a:ext cx="304800" cy="304800"/>
          </a:xfrm>
          <a:prstGeom prst="rect">
            <a:avLst/>
          </a:prstGeom>
        </p:spPr>
      </p:pic>
      <p:sp>
        <p:nvSpPr>
          <p:cNvPr id="37" name="AutoShape 25"/>
          <p:cNvSpPr/>
          <p:nvPr/>
        </p:nvSpPr>
        <p:spPr>
          <a:xfrm>
            <a:off x="7346950" y="403098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sz="1800" b="1" i="0">
                <a:solidFill>
                  <a:schemeClr val="tx1"/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+mn-ea"/>
                <a:sym typeface="Noto Sans SC" panose="020B0200000000000000" charset="-122"/>
              </a:rPr>
              <a:t>联合研发</a:t>
            </a:r>
            <a:r>
              <a:rPr lang="en-US" sz="1600" i="0">
                <a:solidFill>
                  <a:schemeClr val="tx1"/>
                </a:solidFill>
                <a:uFillTx/>
                <a:latin typeface="Calibri" panose="020F0502020204030204" charset="0"/>
                <a:ea typeface="宋体" panose="02010600030101010101" pitchFamily="2" charset="-122"/>
                <a:cs typeface="+mn-ea"/>
                <a:sym typeface="Noto Sans SC" panose="020B0200000000000000" charset="-122"/>
              </a:rPr>
              <a:t>  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Noto Sans SC" panose="020B0200000000000000" charset="-122"/>
              </a:rPr>
              <a:t>开放研发资源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Noto Sans SC" panose="020B0200000000000000" charset="-122"/>
              </a:rPr>
              <a:t>，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Noto Sans SC" panose="020B0200000000000000" charset="-122"/>
              </a:rPr>
              <a:t>与客户共同探索新技术，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Noto Sans SC" panose="020B0200000000000000" charset="-122"/>
              </a:rPr>
              <a:t>支持从配方优化到专利层面的深度合作。</a:t>
            </a:r>
            <a:endParaRPr lang="zh-CN" altLang="en-US" i="0">
              <a:solidFill>
                <a:schemeClr val="tx1">
                  <a:lumMod val="75000"/>
                  <a:lumOff val="25000"/>
                </a:schemeClr>
              </a:solidFill>
              <a:uFillTx/>
              <a:latin typeface="+mn-ea"/>
              <a:ea typeface="宋体" panose="02010600030101010101" pitchFamily="2" charset="-122"/>
              <a:cs typeface="+mn-ea"/>
              <a:sym typeface="Noto Sans SC" panose="020B0200000000000000" charset="-122"/>
            </a:endParaRPr>
          </a:p>
        </p:txBody>
      </p:sp>
      <p:sp>
        <p:nvSpPr>
          <p:cNvPr id="38" name="AutoShape 26"/>
          <p:cNvSpPr/>
          <p:nvPr/>
        </p:nvSpPr>
        <p:spPr>
          <a:xfrm>
            <a:off x="6648450" y="4921250"/>
            <a:ext cx="4699000" cy="889000"/>
          </a:xfrm>
          <a:prstGeom prst="roundRect">
            <a:avLst>
              <a:gd name="adj" fmla="val 8571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9" name="Picture 27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838950" y="5212080"/>
            <a:ext cx="304800" cy="304800"/>
          </a:xfrm>
          <a:prstGeom prst="rect">
            <a:avLst/>
          </a:prstGeom>
        </p:spPr>
      </p:pic>
      <p:sp>
        <p:nvSpPr>
          <p:cNvPr id="40" name="AutoShape 28"/>
          <p:cNvSpPr/>
          <p:nvPr/>
        </p:nvSpPr>
        <p:spPr>
          <a:xfrm>
            <a:off x="7346950" y="504698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sz="1800" b="1" dirty="0" err="1">
                <a:solidFill>
                  <a:schemeClr val="tx1"/>
                </a:solidFill>
                <a:latin typeface="+mn-ea"/>
                <a:cs typeface="+mn-ea"/>
                <a:sym typeface="Noto Sans SC" panose="020B0200000000000000" charset="-122"/>
              </a:rPr>
              <a:t>合规与质控支持</a:t>
            </a:r>
            <a:r>
              <a:rPr lang="en-US" b="1" dirty="0">
                <a:solidFill>
                  <a:schemeClr val="tx1"/>
                </a:solidFill>
                <a:latin typeface="+mn-ea"/>
                <a:cs typeface="+mn-ea"/>
                <a:sym typeface="Noto Sans SC" panose="020B0200000000000000" charset="-122"/>
              </a:rPr>
              <a:t> 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Noto Sans SC" panose="020B0200000000000000" charset="-122"/>
              </a:rPr>
              <a:t>提供合规文件与检测报告，协助客户完成产品备案与质量管控。</a:t>
            </a:r>
            <a:endParaRPr lang="zh-CN" altLang="en-US" i="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+mn-ea"/>
              <a:ea typeface="宋体" panose="02010600030101010101" pitchFamily="2" charset="-122"/>
              <a:cs typeface="+mn-ea"/>
              <a:sym typeface="Noto Sans SC" panose="020B0200000000000000" charset="-122"/>
            </a:endParaRPr>
          </a:p>
        </p:txBody>
      </p:sp>
      <p:sp>
        <p:nvSpPr>
          <p:cNvPr id="43" name="菱形 42"/>
          <p:cNvSpPr/>
          <p:nvPr/>
        </p:nvSpPr>
        <p:spPr>
          <a:xfrm>
            <a:off x="596900" y="495300"/>
            <a:ext cx="360000" cy="360000"/>
          </a:xfrm>
          <a:prstGeom prst="diamond">
            <a:avLst/>
          </a:prstGeom>
          <a:solidFill>
            <a:srgbClr val="6CB83A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555115"/>
            <a:ext cx="12192000" cy="2160000"/>
          </a:xfrm>
          <a:prstGeom prst="rect">
            <a:avLst/>
          </a:prstGeom>
          <a:solidFill>
            <a:srgbClr val="0E9FB9">
              <a:alpha val="1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AutoShape 2"/>
          <p:cNvSpPr/>
          <p:nvPr/>
        </p:nvSpPr>
        <p:spPr>
          <a:xfrm>
            <a:off x="1663700" y="1873250"/>
            <a:ext cx="571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spcBef>
                <a:spcPts val="1500"/>
              </a:spcBef>
            </a:pPr>
            <a:r>
              <a:rPr lang="zh-CN" altLang="en-US" sz="6600" b="1" i="0">
                <a:solidFill>
                  <a:srgbClr val="123456"/>
                </a:solidFill>
                <a:latin typeface="微软雅黑" panose="020B0503020204020204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感谢观看</a:t>
            </a:r>
            <a:endParaRPr lang="zh-CN" altLang="en-US" sz="6600" b="1" i="0">
              <a:solidFill>
                <a:srgbClr val="123456"/>
              </a:solidFill>
              <a:latin typeface="微软雅黑" panose="020B0503020204020204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1500"/>
              </a:spcBef>
            </a:pPr>
            <a:r>
              <a:rPr lang="zh-CN" altLang="en-US" sz="2000" b="0" i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期待与您合作</a:t>
            </a:r>
            <a:r>
              <a:rPr lang="en-US" altLang="zh-CN" sz="2000" b="0" i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·</a:t>
            </a:r>
            <a:r>
              <a:rPr lang="zh-CN" altLang="en-US" sz="2000" b="0" i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共创美好未来</a:t>
            </a:r>
            <a:endParaRPr lang="zh-CN" altLang="en-US" sz="2000" b="0" i="0">
              <a:solidFill>
                <a:schemeClr val="tx1">
                  <a:lumMod val="65000"/>
                  <a:lumOff val="35000"/>
                </a:schemeClr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5231765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天津聚合芯能健护科技有限公司</a:t>
            </a:r>
            <a:r>
              <a:rPr lang="en-US" altLang="zh-CN" sz="1800" b="1" i="0" u="none" strike="noStrike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 </a:t>
            </a:r>
            <a:r>
              <a:rPr lang="en-US" sz="1800" b="1" i="0" u="none" strike="noStrike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|  2026年5月</a:t>
            </a:r>
            <a:endParaRPr lang="en-US" sz="1800" b="1" i="0" u="none" strike="noStrike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8401685" y="1226820"/>
            <a:ext cx="4678045" cy="4975860"/>
            <a:chOff x="13231" y="1705"/>
            <a:chExt cx="7367" cy="7836"/>
          </a:xfrm>
        </p:grpSpPr>
        <p:grpSp>
          <p:nvGrpSpPr>
            <p:cNvPr id="13" name="组合 12"/>
            <p:cNvGrpSpPr/>
            <p:nvPr/>
          </p:nvGrpSpPr>
          <p:grpSpPr>
            <a:xfrm>
              <a:off x="15224" y="1705"/>
              <a:ext cx="3742" cy="7836"/>
              <a:chOff x="15224" y="1705"/>
              <a:chExt cx="3742" cy="7836"/>
            </a:xfrm>
          </p:grpSpPr>
          <p:pic>
            <p:nvPicPr>
              <p:cNvPr id="3" name="图片 2" descr="&amp;pky8954437493&amp;water&amp;"/>
              <p:cNvPicPr/>
              <p:nvPr/>
            </p:nvPicPr>
            <p:blipFill>
              <a:blip r:embed="rId1"/>
              <a:srcRect l="19416" r="14119"/>
              <a:stretch>
                <a:fillRect/>
              </a:stretch>
            </p:blipFill>
            <p:spPr>
              <a:xfrm>
                <a:off x="15224" y="1705"/>
                <a:ext cx="3742" cy="3742"/>
              </a:xfrm>
              <a:prstGeom prst="diamond">
                <a:avLst/>
              </a:prstGeom>
            </p:spPr>
          </p:pic>
          <p:pic>
            <p:nvPicPr>
              <p:cNvPr id="4" name="图片 3" descr="&amp;pky8724148792&amp;water&amp;"/>
              <p:cNvPicPr/>
              <p:nvPr/>
            </p:nvPicPr>
            <p:blipFill>
              <a:blip r:embed="rId2"/>
              <a:srcRect l="20265" t="-94" r="13089" b="94"/>
              <a:stretch>
                <a:fillRect/>
              </a:stretch>
            </p:blipFill>
            <p:spPr>
              <a:xfrm>
                <a:off x="15224" y="5799"/>
                <a:ext cx="3742" cy="3742"/>
              </a:xfrm>
              <a:prstGeom prst="diamond">
                <a:avLst/>
              </a:prstGeom>
            </p:spPr>
          </p:pic>
        </p:grpSp>
        <p:pic>
          <p:nvPicPr>
            <p:cNvPr id="8" name="图片 7" descr="3D render illustration."/>
            <p:cNvPicPr/>
            <p:nvPr>
              <p:custDataLst>
                <p:tags r:id="rId3"/>
              </p:custDataLst>
            </p:nvPr>
          </p:nvPicPr>
          <p:blipFill>
            <a:blip r:embed="rId4"/>
            <a:srcRect l="24068" r="19682"/>
            <a:stretch>
              <a:fillRect/>
            </a:stretch>
          </p:blipFill>
          <p:spPr>
            <a:xfrm>
              <a:off x="13231" y="3752"/>
              <a:ext cx="3742" cy="3742"/>
            </a:xfrm>
            <a:prstGeom prst="diamond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17820" y="4234"/>
              <a:ext cx="2778" cy="2778"/>
            </a:xfrm>
            <a:prstGeom prst="rect">
              <a:avLst/>
            </a:prstGeom>
            <a:solidFill>
              <a:srgbClr val="33AEC4"/>
            </a:solidFill>
            <a:ln>
              <a:noFill/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DOCER_RESOURCE_TRACE_INFO" val="{&quot;id&quot;:&quot;22425785&quot;,&quot;origin&quot;:0,&quot;type&quot;:&quot;pictures&quot;,&quot;user&quot;:&quot;128562381&quot;}"/>
</p:tagLst>
</file>

<file path=ppt/tags/tag64.xml><?xml version="1.0" encoding="utf-8"?>
<p:tagLst xmlns:p="http://schemas.openxmlformats.org/presentationml/2006/main">
  <p:tag name="KSO_WM_DIAGRAM_VIRTUALLY_FRAME" val="{&quot;height&quot;:836.512125984252,&quot;left&quot;:36.55,&quot;top&quot;:84.42503937007872,&quot;width&quot;:886.8968503937009}"/>
</p:tagLst>
</file>

<file path=ppt/tags/tag65.xml><?xml version="1.0" encoding="utf-8"?>
<p:tagLst xmlns:p="http://schemas.openxmlformats.org/presentationml/2006/main">
  <p:tag name="KSO_WM_DIAGRAM_VIRTUALLY_FRAME" val="{&quot;height&quot;:836.512125984252,&quot;left&quot;:36.55,&quot;top&quot;:84.42503937007872,&quot;width&quot;:886.8968503937009}"/>
</p:tagLst>
</file>

<file path=ppt/tags/tag66.xml><?xml version="1.0" encoding="utf-8"?>
<p:tagLst xmlns:p="http://schemas.openxmlformats.org/presentationml/2006/main">
  <p:tag name="KSO_WM_DIAGRAM_VIRTUALLY_FRAME" val="{&quot;height&quot;:836.512125984252,&quot;left&quot;:36.55,&quot;top&quot;:84.42503937007872,&quot;width&quot;:886.8968503937009}"/>
</p:tagLst>
</file>

<file path=ppt/tags/tag67.xml><?xml version="1.0" encoding="utf-8"?>
<p:tagLst xmlns:p="http://schemas.openxmlformats.org/presentationml/2006/main">
  <p:tag name="KSO_WM_DIAGRAM_VIRTUALLY_FRAME" val="{&quot;height&quot;:836.512125984252,&quot;left&quot;:36.55,&quot;top&quot;:84.42503937007872,&quot;width&quot;:886.8968503937009}"/>
</p:tagLst>
</file>

<file path=ppt/tags/tag68.xml><?xml version="1.0" encoding="utf-8"?>
<p:tagLst xmlns:p="http://schemas.openxmlformats.org/presentationml/2006/main">
  <p:tag name="KSO_WM_DIAGRAM_VIRTUALLY_FRAME" val="{&quot;height&quot;:836.512125984252,&quot;left&quot;:36.55,&quot;top&quot;:84.42503937007872,&quot;width&quot;:886.8968503937009}"/>
</p:tagLst>
</file>

<file path=ppt/tags/tag69.xml><?xml version="1.0" encoding="utf-8"?>
<p:tagLst xmlns:p="http://schemas.openxmlformats.org/presentationml/2006/main">
  <p:tag name="KSO_WM_DIAGRAM_VIRTUALLY_FRAME" val="{&quot;height&quot;:836.512125984252,&quot;left&quot;:36.55,&quot;top&quot;:84.42503937007872,&quot;width&quot;:886.8968503937009}"/>
</p:tagLst>
</file>

<file path=ppt/tags/tag70.xml><?xml version="1.0" encoding="utf-8"?>
<p:tagLst xmlns:p="http://schemas.openxmlformats.org/presentationml/2006/main">
  <p:tag name="KSO_WM_DIAGRAM_VIRTUALLY_FRAME" val="{&quot;height&quot;:836.512125984252,&quot;left&quot;:36.55,&quot;top&quot;:84.42503937007872,&quot;width&quot;:886.8968503937009}"/>
</p:tagLst>
</file>

<file path=ppt/tags/tag71.xml><?xml version="1.0" encoding="utf-8"?>
<p:tagLst xmlns:p="http://schemas.openxmlformats.org/presentationml/2006/main">
  <p:tag name="KSO_WM_DIAGRAM_VIRTUALLY_FRAME" val="{&quot;height&quot;:836.512125984252,&quot;left&quot;:36.55,&quot;top&quot;:84.42503937007872,&quot;width&quot;:886.8968503937009}"/>
</p:tagLst>
</file>

<file path=ppt/tags/tag72.xml><?xml version="1.0" encoding="utf-8"?>
<p:tagLst xmlns:p="http://schemas.openxmlformats.org/presentationml/2006/main">
  <p:tag name="KSO_WM_DIAGRAM_VIRTUALLY_FRAME" val="{&quot;height&quot;:385,&quot;left&quot;:50,&quot;top&quot;:130,&quot;width&quot;:860}"/>
</p:tagLst>
</file>

<file path=ppt/tags/tag73.xml><?xml version="1.0" encoding="utf-8"?>
<p:tagLst xmlns:p="http://schemas.openxmlformats.org/presentationml/2006/main">
  <p:tag name="KSO_WM_DIAGRAM_VIRTUALLY_FRAME" val="{&quot;height&quot;:385,&quot;left&quot;:50,&quot;top&quot;:130,&quot;width&quot;:860}"/>
</p:tagLst>
</file>

<file path=ppt/tags/tag74.xml><?xml version="1.0" encoding="utf-8"?>
<p:tagLst xmlns:p="http://schemas.openxmlformats.org/presentationml/2006/main">
  <p:tag name="KSO_WM_DIAGRAM_VIRTUALLY_FRAME" val="{&quot;height&quot;:385,&quot;left&quot;:50,&quot;top&quot;:130,&quot;width&quot;:860}"/>
</p:tagLst>
</file>

<file path=ppt/tags/tag75.xml><?xml version="1.0" encoding="utf-8"?>
<p:tagLst xmlns:p="http://schemas.openxmlformats.org/presentationml/2006/main">
  <p:tag name="KSO_WM_DIAGRAM_VIRTUALLY_FRAME" val="{&quot;height&quot;:385,&quot;left&quot;:50,&quot;top&quot;:130,&quot;width&quot;:860}"/>
</p:tagLst>
</file>

<file path=ppt/tags/tag76.xml><?xml version="1.0" encoding="utf-8"?>
<p:tagLst xmlns:p="http://schemas.openxmlformats.org/presentationml/2006/main">
  <p:tag name="KSO_WM_DIAGRAM_VIRTUALLY_FRAME" val="{&quot;height&quot;:354.95597665588514,&quot;left&quot;:22.45,&quot;top&quot;:124.74402334411484,&quot;width&quot;:926}"/>
</p:tagLst>
</file>

<file path=ppt/tags/tag77.xml><?xml version="1.0" encoding="utf-8"?>
<p:tagLst xmlns:p="http://schemas.openxmlformats.org/presentationml/2006/main">
  <p:tag name="KSO_WM_DIAGRAM_VIRTUALLY_FRAME" val="{&quot;height&quot;:418.4,&quot;left&quot;:16.7,&quot;top&quot;:67.35,&quot;width&quot;:924.7}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4"/>
  <p:tag name="KSO_WM_UNIT_ID" val="diagram20234386_1*l_h_i*1_4_4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4.95597665588514,&quot;left&quot;:22.45,&quot;top&quot;:124.74402334411484,&quot;width&quot;:926}"/>
  <p:tag name="KSO_WM_DIAGRAM_COLOR_MATCH_VALUE" val="{&quot;shape&quot;:{&quot;fill&quot;:{&quot;gradient&quot;:[{&quot;brightness&quot;:0,&quot;colorType&quot;:1,&quot;foreColorIndex&quot;:5,&quot;pos&quot;:0,&quot;transparency&quot;:0},{&quot;brightness&quot;:0.30000001192092896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3"/>
  <p:tag name="KSO_WM_UNIT_ID" val="diagram20234386_1*l_h_i*1_4_3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4.95597665588514,&quot;left&quot;:22.45,&quot;top&quot;:124.74402334411484,&quot;width&quot;:926}"/>
  <p:tag name="KSO_WM_DIAGRAM_COLOR_MATCH_VALUE" val="{&quot;shape&quot;:{&quot;fill&quot;:{&quot;gradient&quot;:[{&quot;brightness&quot;:0.30000001192092896,&quot;colorType&quot;:1,&quot;foreColorIndex&quot;:5,&quot;pos&quot;:0,&quot;transparency&quot;:0},{&quot;brightness&quot;:0.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2"/>
  <p:tag name="KSO_WM_UNIT_ID" val="diagram20234386_1*l_h_i*1_4_2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4.95597665588514,&quot;left&quot;:22.45,&quot;top&quot;:124.74402334411484,&quot;width&quot;:926}"/>
  <p:tag name="KSO_WM_DIAGRAM_COLOR_MATCH_VALUE" val="{&quot;shape&quot;:{&quot;fill&quot;:{&quot;gradient&quot;:[{&quot;brightness&quot;:-0.25,&quot;colorType&quot;:1,&quot;foreColorIndex&quot;:5,&quot;pos&quot;:0.38999998569488525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4"/>
  <p:tag name="KSO_WM_UNIT_ID" val="diagram20234386_1*l_h_i*1_2_4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4.95597665588514,&quot;left&quot;:22.45,&quot;top&quot;:124.74402334411484,&quot;width&quot;:926}"/>
  <p:tag name="KSO_WM_DIAGRAM_COLOR_MATCH_VALUE" val="{&quot;shape&quot;:{&quot;fill&quot;:{&quot;gradient&quot;:[{&quot;brightness&quot;:0,&quot;colorType&quot;:1,&quot;foreColorIndex&quot;:5,&quot;pos&quot;:0,&quot;transparency&quot;:0},{&quot;brightness&quot;:0.30000001192092896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3"/>
  <p:tag name="KSO_WM_UNIT_ID" val="diagram20234386_1*l_h_i*1_2_3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4.95597665588514,&quot;left&quot;:22.45,&quot;top&quot;:124.74402334411484,&quot;width&quot;:926}"/>
  <p:tag name="KSO_WM_DIAGRAM_COLOR_MATCH_VALUE" val="{&quot;shape&quot;:{&quot;fill&quot;:{&quot;gradient&quot;:[{&quot;brightness&quot;:0.30000001192092896,&quot;colorType&quot;:1,&quot;foreColorIndex&quot;:5,&quot;pos&quot;:0,&quot;transparency&quot;:0},{&quot;brightness&quot;:0.30000001192092896,&quot;colorType&quot;:1,&quot;foreColorIndex&quot;:5,&quot;pos&quot;:1,&quot;transparency&quot;:0},{&quot;brightness&quot;:0.5,&quot;colorType&quot;:1,&quot;foreColorIndex&quot;:5,&quot;pos&quot;:0.540000021457672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2"/>
  <p:tag name="KSO_WM_UNIT_ID" val="diagram20234386_1*l_h_i*1_2_2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4.95597665588514,&quot;left&quot;:22.45,&quot;top&quot;:124.74402334411484,&quot;width&quot;:926}"/>
  <p:tag name="KSO_WM_DIAGRAM_COLOR_MATCH_VALUE" val="{&quot;shape&quot;:{&quot;fill&quot;:{&quot;gradient&quot;:[{&quot;brightness&quot;:-0.25,&quot;colorType&quot;:1,&quot;foreColorIndex&quot;:5,&quot;pos&quot;:0.38999998569488525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4"/>
  <p:tag name="KSO_WM_UNIT_ID" val="diagram20234386_1*l_h_i*1_1_4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4.95597665588514,&quot;left&quot;:22.45,&quot;top&quot;:124.74402334411484,&quot;width&quot;:926}"/>
  <p:tag name="KSO_WM_DIAGRAM_COLOR_MATCH_VALUE" val="{&quot;shape&quot;:{&quot;fill&quot;:{&quot;gradient&quot;:[{&quot;brightness&quot;:0.699999988079071,&quot;colorType&quot;:1,&quot;foreColorIndex&quot;:5,&quot;pos&quot;:0,&quot;transparency&quot;:0},{&quot;brightness&quot;:0.699999988079071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2"/>
  <p:tag name="KSO_WM_UNIT_ID" val="diagram20234386_1*l_h_i*1_1_2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4.95597665588514,&quot;left&quot;:22.45,&quot;top&quot;:124.74402334411484,&quot;width&quot;:926}"/>
  <p:tag name="KSO_WM_DIAGRAM_COLOR_MATCH_VALUE" val="{&quot;shape&quot;:{&quot;fill&quot;:{&quot;gradient&quot;:[{&quot;brightness&quot;:0.20000000298023224,&quot;colorType&quot;:1,&quot;foreColorIndex&quot;:5,&quot;pos&quot;:0,&quot;transparency&quot;:0},{&quot;brightness&quot;:0.20000000298023224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3"/>
  <p:tag name="KSO_WM_UNIT_ID" val="diagram20234386_1*l_h_i*1_1_3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4.95597665588514,&quot;left&quot;:22.45,&quot;top&quot;:124.74402334411484,&quot;width&quot;:926}"/>
  <p:tag name="KSO_WM_DIAGRAM_COLOR_MATCH_VALUE" val="{&quot;shape&quot;:{&quot;fill&quot;:{&quot;gradient&quot;:[{&quot;brightness&quot;:-0.05000000074505806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4"/>
  <p:tag name="KSO_WM_UNIT_ID" val="diagram20234386_1*l_h_i*1_3_4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4.95597665588514,&quot;left&quot;:22.45,&quot;top&quot;:124.74402334411484,&quot;width&quot;:926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.6000000238418579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3"/>
  <p:tag name="KSO_WM_UNIT_ID" val="diagram20234386_1*l_h_i*1_3_3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4.95597665588514,&quot;left&quot;:22.45,&quot;top&quot;:124.74402334411484,&quot;width&quot;:926}"/>
  <p:tag name="KSO_WM_DIAGRAM_COLOR_MATCH_VALUE" val="{&quot;shape&quot;:{&quot;fill&quot;:{&quot;gradient&quot;:[{&quot;brightness&quot;:-0.10000000149011612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2"/>
  <p:tag name="KSO_WM_UNIT_ID" val="diagram20234386_1*l_h_i*1_3_2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4.95597665588514,&quot;left&quot;:22.45,&quot;top&quot;:124.74402334411484,&quot;width&quot;:926}"/>
  <p:tag name="KSO_WM_DIAGRAM_COLOR_MATCH_VALUE" val="{&quot;shape&quot;:{&quot;fill&quot;:{&quot;gradient&quot;:[{&quot;brightness&quot;:0.10000000149011612,&quot;colorType&quot;:1,&quot;foreColorIndex&quot;:5,&quot;pos&quot;:0,&quot;transparency&quot;:0},{&quot;brightness&quot;:0.10000000149011612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1"/>
  <p:tag name="KSO_WM_UNIT_ID" val="diagram20234386_1*l_h_i*1_3_1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4.95597665588514,&quot;left&quot;:22.45,&quot;top&quot;:124.74402334411484,&quot;width&quot;:926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"/>
  <p:tag name="KSO_WM_UNIT_ID" val="diagram20234386_1*l_h_i*1_1_1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4.95597665588514,&quot;left&quot;:22.45,&quot;top&quot;:124.74402334411484,&quot;width&quot;:926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1"/>
  <p:tag name="KSO_WM_UNIT_ID" val="diagram20234386_1*l_h_i*1_4_1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4.95597665588514,&quot;left&quot;:22.45,&quot;top&quot;:124.74402334411484,&quot;width&quot;:926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34386_1*l_h_i*1_2_1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4.95597665588514,&quot;left&quot;:22.45,&quot;top&quot;:124.74402334411484,&quot;width&quot;:926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ags/tag94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4386_1*l_h_f*1_1_1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VALUE" val="51"/>
  <p:tag name="KSO_WM_DIAGRAM_MAX_ITEMCNT" val="4"/>
  <p:tag name="KSO_WM_DIAGRAM_MIN_ITEMCNT" val="4"/>
  <p:tag name="KSO_WM_DIAGRAM_VIRTUALLY_FRAME" val="{&quot;height&quot;:354.95597665588514,&quot;left&quot;:22.45,&quot;top&quot;:124.74402334411484,&quot;width&quot;:92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您的项正文，文字是您思想的提炼，请尽量言简意赅的阐述观点单击输入项正文，文字是您思想的提炼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95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4386_1*l_h_f*1_3_1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VALUE" val="51"/>
  <p:tag name="KSO_WM_DIAGRAM_MAX_ITEMCNT" val="4"/>
  <p:tag name="KSO_WM_DIAGRAM_MIN_ITEMCNT" val="4"/>
  <p:tag name="KSO_WM_DIAGRAM_VIRTUALLY_FRAME" val="{&quot;height&quot;:354.95597665588514,&quot;left&quot;:22.45,&quot;top&quot;:124.74402334411484,&quot;width&quot;:92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您的项正文，文字是您思想的提炼，请尽量言简意赅的阐述观点单击输入项正文，文字是您思想的提炼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96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4386_1*l_h_f*1_2_1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1"/>
  <p:tag name="KSO_WM_DIAGRAM_GROUP_CODE" val="l1-1"/>
  <p:tag name="KSO_WM_DIAGRAM_MAX_ITEMCNT" val="4"/>
  <p:tag name="KSO_WM_DIAGRAM_MIN_ITEMCNT" val="4"/>
  <p:tag name="KSO_WM_DIAGRAM_VIRTUALLY_FRAME" val="{&quot;height&quot;:354.95597665588514,&quot;left&quot;:22.45,&quot;top&quot;:124.74402334411484,&quot;width&quot;:92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您的项正文，文字是您思想的提炼，请尽量言简意赅的阐述观点单击输入项正文，文字是您思想的提炼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97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4386_1*l_h_f*1_4_1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VALUE" val="51"/>
  <p:tag name="KSO_WM_DIAGRAM_MAX_ITEMCNT" val="4"/>
  <p:tag name="KSO_WM_DIAGRAM_MIN_ITEMCNT" val="4"/>
  <p:tag name="KSO_WM_DIAGRAM_VIRTUALLY_FRAME" val="{&quot;height&quot;:354.95597665588514,&quot;left&quot;:22.45,&quot;top&quot;:124.74402334411484,&quot;width&quot;:92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您的项正文，文字是您思想的提炼，请尽量言简意赅的阐述观点单击输入项正文，文字是您思想的提炼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98.xml><?xml version="1.0" encoding="utf-8"?>
<p:tagLst xmlns:p="http://schemas.openxmlformats.org/presentationml/2006/main">
  <p:tag name="KSO_DOCER_RESOURCE_TRACE_INFO" val="{&quot;id&quot;:&quot;3636482&quot;,&quot;origin&quot;:0,&quot;type&quot;:&quot;icons&quot;,&quot;user&quot;:&quot;128562381&quot;}"/>
</p:tagLst>
</file>

<file path=ppt/tags/tag99.xml><?xml version="1.0" encoding="utf-8"?>
<p:tagLst xmlns:p="http://schemas.openxmlformats.org/presentationml/2006/main">
  <p:tag name="KSO_DOCER_RESOURCE_TRACE_INFO" val="{&quot;id&quot;:&quot;4520582&quot;,&quot;origin&quot;:0,&quot;type&quot;:&quot;icons&quot;,&quot;user&quot;:&quot;128562381&quot;}"/>
</p:tagLst>
</file>

<file path=ppt/tags/tag100.xml><?xml version="1.0" encoding="utf-8"?>
<p:tagLst xmlns:p="http://schemas.openxmlformats.org/presentationml/2006/main">
  <p:tag name="KSO_DOCER_RESOURCE_TRACE_INFO" val="{&quot;id&quot;:&quot;50063366&quot;,&quot;origin&quot;:0,&quot;type&quot;:&quot;icons&quot;,&quot;user&quot;:&quot;128562381&quot;}"/>
</p:tagLst>
</file>

<file path=ppt/tags/tag101.xml><?xml version="1.0" encoding="utf-8"?>
<p:tagLst xmlns:p="http://schemas.openxmlformats.org/presentationml/2006/main">
  <p:tag name="KSO_DOCER_RESOURCE_TRACE_INFO" val="{&quot;id&quot;:&quot;21539234&quot;,&quot;origin&quot;:0,&quot;type&quot;:&quot;icons&quot;,&quot;user&quot;:&quot;128562381&quot;}"/>
</p:tagLst>
</file>

<file path=ppt/tags/tag102.xml><?xml version="1.0" encoding="utf-8"?>
<p:tagLst xmlns:p="http://schemas.openxmlformats.org/presentationml/2006/main">
  <p:tag name="KSO_WM_DIAGRAM_VIRTUALLY_FRAME" val="{&quot;height&quot;:408.5,&quot;left&quot;:36.55,&quot;top&quot;:118.5,&quot;width&quot;:886.8968383789063}"/>
</p:tagLst>
</file>

<file path=ppt/tags/tag103.xml><?xml version="1.0" encoding="utf-8"?>
<p:tagLst xmlns:p="http://schemas.openxmlformats.org/presentationml/2006/main">
  <p:tag name="KSO_WM_DIAGRAM_VIRTUALLY_FRAME" val="{&quot;height&quot;:408.5,&quot;left&quot;:36.55,&quot;top&quot;:118.5,&quot;width&quot;:886.8968383789063}"/>
</p:tagLst>
</file>

<file path=ppt/tags/tag104.xml><?xml version="1.0" encoding="utf-8"?>
<p:tagLst xmlns:p="http://schemas.openxmlformats.org/presentationml/2006/main">
  <p:tag name="KSO_WM_DIAGRAM_VIRTUALLY_FRAME" val="{&quot;height&quot;:408.5,&quot;left&quot;:36.55,&quot;top&quot;:118.5,&quot;width&quot;:886.8968383789063}"/>
</p:tagLst>
</file>

<file path=ppt/tags/tag105.xml><?xml version="1.0" encoding="utf-8"?>
<p:tagLst xmlns:p="http://schemas.openxmlformats.org/presentationml/2006/main">
  <p:tag name="KSO_WM_DIAGRAM_VIRTUALLY_FRAME" val="{&quot;height&quot;:408.5,&quot;left&quot;:36.55,&quot;top&quot;:118.5,&quot;width&quot;:886.8968383789063}"/>
</p:tagLst>
</file>

<file path=ppt/tags/tag106.xml><?xml version="1.0" encoding="utf-8"?>
<p:tagLst xmlns:p="http://schemas.openxmlformats.org/presentationml/2006/main">
  <p:tag name="KSO_WM_DIAGRAM_VIRTUALLY_FRAME" val="{&quot;height&quot;:408.5,&quot;left&quot;:36.55,&quot;top&quot;:118.5,&quot;width&quot;:886.8968383789063}"/>
</p:tagLst>
</file>

<file path=ppt/tags/tag107.xml><?xml version="1.0" encoding="utf-8"?>
<p:tagLst xmlns:p="http://schemas.openxmlformats.org/presentationml/2006/main">
  <p:tag name="KSO_WM_DIAGRAM_VIRTUALLY_FRAME" val="{&quot;height&quot;:408.5,&quot;left&quot;:36.55,&quot;top&quot;:118.5,&quot;width&quot;:886.8968383789063}"/>
</p:tagLst>
</file>

<file path=ppt/tags/tag108.xml><?xml version="1.0" encoding="utf-8"?>
<p:tagLst xmlns:p="http://schemas.openxmlformats.org/presentationml/2006/main">
  <p:tag name="KSO_WM_DIAGRAM_VIRTUALLY_FRAME" val="{&quot;height&quot;:408.5,&quot;left&quot;:36.55,&quot;top&quot;:118.5,&quot;width&quot;:886.8968383789063}"/>
</p:tagLst>
</file>

<file path=ppt/tags/tag109.xml><?xml version="1.0" encoding="utf-8"?>
<p:tagLst xmlns:p="http://schemas.openxmlformats.org/presentationml/2006/main">
  <p:tag name="KSO_WM_DIAGRAM_VIRTUALLY_FRAME" val="{&quot;height&quot;:408.5,&quot;left&quot;:36.55,&quot;top&quot;:118.5,&quot;width&quot;:886.8968383789063}"/>
</p:tagLst>
</file>

<file path=ppt/tags/tag110.xml><?xml version="1.0" encoding="utf-8"?>
<p:tagLst xmlns:p="http://schemas.openxmlformats.org/presentationml/2006/main">
  <p:tag name="KSO_WM_DIAGRAM_VIRTUALLY_FRAME" val="{&quot;height&quot;:408.5,&quot;left&quot;:36.55,&quot;top&quot;:118.5,&quot;width&quot;:886.8968383789063}"/>
</p:tagLst>
</file>

<file path=ppt/tags/tag111.xml><?xml version="1.0" encoding="utf-8"?>
<p:tagLst xmlns:p="http://schemas.openxmlformats.org/presentationml/2006/main">
  <p:tag name="KSO_WM_DIAGRAM_VIRTUALLY_FRAME" val="{&quot;height&quot;:408.5,&quot;left&quot;:36.55,&quot;top&quot;:118.5,&quot;width&quot;:886.8968383789063}"/>
</p:tagLst>
</file>

<file path=ppt/tags/tag112.xml><?xml version="1.0" encoding="utf-8"?>
<p:tagLst xmlns:p="http://schemas.openxmlformats.org/presentationml/2006/main">
  <p:tag name="KSO_WM_DIAGRAM_VIRTUALLY_FRAME" val="{&quot;height&quot;:408.5,&quot;left&quot;:36.55,&quot;top&quot;:118.5,&quot;width&quot;:886.8968383789063}"/>
</p:tagLst>
</file>

<file path=ppt/tags/tag113.xml><?xml version="1.0" encoding="utf-8"?>
<p:tagLst xmlns:p="http://schemas.openxmlformats.org/presentationml/2006/main">
  <p:tag name="KSO_WM_DIAGRAM_VIRTUALLY_FRAME" val="{&quot;height&quot;:408.5,&quot;left&quot;:36.55,&quot;top&quot;:118.5,&quot;width&quot;:886.8968383789063}"/>
</p:tagLst>
</file>

<file path=ppt/tags/tag114.xml><?xml version="1.0" encoding="utf-8"?>
<p:tagLst xmlns:p="http://schemas.openxmlformats.org/presentationml/2006/main">
  <p:tag name="KSO_WM_DIAGRAM_VIRTUALLY_FRAME" val="{&quot;height&quot;:408.5,&quot;left&quot;:36.55,&quot;top&quot;:118.5,&quot;width&quot;:886.8968383789063}"/>
</p:tagLst>
</file>

<file path=ppt/tags/tag115.xml><?xml version="1.0" encoding="utf-8"?>
<p:tagLst xmlns:p="http://schemas.openxmlformats.org/presentationml/2006/main">
  <p:tag name="KSO_WM_DIAGRAM_VIRTUALLY_FRAME" val="{&quot;height&quot;:408.5,&quot;left&quot;:36.55,&quot;top&quot;:118.5,&quot;width&quot;:886.8968383789063}"/>
</p:tagLst>
</file>

<file path=ppt/tags/tag116.xml><?xml version="1.0" encoding="utf-8"?>
<p:tagLst xmlns:p="http://schemas.openxmlformats.org/presentationml/2006/main">
  <p:tag name="KSO_WM_DIAGRAM_VIRTUALLY_FRAME" val="{&quot;height&quot;:408.5,&quot;left&quot;:36.55,&quot;top&quot;:118.5,&quot;width&quot;:886.8968383789063}"/>
</p:tagLst>
</file>

<file path=ppt/tags/tag117.xml><?xml version="1.0" encoding="utf-8"?>
<p:tagLst xmlns:p="http://schemas.openxmlformats.org/presentationml/2006/main">
  <p:tag name="KSO_WM_DIAGRAM_VIRTUALLY_FRAME" val="{&quot;height&quot;:408.5,&quot;left&quot;:36.55,&quot;top&quot;:118.5,&quot;width&quot;:886.8968383789063}"/>
</p:tagLst>
</file>

<file path=ppt/tags/tag118.xml><?xml version="1.0" encoding="utf-8"?>
<p:tagLst xmlns:p="http://schemas.openxmlformats.org/presentationml/2006/main">
  <p:tag name="KSO_WM_DIAGRAM_VIRTUALLY_FRAME" val="{&quot;height&quot;:408.5,&quot;left&quot;:36.55,&quot;top&quot;:118.5,&quot;width&quot;:886.8968383789063}"/>
</p:tagLst>
</file>

<file path=ppt/tags/tag119.xml><?xml version="1.0" encoding="utf-8"?>
<p:tagLst xmlns:p="http://schemas.openxmlformats.org/presentationml/2006/main">
  <p:tag name="KSO_WM_DIAGRAM_VIRTUALLY_FRAME" val="{&quot;height&quot;:408.5,&quot;left&quot;:36.55,&quot;top&quot;:118.5,&quot;width&quot;:886.8968383789063}"/>
</p:tagLst>
</file>

<file path=ppt/tags/tag120.xml><?xml version="1.0" encoding="utf-8"?>
<p:tagLst xmlns:p="http://schemas.openxmlformats.org/presentationml/2006/main">
  <p:tag name="KSO_WM_DIAGRAM_VIRTUALLY_FRAME" val="{&quot;height&quot;:408.5,&quot;left&quot;:36.55,&quot;top&quot;:118.5,&quot;width&quot;:886.8968383789063}"/>
</p:tagLst>
</file>

<file path=ppt/tags/tag121.xml><?xml version="1.0" encoding="utf-8"?>
<p:tagLst xmlns:p="http://schemas.openxmlformats.org/presentationml/2006/main">
  <p:tag name="KSO_WM_DIAGRAM_VIRTUALLY_FRAME" val="{&quot;height&quot;:408.5,&quot;left&quot;:36.55,&quot;top&quot;:118.5,&quot;width&quot;:886.8968383789063}"/>
</p:tagLst>
</file>

<file path=ppt/tags/tag122.xml><?xml version="1.0" encoding="utf-8"?>
<p:tagLst xmlns:p="http://schemas.openxmlformats.org/presentationml/2006/main">
  <p:tag name="KSO_WM_DIAGRAM_VIRTUALLY_FRAME" val="{&quot;height&quot;:408.5,&quot;left&quot;:36.55,&quot;top&quot;:118.5,&quot;width&quot;:886.8968383789063}"/>
</p:tagLst>
</file>

<file path=ppt/tags/tag123.xml><?xml version="1.0" encoding="utf-8"?>
<p:tagLst xmlns:p="http://schemas.openxmlformats.org/presentationml/2006/main">
  <p:tag name="KSO_WM_DIAGRAM_VIRTUALLY_FRAME" val="{&quot;height&quot;:408.5,&quot;left&quot;:36.55,&quot;top&quot;:118.5,&quot;width&quot;:886.8968383789063}"/>
</p:tagLst>
</file>

<file path=ppt/tags/tag124.xml><?xml version="1.0" encoding="utf-8"?>
<p:tagLst xmlns:p="http://schemas.openxmlformats.org/presentationml/2006/main">
  <p:tag name="TABLE_ENDDRAG_ORIGIN_RECT" val="642*184"/>
  <p:tag name="TABLE_ENDDRAG_RECT" val="153*186*642*184"/>
</p:tagLst>
</file>

<file path=ppt/tags/tag125.xml><?xml version="1.0" encoding="utf-8"?>
<p:tagLst xmlns:p="http://schemas.openxmlformats.org/presentationml/2006/main">
  <p:tag name="TABLE_ENDDRAG_ORIGIN_RECT" val="586*340"/>
  <p:tag name="TABLE_ENDDRAG_RECT" val="190*151*586*340"/>
</p:tagLst>
</file>

<file path=ppt/tags/tag126.xml><?xml version="1.0" encoding="utf-8"?>
<p:tagLst xmlns:p="http://schemas.openxmlformats.org/presentationml/2006/main">
  <p:tag name="KSO_WM_DIAGRAM_VIRTUALLY_FRAME" val="{&quot;height&quot;:432.95,&quot;left&quot;:40,&quot;top&quot;:116.3,&quot;width&quot;:880}"/>
</p:tagLst>
</file>

<file path=ppt/tags/tag127.xml><?xml version="1.0" encoding="utf-8"?>
<p:tagLst xmlns:p="http://schemas.openxmlformats.org/presentationml/2006/main">
  <p:tag name="KSO_WM_DIAGRAM_VIRTUALLY_FRAME" val="{&quot;height&quot;:432.95,&quot;left&quot;:40,&quot;top&quot;:116.3,&quot;width&quot;:880}"/>
</p:tagLst>
</file>

<file path=ppt/tags/tag128.xml><?xml version="1.0" encoding="utf-8"?>
<p:tagLst xmlns:p="http://schemas.openxmlformats.org/presentationml/2006/main">
  <p:tag name="KSO_WM_DIAGRAM_VIRTUALLY_FRAME" val="{&quot;height&quot;:432.95,&quot;left&quot;:40,&quot;top&quot;:116.3,&quot;width&quot;:880}"/>
</p:tagLst>
</file>

<file path=ppt/tags/tag129.xml><?xml version="1.0" encoding="utf-8"?>
<p:tagLst xmlns:p="http://schemas.openxmlformats.org/presentationml/2006/main">
  <p:tag name="KSO_WM_DIAGRAM_VIRTUALLY_FRAME" val="{&quot;height&quot;:432.95,&quot;left&quot;:40,&quot;top&quot;:116.3,&quot;width&quot;:880}"/>
</p:tagLst>
</file>

<file path=ppt/tags/tag130.xml><?xml version="1.0" encoding="utf-8"?>
<p:tagLst xmlns:p="http://schemas.openxmlformats.org/presentationml/2006/main">
  <p:tag name="KSO_WM_DIAGRAM_VIRTUALLY_FRAME" val="{&quot;height&quot;:432.95,&quot;left&quot;:40,&quot;top&quot;:116.3,&quot;width&quot;:880}"/>
</p:tagLst>
</file>

<file path=ppt/tags/tag131.xml><?xml version="1.0" encoding="utf-8"?>
<p:tagLst xmlns:p="http://schemas.openxmlformats.org/presentationml/2006/main">
  <p:tag name="KSO_WM_DIAGRAM_VIRTUALLY_FRAME" val="{&quot;height&quot;:432.95,&quot;left&quot;:40,&quot;top&quot;:116.3,&quot;width&quot;:880}"/>
</p:tagLst>
</file>

<file path=ppt/tags/tag132.xml><?xml version="1.0" encoding="utf-8"?>
<p:tagLst xmlns:p="http://schemas.openxmlformats.org/presentationml/2006/main">
  <p:tag name="KSO_WM_DIAGRAM_VIRTUALLY_FRAME" val="{&quot;height&quot;:432.95,&quot;left&quot;:40,&quot;top&quot;:116.3,&quot;width&quot;:880}"/>
</p:tagLst>
</file>

<file path=ppt/tags/tag133.xml><?xml version="1.0" encoding="utf-8"?>
<p:tagLst xmlns:p="http://schemas.openxmlformats.org/presentationml/2006/main">
  <p:tag name="KSO_WM_DIAGRAM_VIRTUALLY_FRAME" val="{&quot;height&quot;:432.95,&quot;left&quot;:40,&quot;top&quot;:116.3,&quot;width&quot;:880}"/>
</p:tagLst>
</file>

<file path=ppt/tags/tag134.xml><?xml version="1.0" encoding="utf-8"?>
<p:tagLst xmlns:p="http://schemas.openxmlformats.org/presentationml/2006/main">
  <p:tag name="KSO_WM_DIAGRAM_VIRTUALLY_FRAME" val="{&quot;height&quot;:299,&quot;left&quot;:54.1,&quot;top&quot;:176,&quot;width&quot;:851.7751426242869}"/>
</p:tagLst>
</file>

<file path=ppt/tags/tag135.xml><?xml version="1.0" encoding="utf-8"?>
<p:tagLst xmlns:p="http://schemas.openxmlformats.org/presentationml/2006/main">
  <p:tag name="KSO_WM_DIAGRAM_VIRTUALLY_FRAME" val="{&quot;height&quot;:299,&quot;left&quot;:54.1,&quot;top&quot;:176,&quot;width&quot;:851.7751426242869}"/>
</p:tagLst>
</file>

<file path=ppt/tags/tag136.xml><?xml version="1.0" encoding="utf-8"?>
<p:tagLst xmlns:p="http://schemas.openxmlformats.org/presentationml/2006/main">
  <p:tag name="KSO_WM_DIAGRAM_VIRTUALLY_FRAME" val="{&quot;height&quot;:299,&quot;left&quot;:54.1,&quot;top&quot;:176,&quot;width&quot;:851.7751426242869}"/>
</p:tagLst>
</file>

<file path=ppt/tags/tag137.xml><?xml version="1.0" encoding="utf-8"?>
<p:tagLst xmlns:p="http://schemas.openxmlformats.org/presentationml/2006/main">
  <p:tag name="KSO_WM_DIAGRAM_VIRTUALLY_FRAME" val="{&quot;height&quot;:299,&quot;left&quot;:54.1,&quot;top&quot;:176,&quot;width&quot;:851.7751426242869}"/>
</p:tagLst>
</file>

<file path=ppt/tags/tag138.xml><?xml version="1.0" encoding="utf-8"?>
<p:tagLst xmlns:p="http://schemas.openxmlformats.org/presentationml/2006/main">
  <p:tag name="KSO_WM_DIAGRAM_VIRTUALLY_FRAME" val="{&quot;height&quot;:299,&quot;left&quot;:54.1,&quot;top&quot;:176,&quot;width&quot;:851.7751426242869}"/>
</p:tagLst>
</file>

<file path=ppt/tags/tag139.xml><?xml version="1.0" encoding="utf-8"?>
<p:tagLst xmlns:p="http://schemas.openxmlformats.org/presentationml/2006/main">
  <p:tag name="KSO_WM_DIAGRAM_VIRTUALLY_FRAME" val="{&quot;height&quot;:299,&quot;left&quot;:54.1,&quot;top&quot;:176,&quot;width&quot;:851.7751426242869}"/>
</p:tagLst>
</file>

<file path=ppt/tags/tag140.xml><?xml version="1.0" encoding="utf-8"?>
<p:tagLst xmlns:p="http://schemas.openxmlformats.org/presentationml/2006/main">
  <p:tag name="KSO_WM_DIAGRAM_VIRTUALLY_FRAME" val="{&quot;height&quot;:397.9787401574804,&quot;left&quot;:36.55,&quot;top&quot;:134.81062992125982,&quot;width&quot;:886.8968503937009}"/>
</p:tagLst>
</file>

<file path=ppt/tags/tag141.xml><?xml version="1.0" encoding="utf-8"?>
<p:tagLst xmlns:p="http://schemas.openxmlformats.org/presentationml/2006/main">
  <p:tag name="KSO_WM_DIAGRAM_VIRTUALLY_FRAME" val="{&quot;height&quot;:397.9787401574804,&quot;left&quot;:36.55,&quot;top&quot;:134.81062992125982,&quot;width&quot;:886.8968503937009}"/>
</p:tagLst>
</file>

<file path=ppt/tags/tag142.xml><?xml version="1.0" encoding="utf-8"?>
<p:tagLst xmlns:p="http://schemas.openxmlformats.org/presentationml/2006/main">
  <p:tag name="KSO_WM_DIAGRAM_VIRTUALLY_FRAME" val="{&quot;height&quot;:397.9787401574804,&quot;left&quot;:36.55,&quot;top&quot;:134.81062992125982,&quot;width&quot;:886.8968503937009}"/>
</p:tagLst>
</file>

<file path=ppt/tags/tag143.xml><?xml version="1.0" encoding="utf-8"?>
<p:tagLst xmlns:p="http://schemas.openxmlformats.org/presentationml/2006/main">
  <p:tag name="KSO_WM_DIAGRAM_VIRTUALLY_FRAME" val="{&quot;height&quot;:397.9787401574804,&quot;left&quot;:36.55,&quot;top&quot;:134.81062992125982,&quot;width&quot;:886.8968503937009}"/>
</p:tagLst>
</file>

<file path=ppt/tags/tag144.xml><?xml version="1.0" encoding="utf-8"?>
<p:tagLst xmlns:p="http://schemas.openxmlformats.org/presentationml/2006/main">
  <p:tag name="KSO_WM_DIAGRAM_VIRTUALLY_FRAME" val="{&quot;height&quot;:397.9787401574804,&quot;left&quot;:36.55,&quot;top&quot;:134.81062992125982,&quot;width&quot;:886.8968503937009}"/>
</p:tagLst>
</file>

<file path=ppt/tags/tag145.xml><?xml version="1.0" encoding="utf-8"?>
<p:tagLst xmlns:p="http://schemas.openxmlformats.org/presentationml/2006/main">
  <p:tag name="KSO_WM_DIAGRAM_VIRTUALLY_FRAME" val="{&quot;height&quot;:397.9787401574804,&quot;left&quot;:36.55,&quot;top&quot;:134.81062992125982,&quot;width&quot;:886.8968503937009}"/>
</p:tagLst>
</file>

<file path=ppt/tags/tag146.xml><?xml version="1.0" encoding="utf-8"?>
<p:tagLst xmlns:p="http://schemas.openxmlformats.org/presentationml/2006/main">
  <p:tag name="KSO_WM_DIAGRAM_VIRTUALLY_FRAME" val="{&quot;height&quot;:397.9787401574804,&quot;left&quot;:36.55,&quot;top&quot;:134.81062992125982,&quot;width&quot;:886.8968503937009}"/>
</p:tagLst>
</file>

<file path=ppt/tags/tag147.xml><?xml version="1.0" encoding="utf-8"?>
<p:tagLst xmlns:p="http://schemas.openxmlformats.org/presentationml/2006/main">
  <p:tag name="KSO_WM_DIAGRAM_VIRTUALLY_FRAME" val="{&quot;height&quot;:397.9787401574804,&quot;left&quot;:36.55,&quot;top&quot;:134.81062992125982,&quot;width&quot;:886.8968503937009}"/>
</p:tagLst>
</file>

<file path=ppt/tags/tag148.xml><?xml version="1.0" encoding="utf-8"?>
<p:tagLst xmlns:p="http://schemas.openxmlformats.org/presentationml/2006/main">
  <p:tag name="KSO_WM_DIAGRAM_VIRTUALLY_FRAME" val="{&quot;height&quot;:397.9787401574804,&quot;left&quot;:36.55,&quot;top&quot;:134.81062992125982,&quot;width&quot;:886.8968503937009}"/>
</p:tagLst>
</file>

<file path=ppt/tags/tag149.xml><?xml version="1.0" encoding="utf-8"?>
<p:tagLst xmlns:p="http://schemas.openxmlformats.org/presentationml/2006/main">
  <p:tag name="KSO_WM_DIAGRAM_VIRTUALLY_FRAME" val="{&quot;height&quot;:397.9787401574804,&quot;left&quot;:36.55,&quot;top&quot;:134.81062992125982,&quot;width&quot;:886.8968503937009}"/>
</p:tagLst>
</file>

<file path=ppt/tags/tag150.xml><?xml version="1.0" encoding="utf-8"?>
<p:tagLst xmlns:p="http://schemas.openxmlformats.org/presentationml/2006/main">
  <p:tag name="KSO_WM_DIAGRAM_VIRTUALLY_FRAME" val="{&quot;height&quot;:397.9787401574804,&quot;left&quot;:36.55,&quot;top&quot;:134.81062992125982,&quot;width&quot;:886.8968503937009}"/>
</p:tagLst>
</file>

<file path=ppt/tags/tag151.xml><?xml version="1.0" encoding="utf-8"?>
<p:tagLst xmlns:p="http://schemas.openxmlformats.org/presentationml/2006/main">
  <p:tag name="KSO_WM_DIAGRAM_VIRTUALLY_FRAME" val="{&quot;height&quot;:397.9787401574804,&quot;left&quot;:36.55,&quot;top&quot;:134.81062992125982,&quot;width&quot;:886.8968503937009}"/>
</p:tagLst>
</file>

<file path=ppt/tags/tag152.xml><?xml version="1.0" encoding="utf-8"?>
<p:tagLst xmlns:p="http://schemas.openxmlformats.org/presentationml/2006/main">
  <p:tag name="KSO_WM_DIAGRAM_VIRTUALLY_FRAME" val="{&quot;height&quot;:457.25,&quot;left&quot;:-72.05,&quot;top&quot;:95.65,&quot;width&quot;:977.8549682617188}"/>
</p:tagLst>
</file>

<file path=ppt/tags/tag153.xml><?xml version="1.0" encoding="utf-8"?>
<p:tagLst xmlns:p="http://schemas.openxmlformats.org/presentationml/2006/main">
  <p:tag name="KSO_WM_DIAGRAM_VIRTUALLY_FRAME" val="{&quot;height&quot;:409.0294158935547,&quot;left&quot;:105.99503173828126,&quot;top&quot;:124.2,&quot;width&quot;:799.8099365234375}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793_3*l_h_i*1_4_1"/>
  <p:tag name="KSO_WM_TEMPLATE_CATEGORY" val="diagram"/>
  <p:tag name="KSO_WM_TEMPLATE_INDEX" val="20234793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4_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57.25,&quot;left&quot;:-72.05,&quot;top&quot;:95.65,&quot;width&quot;:977.8549682617188}"/>
  <p:tag name="KSO_WM_DIAGRAM_COLOR_MATCH_VALUE" val="{&quot;shape&quot;:{&quot;fill&quot;:{&quot;solid&quot;:{&quot;brightness&quot;:0,&quot;colorType&quot;:1,&quot;foreColorIndex&quot;:5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793_3*l_h_i*1_4_2"/>
  <p:tag name="KSO_WM_TEMPLATE_CATEGORY" val="diagram"/>
  <p:tag name="KSO_WM_TEMPLATE_INDEX" val="20234793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4_2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57.25,&quot;left&quot;:-72.05,&quot;top&quot;:95.65,&quot;width&quot;:977.8549682617188}"/>
  <p:tag name="KSO_WM_DIAGRAM_COLOR_MATCH_VALUE" val="{&quot;shape&quot;:{&quot;fill&quot;:{&quot;solid&quot;:{&quot;brightness&quot;:0,&quot;colorType&quot;:1,&quot;foreColorIndex&quot;:5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56.xml><?xml version="1.0" encoding="utf-8"?>
<p:tagLst xmlns:p="http://schemas.openxmlformats.org/presentationml/2006/main">
  <p:tag name="KSO_WM_DIAGRAM_VIRTUALLY_FRAME" val="{&quot;height&quot;:409.0294158935547,&quot;left&quot;:105.99503173828126,&quot;top&quot;:124.2,&quot;width&quot;:799.8099365234375}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793_3*l_h_i*1_3_3"/>
  <p:tag name="KSO_WM_TEMPLATE_CATEGORY" val="diagram"/>
  <p:tag name="KSO_WM_TEMPLATE_INDEX" val="20234793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3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57.25,&quot;left&quot;:-72.05,&quot;top&quot;:95.65,&quot;width&quot;:977.85496826171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.6399999856948853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793_3*l_h_a*1_3_1"/>
  <p:tag name="KSO_WM_TEMPLATE_CATEGORY" val="diagram"/>
  <p:tag name="KSO_WM_TEMPLATE_INDEX" val="20234793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3_1"/>
  <p:tag name="KSO_WM_DIAGRAM_VERSION" val="3"/>
  <p:tag name="KSO_WM_DIAGRAM_COLOR_TRICK" val="1"/>
  <p:tag name="KSO_WM_DIAGRAM_COLOR_TEXT_CAN_REMOVE" val="n"/>
  <p:tag name="KSO_WM_UNIT_VALUE" val="26"/>
  <p:tag name="KSO_WM_DIAGRAM_MAX_ITEMCNT" val="5"/>
  <p:tag name="KSO_WM_DIAGRAM_MIN_ITEMCNT" val="2"/>
  <p:tag name="KSO_WM_DIAGRAM_VIRTUALLY_FRAME" val="{&quot;height&quot;:457.25,&quot;left&quot;:-72.05,&quot;top&quot;:95.65,&quot;width&quot;:977.8549682617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此处添加标题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793_3*l_h_f*1_3_1"/>
  <p:tag name="KSO_WM_TEMPLATE_CATEGORY" val="diagram"/>
  <p:tag name="KSO_WM_TEMPLATE_INDEX" val="20234793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l1-1"/>
  <p:tag name="KSO_WM_UNIT_TYPE" val="l_h_f"/>
  <p:tag name="KSO_WM_UNIT_INDEX" val="1_3_1"/>
  <p:tag name="KSO_WM_DIAGRAM_VERSION" val="3"/>
  <p:tag name="KSO_WM_DIAGRAM_COLOR_TRICK" val="1"/>
  <p:tag name="KSO_WM_DIAGRAM_COLOR_TEXT_CAN_REMOVE" val="n"/>
  <p:tag name="KSO_WM_UNIT_VALUE" val="68"/>
  <p:tag name="KSO_WM_DIAGRAM_MAX_ITEMCNT" val="5"/>
  <p:tag name="KSO_WM_DIAGRAM_MIN_ITEMCNT" val="2"/>
  <p:tag name="KSO_WM_DIAGRAM_VIRTUALLY_FRAME" val="{&quot;height&quot;:457.25,&quot;left&quot;:-72.05,&quot;top&quot;:95.65,&quot;width&quot;:977.8549682617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，简明扼要地阐述观点。根据需要可酌情增减文字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793_3*l_h_d*1_3_1"/>
  <p:tag name="KSO_WM_TEMPLATE_CATEGORY" val="diagram"/>
  <p:tag name="KSO_WM_TEMPLATE_INDEX" val="20234793"/>
  <p:tag name="KSO_WM_UNIT_LAYERLEVEL" val="1_1_1"/>
  <p:tag name="KSO_WM_TAG_VERSION" val="3.0"/>
  <p:tag name="KSO_WM_BEAUTIFY_FLAG" val="#wm#"/>
  <p:tag name="KSO_WM_UNIT_VALUE" val="401*463"/>
  <p:tag name="KSO_WM_DIAGRAM_GROUP_CODE" val="l1-1"/>
  <p:tag name="KSO_WM_UNIT_TYPE" val="l_h_d"/>
  <p:tag name="KSO_WM_UNIT_INDEX" val="1_3_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57.25,&quot;left&quot;:-72.05,&quot;top&quot;:95.65,&quot;width&quot;:977.8549682617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30000001192092896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UNIT_LINE_FORE_SCHEMECOLOR_INDEX" val="5"/>
  <p:tag name="KSO_WM_DIAGRAM_USE_COLOR_VALUE" val="{&quot;color_scheme&quot;:1,&quot;color_type&quot;:1,&quot;theme_color_indexes&quot;:[]}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793_3*l_h_i*1_3_4"/>
  <p:tag name="KSO_WM_TEMPLATE_CATEGORY" val="diagram"/>
  <p:tag name="KSO_WM_TEMPLATE_INDEX" val="20234793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4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57.25,&quot;left&quot;:-72.05,&quot;top&quot;:95.65,&quot;width&quot;:977.8549682617188}"/>
  <p:tag name="KSO_WM_DIAGRAM_COLOR_MATCH_VALUE" val="{&quot;shape&quot;:{&quot;fill&quot;:{&quot;solid&quot;:{&quot;brightness&quot;:0,&quot;colorType&quot;:1,&quot;foreColorIndex&quot;:5,&quot;transparency&quot;:0.30000001192092896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793_3*l_h_i*1_3_1"/>
  <p:tag name="KSO_WM_TEMPLATE_CATEGORY" val="diagram"/>
  <p:tag name="KSO_WM_TEMPLATE_INDEX" val="20234793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57.25,&quot;left&quot;:-72.05,&quot;top&quot;:95.65,&quot;width&quot;:977.8549682617188}"/>
  <p:tag name="KSO_WM_DIAGRAM_COLOR_MATCH_VALUE" val="{&quot;shape&quot;:{&quot;fill&quot;:{&quot;solid&quot;:{&quot;brightness&quot;:0,&quot;colorType&quot;:1,&quot;foreColorIndex&quot;:5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793_3*l_h_i*1_3_2"/>
  <p:tag name="KSO_WM_TEMPLATE_CATEGORY" val="diagram"/>
  <p:tag name="KSO_WM_TEMPLATE_INDEX" val="20234793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2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57.25,&quot;left&quot;:-72.05,&quot;top&quot;:95.65,&quot;width&quot;:977.8549682617188}"/>
  <p:tag name="KSO_WM_DIAGRAM_COLOR_MATCH_VALUE" val="{&quot;shape&quot;:{&quot;fill&quot;:{&quot;solid&quot;:{&quot;brightness&quot;:0,&quot;colorType&quot;:1,&quot;foreColorIndex&quot;:5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64.xml><?xml version="1.0" encoding="utf-8"?>
<p:tagLst xmlns:p="http://schemas.openxmlformats.org/presentationml/2006/main">
  <p:tag name="KSO_WM_DIAGRAM_VIRTUALLY_FRAME" val="{&quot;height&quot;:409.0294158935547,&quot;left&quot;:105.99503173828126,&quot;top&quot;:124.2,&quot;width&quot;:799.8099365234375}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793_3*l_h_a*1_1_1"/>
  <p:tag name="KSO_WM_TEMPLATE_CATEGORY" val="diagram"/>
  <p:tag name="KSO_WM_TEMPLATE_INDEX" val="20234793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DIAGRAM_VERSION" val="3"/>
  <p:tag name="KSO_WM_DIAGRAM_COLOR_TRICK" val="1"/>
  <p:tag name="KSO_WM_DIAGRAM_COLOR_TEXT_CAN_REMOVE" val="n"/>
  <p:tag name="KSO_WM_UNIT_VALUE" val="26"/>
  <p:tag name="KSO_WM_DIAGRAM_MAX_ITEMCNT" val="5"/>
  <p:tag name="KSO_WM_DIAGRAM_MIN_ITEMCNT" val="2"/>
  <p:tag name="KSO_WM_DIAGRAM_VIRTUALLY_FRAME" val="{&quot;height&quot;:457.25,&quot;left&quot;:-72.05,&quot;top&quot;:95.65,&quot;width&quot;:977.8549682617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此处添加标题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793_3*l_h_f*1_1_1"/>
  <p:tag name="KSO_WM_TEMPLATE_CATEGORY" val="diagram"/>
  <p:tag name="KSO_WM_TEMPLATE_INDEX" val="20234793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l1-1"/>
  <p:tag name="KSO_WM_UNIT_TYPE" val="l_h_f"/>
  <p:tag name="KSO_WM_UNIT_INDEX" val="1_1_1"/>
  <p:tag name="KSO_WM_DIAGRAM_VERSION" val="3"/>
  <p:tag name="KSO_WM_DIAGRAM_COLOR_TRICK" val="1"/>
  <p:tag name="KSO_WM_DIAGRAM_COLOR_TEXT_CAN_REMOVE" val="n"/>
  <p:tag name="KSO_WM_UNIT_VALUE" val="68"/>
  <p:tag name="KSO_WM_DIAGRAM_MAX_ITEMCNT" val="5"/>
  <p:tag name="KSO_WM_DIAGRAM_MIN_ITEMCNT" val="2"/>
  <p:tag name="KSO_WM_DIAGRAM_VIRTUALLY_FRAME" val="{&quot;height&quot;:457.25,&quot;left&quot;:-72.05,&quot;top&quot;:95.65,&quot;width&quot;:977.8549682617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，简明扼要地阐述观点。根据需要可酌情增减文字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793_3*l_h_d*1_1_1"/>
  <p:tag name="KSO_WM_TEMPLATE_CATEGORY" val="diagram"/>
  <p:tag name="KSO_WM_TEMPLATE_INDEX" val="20234793"/>
  <p:tag name="KSO_WM_UNIT_LAYERLEVEL" val="1_1_1"/>
  <p:tag name="KSO_WM_TAG_VERSION" val="3.0"/>
  <p:tag name="KSO_WM_BEAUTIFY_FLAG" val="#wm#"/>
  <p:tag name="KSO_WM_UNIT_VALUE" val="401*463"/>
  <p:tag name="KSO_WM_DIAGRAM_GROUP_CODE" val="l1-1"/>
  <p:tag name="KSO_WM_UNIT_TYPE" val="l_h_d"/>
  <p:tag name="KSO_WM_UNIT_INDEX" val="1_1_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57.25,&quot;left&quot;:-72.05,&quot;top&quot;:95.65,&quot;width&quot;:977.85496826171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30000001192092896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UNIT_LINE_FORE_SCHEMECOLOR_INDEX" val="5"/>
  <p:tag name="KSO_WM_DIAGRAM_USE_COLOR_VALUE" val="{&quot;color_scheme&quot;:1,&quot;color_type&quot;:1,&quot;theme_color_indexes&quot;:[]}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793_3*l_h_i*1_1_4"/>
  <p:tag name="KSO_WM_TEMPLATE_CATEGORY" val="diagram"/>
  <p:tag name="KSO_WM_TEMPLATE_INDEX" val="20234793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4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57.25,&quot;left&quot;:-72.05,&quot;top&quot;:95.65,&quot;width&quot;:977.8549682617188}"/>
  <p:tag name="KSO_WM_DIAGRAM_COLOR_MATCH_VALUE" val="{&quot;shape&quot;:{&quot;fill&quot;:{&quot;solid&quot;:{&quot;brightness&quot;:0,&quot;colorType&quot;:1,&quot;foreColorIndex&quot;:5,&quot;transparency&quot;:0.30000001192092896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793_3*l_h_i*1_1_3"/>
  <p:tag name="KSO_WM_TEMPLATE_CATEGORY" val="diagram"/>
  <p:tag name="KSO_WM_TEMPLATE_INDEX" val="20234793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3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57.25,&quot;left&quot;:-72.05,&quot;top&quot;:95.65,&quot;width&quot;:977.85496826171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.6399999856948853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793_3*l_h_i*1_1_1"/>
  <p:tag name="KSO_WM_TEMPLATE_CATEGORY" val="diagram"/>
  <p:tag name="KSO_WM_TEMPLATE_INDEX" val="20234793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57.25,&quot;left&quot;:-72.05,&quot;top&quot;:95.65,&quot;width&quot;:977.8549682617188}"/>
  <p:tag name="KSO_WM_DIAGRAM_COLOR_MATCH_VALUE" val="{&quot;shape&quot;:{&quot;fill&quot;:{&quot;solid&quot;:{&quot;brightness&quot;:0,&quot;colorType&quot;:1,&quot;foreColorIndex&quot;:5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793_3*l_h_i*1_1_2"/>
  <p:tag name="KSO_WM_TEMPLATE_CATEGORY" val="diagram"/>
  <p:tag name="KSO_WM_TEMPLATE_INDEX" val="20234793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2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57.25,&quot;left&quot;:-72.05,&quot;top&quot;:95.65,&quot;width&quot;:977.8549682617188}"/>
  <p:tag name="KSO_WM_DIAGRAM_COLOR_MATCH_VALUE" val="{&quot;shape&quot;:{&quot;fill&quot;:{&quot;solid&quot;:{&quot;brightness&quot;:0,&quot;colorType&quot;:1,&quot;foreColorIndex&quot;:5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72.xml><?xml version="1.0" encoding="utf-8"?>
<p:tagLst xmlns:p="http://schemas.openxmlformats.org/presentationml/2006/main">
  <p:tag name="KSO_WM_DIAGRAM_VIRTUALLY_FRAME" val="{&quot;height&quot;:397.9787401574804,&quot;left&quot;:36.55,&quot;top&quot;:134.81062992125982,&quot;width&quot;:886.8968503937009}"/>
</p:tagLst>
</file>

<file path=ppt/tags/tag173.xml><?xml version="1.0" encoding="utf-8"?>
<p:tagLst xmlns:p="http://schemas.openxmlformats.org/presentationml/2006/main">
  <p:tag name="KSO_WM_DIAGRAM_VIRTUALLY_FRAME" val="{&quot;height&quot;:397.9787401574804,&quot;left&quot;:36.55,&quot;top&quot;:134.81062992125982,&quot;width&quot;:886.8968503937009}"/>
</p:tagLst>
</file>

<file path=ppt/tags/tag174.xml><?xml version="1.0" encoding="utf-8"?>
<p:tagLst xmlns:p="http://schemas.openxmlformats.org/presentationml/2006/main">
  <p:tag name="KSO_DOCER_RESOURCE_TRACE_INFO" val="{&quot;id&quot;:&quot;22425785&quot;,&quot;origin&quot;:0,&quot;type&quot;:&quot;pictures&quot;,&quot;user&quot;:&quot;128562381&quot;}"/>
</p:tagLst>
</file>

<file path=ppt/tags/tag175.xml><?xml version="1.0" encoding="utf-8"?>
<p:tagLst xmlns:p="http://schemas.openxmlformats.org/presentationml/2006/main">
  <p:tag name="resource_record_key" val="{&quot;10&quot;:[3636482,4520582,50063366,21539234],&quot;29&quot;:[50053017,50052944,50053072,50052956,50053264,50053352,50053340,50053364,50053088,50053236,50053092,50053164,50053246],&quot;70&quot;:[3325806,3325351,3319536]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4773</Words>
  <Application>WPS 演示</Application>
  <PresentationFormat/>
  <Paragraphs>378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4" baseType="lpstr">
      <vt:lpstr>Arial</vt:lpstr>
      <vt:lpstr>宋体</vt:lpstr>
      <vt:lpstr>Wingdings</vt:lpstr>
      <vt:lpstr>Arial</vt:lpstr>
      <vt:lpstr>微软雅黑</vt:lpstr>
      <vt:lpstr>Songti SC</vt:lpstr>
      <vt:lpstr>Wingdings</vt:lpstr>
      <vt:lpstr>Noto Sans SC</vt:lpstr>
      <vt:lpstr>Calibri</vt:lpstr>
      <vt:lpstr>宋体简体</vt:lpstr>
      <vt:lpstr>Segoe Print</vt:lpstr>
      <vt:lpstr>Times New Roman</vt:lpstr>
      <vt:lpstr>宋体简介</vt:lpstr>
      <vt:lpstr>Times New Roman</vt:lpstr>
      <vt:lpstr>Arial Unicode MS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lynn</cp:lastModifiedBy>
  <cp:revision>57</cp:revision>
  <dcterms:created xsi:type="dcterms:W3CDTF">2026-05-05T12:47:00Z</dcterms:created>
  <dcterms:modified xsi:type="dcterms:W3CDTF">2026-05-23T00:16:55Z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A6819CE6A5FE459CB2576C7925B20A1A_13</vt:lpwstr>
  </property>
  <property fmtid="{D5CDD505-2E9C-101B-9397-08002B2CF9AE}" pid="3" name="KSOProductBuildVer">
    <vt:lpwstr>2052-12.1.0.26375</vt:lpwstr>
  </property>
</Properties>
</file>