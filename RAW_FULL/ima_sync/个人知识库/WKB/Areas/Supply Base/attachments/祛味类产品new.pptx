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21.svg" ContentType="image/svg+xml"/>
  <Override PartName="/ppt/media/image26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17"/>
  </p:notesMasterIdLst>
  <p:handoutMasterIdLst>
    <p:handoutMasterId r:id="rId18"/>
  </p:handoutMasterIdLst>
  <p:sldIdLst>
    <p:sldId id="257" r:id="rId5"/>
    <p:sldId id="320" r:id="rId6"/>
    <p:sldId id="304" r:id="rId7"/>
    <p:sldId id="305" r:id="rId8"/>
    <p:sldId id="290" r:id="rId9"/>
    <p:sldId id="307" r:id="rId10"/>
    <p:sldId id="321" r:id="rId11"/>
    <p:sldId id="324" r:id="rId12"/>
    <p:sldId id="326" r:id="rId13"/>
    <p:sldId id="325" r:id="rId14"/>
    <p:sldId id="318" r:id="rId15"/>
    <p:sldId id="269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7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C55E"/>
    <a:srgbClr val="FFFFFF"/>
    <a:srgbClr val="DBEAD0"/>
    <a:srgbClr val="EDF1EC"/>
    <a:srgbClr val="BFD3C3"/>
    <a:srgbClr val="C25449"/>
    <a:srgbClr val="F5F5F4"/>
    <a:srgbClr val="7E9A8B"/>
    <a:srgbClr val="7CA96F"/>
    <a:srgbClr val="D8D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606" y="-354"/>
      </p:cViewPr>
      <p:guideLst>
        <p:guide orient="horz" pos="1937"/>
        <p:guide pos="386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gs" Target="tags/tag287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image" Target="../media/image1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8" Type="http://schemas.openxmlformats.org/officeDocument/2006/relationships/theme" Target="../theme/theme3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7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 userDrawn="1"/>
        </p:nvSpPr>
        <p:spPr>
          <a:xfrm>
            <a:off x="-977265" y="-783590"/>
            <a:ext cx="3070225" cy="2510790"/>
          </a:xfrm>
          <a:prstGeom prst="ellipse">
            <a:avLst/>
          </a:prstGeom>
          <a:solidFill>
            <a:srgbClr val="7CA96F">
              <a:alpha val="34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9090025" y="5292090"/>
            <a:ext cx="4474210" cy="3089275"/>
          </a:xfrm>
          <a:prstGeom prst="ellipse">
            <a:avLst/>
          </a:prstGeom>
          <a:solidFill>
            <a:srgbClr val="7CA96F">
              <a:alpha val="34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AutoShape 2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logo1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022205" y="-63500"/>
            <a:ext cx="2132807" cy="900000"/>
          </a:xfrm>
          <a:prstGeom prst="rect">
            <a:avLst/>
          </a:prstGeom>
        </p:spPr>
      </p:pic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fc3f794f70aa531f56afa8b86c08d9e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AutoShape 2"/>
          <p:cNvSpPr/>
          <p:nvPr userDrawn="1"/>
        </p:nvSpPr>
        <p:spPr>
          <a:xfrm>
            <a:off x="0" y="-63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06.xml"/><Relationship Id="rId24" Type="http://schemas.openxmlformats.org/officeDocument/2006/relationships/image" Target="../media/image8.svg"/><Relationship Id="rId23" Type="http://schemas.openxmlformats.org/officeDocument/2006/relationships/image" Target="../media/image7.png"/><Relationship Id="rId22" Type="http://schemas.openxmlformats.org/officeDocument/2006/relationships/tags" Target="../tags/tag205.xml"/><Relationship Id="rId21" Type="http://schemas.openxmlformats.org/officeDocument/2006/relationships/tags" Target="../tags/tag204.xml"/><Relationship Id="rId20" Type="http://schemas.openxmlformats.org/officeDocument/2006/relationships/tags" Target="../tags/tag203.xml"/><Relationship Id="rId2" Type="http://schemas.openxmlformats.org/officeDocument/2006/relationships/tags" Target="../tags/tag189.xml"/><Relationship Id="rId19" Type="http://schemas.openxmlformats.org/officeDocument/2006/relationships/tags" Target="../tags/tag202.xml"/><Relationship Id="rId18" Type="http://schemas.openxmlformats.org/officeDocument/2006/relationships/tags" Target="../tags/tag201.xml"/><Relationship Id="rId17" Type="http://schemas.openxmlformats.org/officeDocument/2006/relationships/image" Target="../media/image6.svg"/><Relationship Id="rId16" Type="http://schemas.openxmlformats.org/officeDocument/2006/relationships/image" Target="../media/image5.png"/><Relationship Id="rId15" Type="http://schemas.openxmlformats.org/officeDocument/2006/relationships/tags" Target="../tags/tag200.xml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image" Target="../media/image4.svg"/><Relationship Id="rId1" Type="http://schemas.openxmlformats.org/officeDocument/2006/relationships/tags" Target="../tags/tag18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210.xml"/><Relationship Id="rId4" Type="http://schemas.openxmlformats.org/officeDocument/2006/relationships/image" Target="../media/image9.jpeg"/><Relationship Id="rId3" Type="http://schemas.openxmlformats.org/officeDocument/2006/relationships/tags" Target="../tags/tag209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08.xml"/><Relationship Id="rId19" Type="http://schemas.openxmlformats.org/officeDocument/2006/relationships/tags" Target="../tags/tag216.xml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tags" Target="../tags/tag215.xml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tags" Target="../tags/tag20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image" Target="../media/image23.png"/><Relationship Id="rId6" Type="http://schemas.openxmlformats.org/officeDocument/2006/relationships/tags" Target="../tags/tag224.xml"/><Relationship Id="rId5" Type="http://schemas.openxmlformats.org/officeDocument/2006/relationships/image" Target="../media/image22.png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31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tags" Target="../tags/tag220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34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image" Target="../media/image27.png"/><Relationship Id="rId1" Type="http://schemas.openxmlformats.org/officeDocument/2006/relationships/tags" Target="../tags/tag23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0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tags" Target="../tags/tag23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image" Target="../media/image30.jpeg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image" Target="../media/image31.jpeg"/><Relationship Id="rId1" Type="http://schemas.openxmlformats.org/officeDocument/2006/relationships/tags" Target="../tags/tag24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64.xml"/><Relationship Id="rId20" Type="http://schemas.openxmlformats.org/officeDocument/2006/relationships/image" Target="../media/image39.jpeg"/><Relationship Id="rId2" Type="http://schemas.openxmlformats.org/officeDocument/2006/relationships/tags" Target="../tags/tag253.xml"/><Relationship Id="rId19" Type="http://schemas.openxmlformats.org/officeDocument/2006/relationships/image" Target="../media/image38.png"/><Relationship Id="rId18" Type="http://schemas.openxmlformats.org/officeDocument/2006/relationships/tags" Target="../tags/tag263.xml"/><Relationship Id="rId17" Type="http://schemas.openxmlformats.org/officeDocument/2006/relationships/tags" Target="../tags/tag262.xml"/><Relationship Id="rId16" Type="http://schemas.openxmlformats.org/officeDocument/2006/relationships/image" Target="../media/image37.svg"/><Relationship Id="rId15" Type="http://schemas.openxmlformats.org/officeDocument/2006/relationships/image" Target="../media/image36.png"/><Relationship Id="rId14" Type="http://schemas.openxmlformats.org/officeDocument/2006/relationships/tags" Target="../tags/tag261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image" Target="../media/image35.svg"/><Relationship Id="rId10" Type="http://schemas.openxmlformats.org/officeDocument/2006/relationships/image" Target="../media/image34.png"/><Relationship Id="rId1" Type="http://schemas.openxmlformats.org/officeDocument/2006/relationships/tags" Target="../tags/tag25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72.xml"/><Relationship Id="rId8" Type="http://schemas.openxmlformats.org/officeDocument/2006/relationships/tags" Target="../tags/tag271.xml"/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image" Target="../media/image40.jpeg"/><Relationship Id="rId4" Type="http://schemas.openxmlformats.org/officeDocument/2006/relationships/tags" Target="../tags/tag268.xml"/><Relationship Id="rId3" Type="http://schemas.openxmlformats.org/officeDocument/2006/relationships/tags" Target="../tags/tag267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85.xml"/><Relationship Id="rId24" Type="http://schemas.openxmlformats.org/officeDocument/2006/relationships/image" Target="../media/image43.jpeg"/><Relationship Id="rId23" Type="http://schemas.openxmlformats.org/officeDocument/2006/relationships/tags" Target="../tags/tag284.xml"/><Relationship Id="rId22" Type="http://schemas.openxmlformats.org/officeDocument/2006/relationships/tags" Target="../tags/tag283.xml"/><Relationship Id="rId21" Type="http://schemas.openxmlformats.org/officeDocument/2006/relationships/tags" Target="../tags/tag282.xml"/><Relationship Id="rId20" Type="http://schemas.openxmlformats.org/officeDocument/2006/relationships/tags" Target="../tags/tag281.xml"/><Relationship Id="rId2" Type="http://schemas.openxmlformats.org/officeDocument/2006/relationships/tags" Target="../tags/tag266.xml"/><Relationship Id="rId19" Type="http://schemas.openxmlformats.org/officeDocument/2006/relationships/tags" Target="../tags/tag280.xml"/><Relationship Id="rId18" Type="http://schemas.openxmlformats.org/officeDocument/2006/relationships/tags" Target="../tags/tag279.xml"/><Relationship Id="rId17" Type="http://schemas.openxmlformats.org/officeDocument/2006/relationships/image" Target="../media/image42.jpeg"/><Relationship Id="rId16" Type="http://schemas.openxmlformats.org/officeDocument/2006/relationships/tags" Target="../tags/tag278.xml"/><Relationship Id="rId15" Type="http://schemas.openxmlformats.org/officeDocument/2006/relationships/tags" Target="../tags/tag277.xml"/><Relationship Id="rId14" Type="http://schemas.openxmlformats.org/officeDocument/2006/relationships/tags" Target="../tags/tag276.xml"/><Relationship Id="rId13" Type="http://schemas.openxmlformats.org/officeDocument/2006/relationships/tags" Target="../tags/tag275.xml"/><Relationship Id="rId12" Type="http://schemas.openxmlformats.org/officeDocument/2006/relationships/tags" Target="../tags/tag274.xml"/><Relationship Id="rId11" Type="http://schemas.openxmlformats.org/officeDocument/2006/relationships/image" Target="../media/image41.jpeg"/><Relationship Id="rId10" Type="http://schemas.openxmlformats.org/officeDocument/2006/relationships/tags" Target="../tags/tag273.xml"/><Relationship Id="rId1" Type="http://schemas.openxmlformats.org/officeDocument/2006/relationships/tags" Target="../tags/tag26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tags" Target="../tags/tag286.xml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/>
          <p:nvPr/>
        </p:nvSpPr>
        <p:spPr>
          <a:xfrm>
            <a:off x="-11430" y="1927225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>
                <a:solidFill>
                  <a:srgbClr val="FFFFFF"/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祛味产品介绍</a:t>
            </a:r>
            <a:endParaRPr lang="en-US" sz="6000" b="1" i="0">
              <a:solidFill>
                <a:srgbClr val="FFFFFF"/>
              </a:solidFill>
              <a:uFillTx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6"/>
          <p:cNvSpPr/>
          <p:nvPr/>
        </p:nvSpPr>
        <p:spPr>
          <a:xfrm>
            <a:off x="0" y="5382895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天津聚合芯能健护科技有限公司</a:t>
            </a:r>
            <a:endParaRPr lang="zh-CN" altLang="en-US" sz="1800" b="1" i="0" u="none" strike="noStrike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4"/>
          <p:cNvSpPr/>
          <p:nvPr/>
        </p:nvSpPr>
        <p:spPr>
          <a:xfrm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技术原理：</a:t>
            </a: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三重协同</a:t>
            </a:r>
            <a:r>
              <a:rPr 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机制，</a:t>
            </a: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标本兼治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1116330" y="1624965"/>
            <a:ext cx="9959895" cy="4411038"/>
            <a:chOff x="-6914" y="2826"/>
            <a:chExt cx="17930" cy="7708"/>
          </a:xfrm>
        </p:grpSpPr>
        <p:cxnSp>
          <p:nvCxnSpPr>
            <p:cNvPr id="17" name="直接连接符 16"/>
            <p:cNvCxnSpPr/>
            <p:nvPr>
              <p:custDataLst>
                <p:tags r:id="rId2"/>
              </p:custDataLst>
            </p:nvPr>
          </p:nvCxnSpPr>
          <p:spPr>
            <a:xfrm>
              <a:off x="-2971" y="4014"/>
              <a:ext cx="3834" cy="0"/>
            </a:xfrm>
            <a:prstGeom prst="line">
              <a:avLst/>
            </a:prstGeom>
            <a:ln>
              <a:solidFill>
                <a:srgbClr val="000000">
                  <a:lumMod val="85000"/>
                  <a:lumOff val="15000"/>
                </a:srgbClr>
              </a:solidFill>
            </a:ln>
          </p:spPr>
          <p:style>
            <a:lnRef idx="2">
              <a:srgbClr val="376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33" name="直接连接符 32"/>
            <p:cNvCxnSpPr/>
            <p:nvPr>
              <p:custDataLst>
                <p:tags r:id="rId3"/>
              </p:custDataLst>
            </p:nvPr>
          </p:nvCxnSpPr>
          <p:spPr>
            <a:xfrm>
              <a:off x="3407" y="3995"/>
              <a:ext cx="3834" cy="0"/>
            </a:xfrm>
            <a:prstGeom prst="line">
              <a:avLst/>
            </a:prstGeom>
            <a:ln>
              <a:solidFill>
                <a:srgbClr val="000000">
                  <a:lumMod val="85000"/>
                  <a:lumOff val="15000"/>
                </a:srgbClr>
              </a:solidFill>
            </a:ln>
          </p:spPr>
          <p:style>
            <a:lnRef idx="2">
              <a:srgbClr val="376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sp>
          <p:nvSpPr>
            <p:cNvPr id="18" name="矩形 17"/>
            <p:cNvSpPr/>
            <p:nvPr>
              <p:custDataLst>
                <p:tags r:id="rId4"/>
              </p:custDataLst>
            </p:nvPr>
          </p:nvSpPr>
          <p:spPr>
            <a:xfrm>
              <a:off x="-6914" y="6897"/>
              <a:ext cx="5043" cy="363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uFillTx/>
                  <a:cs typeface="+mn-ea"/>
                  <a:sym typeface="+mn-ea"/>
                </a:rPr>
                <a:t>主要原料：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  <a:sym typeface="+mn-ea"/>
                </a:rPr>
                <a:t>进口硅藻土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  <a:sym typeface="+mn-ea"/>
                </a:rPr>
                <a:t> / 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  <a:sym typeface="+mn-ea"/>
                </a:rPr>
                <a:t>环糊精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n-ea"/>
              </a:endParaRPr>
            </a:p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uFillTx/>
                  <a:cs typeface="+mn-ea"/>
                </a:rPr>
                <a:t>作用机制：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快速吸附氨气、三甲胺、硫化氢等异味分子，物理阻隔异味扩散，实现即时除味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n-ea"/>
              </a:endParaRPr>
            </a:p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uFillTx/>
                  <a:cs typeface="+mn-ea"/>
                </a:rPr>
                <a:t>核心优势：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吸附量大、响应快、安全无刺激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n-ea"/>
              </a:endParaRPr>
            </a:p>
            <a:p>
              <a:pPr marL="285750" indent="-285750" algn="jus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n-ea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5"/>
              </p:custDataLst>
            </p:nvPr>
          </p:nvSpPr>
          <p:spPr>
            <a:xfrm>
              <a:off x="-6359" y="6052"/>
              <a:ext cx="4202" cy="545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j-ea"/>
                  <a:sym typeface="Noto Sans SC" panose="020B0200000000000000" charset="-122"/>
                </a:rPr>
                <a:t>物理吸附</a:t>
              </a:r>
              <a:r>
                <a:rPr lang="en-US" sz="2000" b="1">
                  <a:solidFill>
                    <a:srgbClr val="374151"/>
                  </a:solidFill>
                  <a:latin typeface="+mn-ea"/>
                  <a:cs typeface="+mj-ea"/>
                  <a:sym typeface="Noto Sans SC" panose="020B0200000000000000" charset="-122"/>
                </a:rPr>
                <a:t> </a:t>
              </a:r>
              <a:r>
                <a:rPr lang="en-US" sz="2000">
                  <a:solidFill>
                    <a:srgbClr val="22C55E"/>
                  </a:solidFill>
                  <a:latin typeface="+mn-ea"/>
                  <a:cs typeface="+mj-ea"/>
                  <a:sym typeface="Noto Sans SC" panose="020B0200000000000000" charset="-122"/>
                </a:rPr>
                <a:t>| 主动捕捉</a:t>
              </a:r>
              <a:endParaRPr lang="zh-CN" altLang="en-US" sz="2000" b="1" dirty="0">
                <a:solidFill>
                  <a:srgbClr val="376FFF"/>
                </a:solidFill>
                <a:latin typeface="+mn-ea"/>
                <a:cs typeface="+mj-ea"/>
              </a:endParaRPr>
            </a:p>
          </p:txBody>
        </p:sp>
        <p:sp>
          <p:nvSpPr>
            <p:cNvPr id="21" name="弧形 20"/>
            <p:cNvSpPr/>
            <p:nvPr>
              <p:custDataLst>
                <p:tags r:id="rId6"/>
              </p:custDataLst>
            </p:nvPr>
          </p:nvSpPr>
          <p:spPr>
            <a:xfrm>
              <a:off x="-5540" y="2826"/>
              <a:ext cx="2562" cy="2562"/>
            </a:xfrm>
            <a:prstGeom prst="arc">
              <a:avLst>
                <a:gd name="adj1" fmla="val 6375916"/>
                <a:gd name="adj2" fmla="val 4453969"/>
              </a:avLst>
            </a:prstGeom>
            <a:noFill/>
            <a:ln>
              <a:solidFill>
                <a:srgbClr val="000000">
                  <a:lumMod val="85000"/>
                  <a:lumOff val="15000"/>
                </a:srgbClr>
              </a:solidFill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>
              <p:custDataLst>
                <p:tags r:id="rId7"/>
              </p:custDataLst>
            </p:nvPr>
          </p:nvSpPr>
          <p:spPr>
            <a:xfrm>
              <a:off x="-4618" y="4988"/>
              <a:ext cx="717" cy="717"/>
            </a:xfrm>
            <a:prstGeom prst="ellipse">
              <a:avLst/>
            </a:prstGeom>
            <a:noFill/>
            <a:ln>
              <a:solidFill>
                <a:srgbClr val="000000">
                  <a:lumMod val="85000"/>
                  <a:lumOff val="15000"/>
                </a:srgbClr>
              </a:solidFill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wrap="none" lIns="0" tIns="0" rIns="0" bIns="0" rtlCol="0" anchor="ctr">
              <a:normAutofit lnSpcReduction="10000"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  <a:cs typeface="+mn-ea"/>
                  <a:sym typeface="+mn-ea"/>
                </a:rPr>
                <a:t>1</a:t>
              </a:r>
              <a:endParaRPr lang="en-US" altLang="zh-CN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4702" y="3515"/>
              <a:ext cx="887" cy="887"/>
            </a:xfrm>
            <a:prstGeom prst="rect">
              <a:avLst/>
            </a:prstGeom>
          </p:spPr>
        </p:pic>
        <p:sp>
          <p:nvSpPr>
            <p:cNvPr id="23" name="矩形 22"/>
            <p:cNvSpPr/>
            <p:nvPr>
              <p:custDataLst>
                <p:tags r:id="rId11"/>
              </p:custDataLst>
            </p:nvPr>
          </p:nvSpPr>
          <p:spPr>
            <a:xfrm>
              <a:off x="-400" y="6897"/>
              <a:ext cx="4943" cy="363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uFillTx/>
                  <a:cs typeface="+mj-ea"/>
                </a:rPr>
                <a:t>主要原料：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j-ea"/>
                </a:rPr>
                <a:t>乳酸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j-ea"/>
                </a:rPr>
                <a:t> / 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j-ea"/>
                </a:rPr>
                <a:t>柠檬酸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j-ea"/>
              </a:endParaRPr>
            </a:p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uFillTx/>
                  <a:cs typeface="+mn-ea"/>
                  <a:sym typeface="+mn-ea"/>
                </a:rPr>
                <a:t>作用机制：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j-ea"/>
                </a:rPr>
                <a:t>弱酸与碱性异味分子发生中和反应，将其转化为无臭、性质稳定的盐类与非挥发性化合物，从根源分解异味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j-ea"/>
              </a:endParaRPr>
            </a:p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uFillTx/>
                  <a:cs typeface="+mj-ea"/>
                </a:rPr>
                <a:t>核心优势：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j-ea"/>
                </a:rPr>
                <a:t>根源分解异味，无二次污染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j-ea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2"/>
              </p:custDataLst>
            </p:nvPr>
          </p:nvSpPr>
          <p:spPr>
            <a:xfrm>
              <a:off x="12" y="6052"/>
              <a:ext cx="4203" cy="545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j-ea"/>
                  <a:sym typeface="Noto Sans SC" panose="020B0200000000000000" charset="-122"/>
                </a:rPr>
                <a:t>化学中和</a:t>
              </a:r>
              <a:r>
                <a:rPr lang="en-US" altLang="zh-CN" sz="2000" b="1">
                  <a:solidFill>
                    <a:srgbClr val="374151"/>
                  </a:solidFill>
                  <a:latin typeface="+mn-ea"/>
                  <a:cs typeface="+mj-ea"/>
                  <a:sym typeface="Noto Sans SC" panose="020B0200000000000000" charset="-122"/>
                </a:rPr>
                <a:t> </a:t>
              </a:r>
              <a:r>
                <a:rPr lang="en-US" sz="2000">
                  <a:solidFill>
                    <a:srgbClr val="22C55E"/>
                  </a:solidFill>
                  <a:latin typeface="+mn-ea"/>
                  <a:cs typeface="+mj-ea"/>
                  <a:sym typeface="Noto Sans SC" panose="020B0200000000000000" charset="-122"/>
                </a:rPr>
                <a:t>| </a:t>
              </a:r>
              <a:r>
                <a:rPr lang="zh-CN" altLang="en-US" sz="2000">
                  <a:solidFill>
                    <a:srgbClr val="22C55E"/>
                  </a:solidFill>
                  <a:latin typeface="+mn-ea"/>
                  <a:cs typeface="+mj-ea"/>
                  <a:sym typeface="Noto Sans SC" panose="020B0200000000000000" charset="-122"/>
                </a:rPr>
                <a:t>根源消除</a:t>
              </a:r>
              <a:endParaRPr lang="zh-CN" altLang="en-US" sz="2000" b="1" dirty="0">
                <a:solidFill>
                  <a:srgbClr val="22C55E"/>
                </a:solidFill>
                <a:latin typeface="+mn-ea"/>
                <a:cs typeface="+mj-ea"/>
                <a:sym typeface="Noto Sans SC" panose="020B0200000000000000" charset="-122"/>
              </a:endParaRPr>
            </a:p>
          </p:txBody>
        </p:sp>
        <p:sp>
          <p:nvSpPr>
            <p:cNvPr id="25" name="弧形 24"/>
            <p:cNvSpPr/>
            <p:nvPr>
              <p:custDataLst>
                <p:tags r:id="rId13"/>
              </p:custDataLst>
            </p:nvPr>
          </p:nvSpPr>
          <p:spPr>
            <a:xfrm>
              <a:off x="832" y="2826"/>
              <a:ext cx="2562" cy="2562"/>
            </a:xfrm>
            <a:prstGeom prst="arc">
              <a:avLst>
                <a:gd name="adj1" fmla="val 6375851"/>
                <a:gd name="adj2" fmla="val 4457771"/>
              </a:avLst>
            </a:prstGeom>
            <a:noFill/>
            <a:ln>
              <a:solidFill>
                <a:srgbClr val="000000">
                  <a:lumMod val="85000"/>
                  <a:lumOff val="15000"/>
                </a:srgbClr>
              </a:solidFill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>
              <p:custDataLst>
                <p:tags r:id="rId14"/>
              </p:custDataLst>
            </p:nvPr>
          </p:nvSpPr>
          <p:spPr>
            <a:xfrm>
              <a:off x="1753" y="4988"/>
              <a:ext cx="717" cy="717"/>
            </a:xfrm>
            <a:prstGeom prst="ellipse">
              <a:avLst/>
            </a:prstGeom>
            <a:noFill/>
            <a:ln>
              <a:solidFill>
                <a:srgbClr val="000000">
                  <a:lumMod val="85000"/>
                  <a:lumOff val="15000"/>
                </a:srgbClr>
              </a:solidFill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wrap="none" lIns="0" tIns="0" rIns="0" bIns="0" rtlCol="0" anchor="ctr">
              <a:normAutofit lnSpcReduction="10000"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  <a:cs typeface="+mn-ea"/>
                  <a:sym typeface="+mn-ea"/>
                </a:rPr>
                <a:t>2</a:t>
              </a:r>
              <a:endParaRPr lang="en-US" altLang="zh-CN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endParaRPr>
            </a:p>
          </p:txBody>
        </p:sp>
        <p:pic>
          <p:nvPicPr>
            <p:cNvPr id="35" name="Picture 8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580" y="3534"/>
              <a:ext cx="1064" cy="1064"/>
            </a:xfrm>
            <a:prstGeom prst="rect">
              <a:avLst/>
            </a:prstGeom>
          </p:spPr>
        </p:pic>
        <p:sp>
          <p:nvSpPr>
            <p:cNvPr id="27" name="矩形 26"/>
            <p:cNvSpPr/>
            <p:nvPr>
              <p:custDataLst>
                <p:tags r:id="rId18"/>
              </p:custDataLst>
            </p:nvPr>
          </p:nvSpPr>
          <p:spPr>
            <a:xfrm>
              <a:off x="6015" y="6897"/>
              <a:ext cx="5001" cy="363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uFillTx/>
                  <a:cs typeface="+mn-ea"/>
                </a:rPr>
                <a:t>主要原料：</a:t>
              </a:r>
              <a:r>
                <a:rPr lang="en-US" altLang="zh-CN" sz="1400" b="1" dirty="0">
                  <a:solidFill>
                    <a:srgbClr val="22C55E"/>
                  </a:solidFill>
                  <a:uFillTx/>
                  <a:cs typeface="+mn-ea"/>
                </a:rPr>
                <a:t>LAE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抑菌剂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 / 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壳聚糖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n-ea"/>
              </a:endParaRPr>
            </a:p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uFillTx/>
                  <a:cs typeface="+mn-ea"/>
                  <a:sym typeface="+mn-ea"/>
                </a:rPr>
                <a:t>作用机制：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j-ea"/>
                  <a:sym typeface="+mn-ea"/>
                </a:rPr>
                <a:t>抑制细菌、真菌等微生物繁殖，减少因细菌分解排泄物产生的异味源头，从根本切断异味生成路径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j-ea"/>
                <a:sym typeface="+mn-ea"/>
              </a:endParaRPr>
            </a:p>
            <a:p>
              <a:pPr marL="285750" indent="-285750" algn="just" fontAlgn="auto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Wingdings" panose="05000000000000000000" charset="0"/>
                <a:buChar char="u"/>
              </a:pPr>
              <a:r>
                <a:rPr lang="zh-CN" altLang="en-US" sz="1400" b="1" dirty="0">
                  <a:uFillTx/>
                  <a:cs typeface="+mn-ea"/>
                </a:rPr>
                <a:t>核心优势：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抑菌率高、温和不刺激，长效维持环境清新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n-ea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19"/>
              </p:custDataLst>
            </p:nvPr>
          </p:nvSpPr>
          <p:spPr>
            <a:xfrm>
              <a:off x="6383" y="6052"/>
              <a:ext cx="4205" cy="545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j-ea"/>
                  <a:sym typeface="Noto Sans SC" panose="020B0200000000000000" charset="-122"/>
                </a:rPr>
                <a:t>抑菌控源</a:t>
              </a:r>
              <a:r>
                <a:rPr lang="en-US" altLang="zh-CN" sz="2000" b="1">
                  <a:solidFill>
                    <a:srgbClr val="374151"/>
                  </a:solidFill>
                  <a:latin typeface="+mn-ea"/>
                  <a:cs typeface="+mj-ea"/>
                  <a:sym typeface="Noto Sans SC" panose="020B0200000000000000" charset="-122"/>
                </a:rPr>
                <a:t> </a:t>
              </a:r>
              <a:r>
                <a:rPr lang="en-US" sz="2000">
                  <a:solidFill>
                    <a:srgbClr val="22C55E"/>
                  </a:solidFill>
                  <a:latin typeface="+mn-ea"/>
                  <a:cs typeface="+mj-ea"/>
                  <a:sym typeface="Noto Sans SC" panose="020B0200000000000000" charset="-122"/>
                </a:rPr>
                <a:t>| </a:t>
              </a:r>
              <a:r>
                <a:rPr lang="zh-CN" altLang="en-US" sz="2000">
                  <a:solidFill>
                    <a:srgbClr val="22C55E"/>
                  </a:solidFill>
                  <a:latin typeface="+mn-ea"/>
                  <a:cs typeface="+mj-ea"/>
                  <a:sym typeface="Noto Sans SC" panose="020B0200000000000000" charset="-122"/>
                </a:rPr>
                <a:t>长效清新</a:t>
              </a:r>
              <a:endParaRPr lang="zh-CN" altLang="en-US" sz="2000" b="1" dirty="0">
                <a:solidFill>
                  <a:srgbClr val="22C55E"/>
                </a:solidFill>
                <a:latin typeface="+mn-ea"/>
                <a:cs typeface="+mj-ea"/>
                <a:sym typeface="Noto Sans SC" panose="020B0200000000000000" charset="-122"/>
              </a:endParaRPr>
            </a:p>
          </p:txBody>
        </p:sp>
        <p:sp>
          <p:nvSpPr>
            <p:cNvPr id="29" name="弧形 28"/>
            <p:cNvSpPr/>
            <p:nvPr>
              <p:custDataLst>
                <p:tags r:id="rId20"/>
              </p:custDataLst>
            </p:nvPr>
          </p:nvSpPr>
          <p:spPr>
            <a:xfrm>
              <a:off x="7204" y="2826"/>
              <a:ext cx="2562" cy="2562"/>
            </a:xfrm>
            <a:prstGeom prst="arc">
              <a:avLst>
                <a:gd name="adj1" fmla="val 6392578"/>
                <a:gd name="adj2" fmla="val 4437989"/>
              </a:avLst>
            </a:prstGeom>
            <a:noFill/>
            <a:ln>
              <a:solidFill>
                <a:srgbClr val="000000">
                  <a:lumMod val="85000"/>
                  <a:lumOff val="15000"/>
                </a:srgbClr>
              </a:solidFill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>
              <p:custDataLst>
                <p:tags r:id="rId21"/>
              </p:custDataLst>
            </p:nvPr>
          </p:nvSpPr>
          <p:spPr>
            <a:xfrm>
              <a:off x="8126" y="4988"/>
              <a:ext cx="717" cy="717"/>
            </a:xfrm>
            <a:prstGeom prst="ellipse">
              <a:avLst/>
            </a:prstGeom>
            <a:noFill/>
            <a:ln>
              <a:solidFill>
                <a:srgbClr val="000000">
                  <a:lumMod val="85000"/>
                  <a:lumOff val="15000"/>
                </a:srgbClr>
              </a:solidFill>
            </a:ln>
          </p:spPr>
          <p:style>
            <a:lnRef idx="2">
              <a:srgbClr val="376FFF">
                <a:lumMod val="75000"/>
              </a:srgbClr>
            </a:lnRef>
            <a:fillRef idx="1">
              <a:srgbClr val="376F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wrap="none" lIns="0" tIns="0" rIns="0" bIns="0" rtlCol="0" anchor="ctr">
              <a:normAutofit lnSpcReduction="10000"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  <a:cs typeface="+mn-ea"/>
                  <a:sym typeface="+mn-ea"/>
                </a:rPr>
                <a:t>3</a:t>
              </a:r>
              <a:endParaRPr lang="en-US" altLang="zh-CN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endParaRPr>
            </a:p>
          </p:txBody>
        </p:sp>
        <p:pic>
          <p:nvPicPr>
            <p:cNvPr id="37" name="Picture 14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953" y="3514"/>
              <a:ext cx="1064" cy="1064"/>
            </a:xfrm>
            <a:prstGeom prst="rect">
              <a:avLst/>
            </a:prstGeom>
          </p:spPr>
        </p:pic>
      </p:grpSp>
    </p:spTree>
    <p:custDataLst>
      <p:tags r:id="rId2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AutoShape 5"/>
          <p:cNvSpPr/>
          <p:nvPr>
            <p:custDataLst>
              <p:tags r:id="rId1"/>
            </p:custDataLst>
          </p:nvPr>
        </p:nvSpPr>
        <p:spPr>
          <a:xfrm>
            <a:off x="3796030" y="3846830"/>
            <a:ext cx="4730400" cy="1188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5"/>
          <p:cNvSpPr/>
          <p:nvPr>
            <p:custDataLst>
              <p:tags r:id="rId2"/>
            </p:custDataLst>
          </p:nvPr>
        </p:nvSpPr>
        <p:spPr>
          <a:xfrm>
            <a:off x="3796030" y="2448560"/>
            <a:ext cx="4730400" cy="1188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5"/>
          <p:cNvSpPr/>
          <p:nvPr>
            <p:custDataLst>
              <p:tags r:id="rId3"/>
            </p:custDataLst>
          </p:nvPr>
        </p:nvSpPr>
        <p:spPr>
          <a:xfrm>
            <a:off x="3796030" y="5245235"/>
            <a:ext cx="4730400" cy="1188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物理吸附：墨西哥进口硅藻土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pic>
        <p:nvPicPr>
          <p:cNvPr id="16" name="Picture 3"/>
          <p:cNvPicPr/>
          <p:nvPr/>
        </p:nvPicPr>
        <p:blipFill>
          <a:blip r:embed="rId4"/>
          <a:srcRect l="25799" r="25799"/>
          <a:stretch>
            <a:fillRect/>
          </a:stretch>
        </p:blipFill>
        <p:spPr>
          <a:xfrm>
            <a:off x="590550" y="1753870"/>
            <a:ext cx="2880000" cy="468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7" name="AutoShape 4"/>
          <p:cNvSpPr/>
          <p:nvPr/>
        </p:nvSpPr>
        <p:spPr>
          <a:xfrm>
            <a:off x="590550" y="1024890"/>
            <a:ext cx="747141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>
                <a:solidFill>
                  <a:schemeClr val="tx1">
                    <a:lumMod val="85000"/>
                    <a:lumOff val="15000"/>
                  </a:schemeClr>
                </a:solidFill>
                <a:cs typeface="Noto Sans SC" panose="020B0200000000000000" charset="-122"/>
                <a:sym typeface="Noto Sans SC" panose="020B0200000000000000" charset="-122"/>
              </a:rPr>
              <a:t>源自世界级淡水硅藻土摇篮：墨西哥索诺拉州</a:t>
            </a:r>
            <a:endParaRPr lang="en-US" sz="2400" b="1" i="0">
              <a:solidFill>
                <a:schemeClr val="tx1">
                  <a:lumMod val="85000"/>
                  <a:lumOff val="15000"/>
                </a:schemeClr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3773805" y="1630045"/>
            <a:ext cx="7917815" cy="721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i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我们的硅藻土源自墨西哥索诺拉州顶级淡水矿床，纯净的自然沉积环境和独特的无定形二氧化硅成分，从源头奠定了原料卓越的物理与化学性能基础。</a:t>
            </a:r>
            <a:endParaRPr lang="en-US" sz="1400" i="0">
              <a:solidFill>
                <a:schemeClr val="tx1">
                  <a:lumMod val="65000"/>
                  <a:lumOff val="3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2555" y="2808560"/>
            <a:ext cx="468000" cy="468000"/>
          </a:xfrm>
          <a:prstGeom prst="rect">
            <a:avLst/>
          </a:prstGeom>
        </p:spPr>
      </p:pic>
      <p:sp>
        <p:nvSpPr>
          <p:cNvPr id="21" name="AutoShape 8"/>
          <p:cNvSpPr/>
          <p:nvPr>
            <p:custDataLst>
              <p:tags r:id="rId8"/>
            </p:custDataLst>
          </p:nvPr>
        </p:nvSpPr>
        <p:spPr>
          <a:xfrm>
            <a:off x="4534535" y="2598060"/>
            <a:ext cx="3830955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0000"/>
              </a:lnSpc>
              <a:defRPr/>
            </a:pPr>
            <a:r>
              <a:rPr lang="en-US" sz="1500" b="1" i="0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天然微孔结构 · 巨大内部空间</a:t>
            </a:r>
            <a:endParaRPr lang="en-US" sz="1500" b="1">
              <a:solidFill>
                <a:schemeClr val="tx1"/>
              </a:solidFill>
            </a:endParaRPr>
          </a:p>
          <a:p>
            <a:pPr indent="0" algn="just" fontAlgn="auto">
              <a:lnSpc>
                <a:spcPct val="120000"/>
              </a:lnSpc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硅藻土颗粒的</a:t>
            </a:r>
            <a:r>
              <a:rPr lang="en-US" sz="1400" b="1" i="0">
                <a:solidFill>
                  <a:srgbClr val="22C55E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孔隙率高达90%以上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，内部形成错综复杂的立体网络，提供了巨大的容纳空间。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32555" y="4206830"/>
            <a:ext cx="468000" cy="468000"/>
          </a:xfrm>
          <a:prstGeom prst="rect">
            <a:avLst/>
          </a:prstGeom>
        </p:spPr>
      </p:pic>
      <p:sp>
        <p:nvSpPr>
          <p:cNvPr id="24" name="AutoShape 11"/>
          <p:cNvSpPr/>
          <p:nvPr>
            <p:custDataLst>
              <p:tags r:id="rId12"/>
            </p:custDataLst>
          </p:nvPr>
        </p:nvSpPr>
        <p:spPr>
          <a:xfrm>
            <a:off x="4534535" y="3996330"/>
            <a:ext cx="3830955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0000"/>
              </a:lnSpc>
              <a:defRPr/>
            </a:pPr>
            <a:r>
              <a:rPr lang="en-US" sz="1500" b="1" i="0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超高比表面积 · 海量吸附位点</a:t>
            </a:r>
            <a:endParaRPr lang="en-US" sz="1500" b="1">
              <a:solidFill>
                <a:schemeClr val="tx1"/>
              </a:solidFill>
            </a:endParaRPr>
          </a:p>
          <a:p>
            <a:pPr indent="0" algn="just" fontAlgn="auto">
              <a:lnSpc>
                <a:spcPct val="120000"/>
              </a:lnSpc>
            </a:pPr>
            <a:r>
              <a:rPr lang="en-US" sz="1400" b="1" i="0">
                <a:solidFill>
                  <a:srgbClr val="22C55E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比表面积可达65㎡/g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可提供极其丰富的活性吸附位点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吸附量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是传统活性炭的</a:t>
            </a:r>
            <a:r>
              <a:rPr lang="en-US" sz="1400" b="1" i="0">
                <a:solidFill>
                  <a:srgbClr val="22C55E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5000-6000倍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32555" y="5605235"/>
            <a:ext cx="468000" cy="468000"/>
          </a:xfrm>
          <a:prstGeom prst="rect">
            <a:avLst/>
          </a:prstGeom>
        </p:spPr>
      </p:pic>
      <p:sp>
        <p:nvSpPr>
          <p:cNvPr id="27" name="AutoShape 14"/>
          <p:cNvSpPr/>
          <p:nvPr>
            <p:custDataLst>
              <p:tags r:id="rId16"/>
            </p:custDataLst>
          </p:nvPr>
        </p:nvSpPr>
        <p:spPr>
          <a:xfrm>
            <a:off x="4534535" y="5394735"/>
            <a:ext cx="3830955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0000"/>
              </a:lnSpc>
              <a:defRPr/>
            </a:pPr>
            <a:r>
              <a:rPr lang="en-US" sz="1500" b="1" i="0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快速响应 · 高效锁味</a:t>
            </a:r>
            <a:endParaRPr lang="en-US" sz="1500" b="1">
              <a:solidFill>
                <a:schemeClr val="tx1"/>
              </a:solidFill>
            </a:endParaRPr>
          </a:p>
          <a:p>
            <a:pPr indent="0" algn="just" fontAlgn="auto">
              <a:lnSpc>
                <a:spcPct val="120000"/>
              </a:lnSpc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像精密的“分子筛”一样，</a:t>
            </a:r>
            <a:r>
              <a:rPr lang="en-US" sz="1400" b="1" i="0">
                <a:solidFill>
                  <a:srgbClr val="22C55E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快速识别并捕捉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异味分子，将其</a:t>
            </a:r>
            <a:r>
              <a:rPr lang="en-US" sz="1400" b="1" i="0">
                <a:solidFill>
                  <a:srgbClr val="22C55E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牢牢锁在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内部孔隙中，实现快速祛味。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6" name="图片 1"/>
          <p:cNvPicPr>
            <a:picLocks noChangeAspect="1" noChangeArrowheads="1"/>
          </p:cNvPicPr>
          <p:nvPr/>
        </p:nvPicPr>
        <p:blipFill>
          <a:blip r:embed="rId17"/>
          <a:srcRect b="22515"/>
          <a:stretch>
            <a:fillRect/>
          </a:stretch>
        </p:blipFill>
        <p:spPr>
          <a:xfrm>
            <a:off x="8947785" y="2448560"/>
            <a:ext cx="2693670" cy="15100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316853284" name="图片 1"/>
          <p:cNvPicPr>
            <a:picLocks noChangeArrowheads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47150" y="4368800"/>
            <a:ext cx="2694305" cy="20650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  <p:custDataLst>
      <p:tags r:id="rId1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7D5">
            <a:alpha val="99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AutoShape 6"/>
          <p:cNvSpPr/>
          <p:nvPr/>
        </p:nvSpPr>
        <p:spPr>
          <a:xfrm>
            <a:off x="8007985" y="1401715"/>
            <a:ext cx="3348000" cy="4320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2"/>
          <p:cNvSpPr/>
          <p:nvPr/>
        </p:nvSpPr>
        <p:spPr>
          <a:xfrm>
            <a:off x="9300667" y="3275965"/>
            <a:ext cx="76263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6295" y="1401715"/>
            <a:ext cx="6336000" cy="4320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5747" r="5747"/>
          <a:stretch>
            <a:fillRect/>
          </a:stretch>
        </p:blipFill>
        <p:spPr>
          <a:xfrm>
            <a:off x="8758377" y="1327150"/>
            <a:ext cx="1847215" cy="138557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157985" y="2596515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>
                <a:solidFill>
                  <a:srgbClr val="10B981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墨西哥淡水硅藻土</a:t>
            </a:r>
            <a:endParaRPr lang="en-US" sz="1100">
              <a:latin typeface="Calibri" panose="020F0502020204030204" charset="0"/>
              <a:ea typeface="宋体简体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高纯度 · 食品级 · 医药级</a:t>
            </a:r>
            <a:endParaRPr lang="en-US" sz="1200" b="0" i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4600" r="4600"/>
          <a:stretch>
            <a:fillRect/>
          </a:stretch>
        </p:blipFill>
        <p:spPr>
          <a:xfrm>
            <a:off x="8721865" y="4045585"/>
            <a:ext cx="1920240" cy="85915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007807" y="4904740"/>
            <a:ext cx="334835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普通海水硅藻土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简体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工业填料 · 含杂质 · 致密</a:t>
            </a:r>
            <a:endParaRPr lang="en-US" sz="1200" b="0" i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980295" y="4257040"/>
            <a:ext cx="6048000" cy="1226820"/>
          </a:xfrm>
          <a:prstGeom prst="roundRect">
            <a:avLst>
              <a:gd name="adj" fmla="val 17777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660" y="4606925"/>
            <a:ext cx="584200" cy="584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66570" y="4256405"/>
            <a:ext cx="5099050" cy="1228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结论：更高品质的选择</a:t>
            </a:r>
            <a:endParaRPr lang="en-US">
              <a:solidFill>
                <a:schemeClr val="bg1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墨西哥淡水硅藻土在纯度、功能性和安全性上实现了对普通海水硅藻土的全面超越。</a:t>
            </a:r>
            <a:endParaRPr lang="en-US" sz="15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7"/>
          <p:cNvSpPr/>
          <p:nvPr>
            <p:custDataLst>
              <p:tags r:id="rId5"/>
            </p:custDataLst>
          </p:nvPr>
        </p:nvSpPr>
        <p:spPr>
          <a:xfrm>
            <a:off x="1147445" y="159639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chemeClr val="tx1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墨西哥进口硅藻土</a:t>
            </a:r>
            <a:endParaRPr lang="zh-CN" altLang="en-US" sz="2400" b="1" i="0" u="none" strike="noStrike">
              <a:solidFill>
                <a:schemeClr val="tx1"/>
              </a:solidFill>
              <a:highlight>
                <a:srgbClr val="FFFF00"/>
              </a:highlight>
              <a:latin typeface="+mj-ea"/>
              <a:ea typeface="+mj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8"/>
          <p:cNvSpPr/>
          <p:nvPr>
            <p:custDataLst>
              <p:tags r:id="rId6"/>
            </p:custDataLst>
          </p:nvPr>
        </p:nvSpPr>
        <p:spPr>
          <a:xfrm>
            <a:off x="1081390" y="2450465"/>
            <a:ext cx="584581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just" fontAlgn="auto">
              <a:lnSpc>
                <a:spcPct val="150000"/>
              </a:lnSpc>
              <a:buFont typeface="Wingdings" panose="05000000000000000000" charset="0"/>
              <a:buChar char="ü"/>
              <a:defRPr/>
            </a:pPr>
            <a:r>
              <a:rPr lang="zh-CN" altLang="en-US" b="1" i="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+mn-ea"/>
                <a:sym typeface="+mn-ea"/>
              </a:rPr>
              <a:t>更高纯度：</a:t>
            </a:r>
            <a:r>
              <a:rPr lang="zh-CN" altLang="en-US" sz="15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简体" charset="0"/>
                <a:cs typeface="+mn-ea"/>
                <a:sym typeface="+mn-ea"/>
              </a:rPr>
              <a:t>食品 / 医药级标准，无有害杂质，安全可接触肌肤</a:t>
            </a:r>
            <a:endParaRPr lang="zh-CN" altLang="en-US" sz="1500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简体" charset="0"/>
              <a:cs typeface="+mn-ea"/>
              <a:sym typeface="+mn-ea"/>
            </a:endParaRPr>
          </a:p>
          <a:p>
            <a:pPr marL="285750" indent="-285750" algn="just" fontAlgn="auto">
              <a:lnSpc>
                <a:spcPct val="150000"/>
              </a:lnSpc>
              <a:buFont typeface="Wingdings" panose="05000000000000000000" charset="0"/>
              <a:buChar char="ü"/>
              <a:defRPr/>
            </a:pPr>
            <a:r>
              <a:rPr lang="zh-CN" altLang="en-US" b="1" i="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+mn-ea"/>
                <a:sym typeface="+mn-ea"/>
              </a:rPr>
              <a:t>更强吸附：</a:t>
            </a:r>
            <a:r>
              <a:rPr lang="zh-CN" altLang="en-US" sz="15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简体" charset="0"/>
                <a:cs typeface="+mn-ea"/>
                <a:sym typeface="+mn-ea"/>
              </a:rPr>
              <a:t>疏松多孔结构，祛味吸附力远超普通海水硅藻土</a:t>
            </a:r>
            <a:endParaRPr lang="zh-CN" altLang="en-US" sz="1500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简体" charset="0"/>
              <a:cs typeface="+mn-ea"/>
              <a:sym typeface="+mn-ea"/>
            </a:endParaRPr>
          </a:p>
          <a:p>
            <a:pPr marL="285750" indent="-285750" algn="just" fontAlgn="auto">
              <a:lnSpc>
                <a:spcPct val="150000"/>
              </a:lnSpc>
              <a:buFont typeface="Wingdings" panose="05000000000000000000" charset="0"/>
              <a:buChar char="ü"/>
              <a:defRPr/>
            </a:pPr>
            <a:r>
              <a:rPr lang="zh-CN" altLang="en-US" b="1" i="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+mn-ea"/>
                <a:sym typeface="+mn-ea"/>
              </a:rPr>
              <a:t>更优性能：</a:t>
            </a:r>
            <a:r>
              <a:rPr lang="zh-CN" altLang="en-US" sz="15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简体" charset="0"/>
                <a:cs typeface="+mn-ea"/>
                <a:sym typeface="+mn-ea"/>
              </a:rPr>
              <a:t>无定形二氧化硅，化学性质稳定，不易失效</a:t>
            </a:r>
            <a:endParaRPr lang="zh-CN" altLang="en-US" sz="1500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简体" charset="0"/>
              <a:cs typeface="+mn-ea"/>
              <a:sym typeface="+mn-ea"/>
            </a:endParaRPr>
          </a:p>
        </p:txBody>
      </p:sp>
      <p:sp>
        <p:nvSpPr>
          <p:cNvPr id="9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物理吸附</a:t>
            </a: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：墨西哥进口硅藻土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563880" y="1450340"/>
            <a:ext cx="5096510" cy="4410710"/>
            <a:chOff x="1020" y="2495"/>
            <a:chExt cx="8026" cy="6946"/>
          </a:xfrm>
        </p:grpSpPr>
        <p:sp>
          <p:nvSpPr>
            <p:cNvPr id="5" name="AutoShape 5"/>
            <p:cNvSpPr/>
            <p:nvPr>
              <p:custDataLst>
                <p:tags r:id="rId1"/>
              </p:custDataLst>
            </p:nvPr>
          </p:nvSpPr>
          <p:spPr>
            <a:xfrm>
              <a:off x="1020" y="2495"/>
              <a:ext cx="8026" cy="6946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F3F4F6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>
              <p:custDataLst>
                <p:tags r:id="rId2"/>
              </p:custDataLst>
            </p:nvPr>
          </p:nvSpPr>
          <p:spPr>
            <a:xfrm>
              <a:off x="1649" y="2781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400" b="1">
                  <a:solidFill>
                    <a:schemeClr val="tx1"/>
                  </a:solidFill>
                  <a:latin typeface="+mn-ea"/>
                  <a:cs typeface="+mn-ea"/>
                </a:rPr>
                <a:t>β</a:t>
              </a:r>
              <a:r>
                <a:rPr lang="en-US" altLang="zh-CN" sz="2400" b="1">
                  <a:solidFill>
                    <a:schemeClr val="tx1"/>
                  </a:solidFill>
                  <a:latin typeface="+mn-ea"/>
                  <a:cs typeface="+mn-ea"/>
                </a:rPr>
                <a:t>-</a:t>
              </a:r>
              <a:r>
                <a:rPr lang="zh-CN" altLang="en-US" sz="2400" b="1">
                  <a:solidFill>
                    <a:schemeClr val="tx1"/>
                  </a:solidFill>
                  <a:latin typeface="+mn-ea"/>
                  <a:cs typeface="+mn-ea"/>
                </a:rPr>
                <a:t>环糊精</a:t>
              </a:r>
              <a:endParaRPr lang="zh-CN" altLang="en-US" sz="2400" b="1">
                <a:solidFill>
                  <a:schemeClr val="tx1"/>
                </a:solidFill>
                <a:latin typeface="+mn-ea"/>
                <a:cs typeface="+mn-ea"/>
                <a:sym typeface="Noto Sans SC" panose="020B0200000000000000" charset="-122"/>
              </a:endParaRPr>
            </a:p>
          </p:txBody>
        </p:sp>
        <p:sp>
          <p:nvSpPr>
            <p:cNvPr id="8" name="AutoShape 8"/>
            <p:cNvSpPr/>
            <p:nvPr>
              <p:custDataLst>
                <p:tags r:id="rId3"/>
              </p:custDataLst>
            </p:nvPr>
          </p:nvSpPr>
          <p:spPr>
            <a:xfrm>
              <a:off x="1328" y="3978"/>
              <a:ext cx="7410" cy="498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285750" indent="-285750" algn="just" fontAlgn="auto">
                <a:lnSpc>
                  <a:spcPct val="125000"/>
                </a:lnSpc>
                <a:spcAft>
                  <a:spcPts val="600"/>
                </a:spcAft>
                <a:buFont typeface="Wingdings" panose="05000000000000000000" charset="0"/>
                <a:buChar char="u"/>
                <a:defRPr/>
              </a:pPr>
              <a:r>
                <a:rPr lang="zh-CN" altLang="en-US" sz="1600" b="1" i="0">
                  <a:solidFill>
                    <a:schemeClr val="tx1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独特结构：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外亲水、内疏水性的</a:t>
              </a:r>
              <a:r>
                <a:rPr lang="zh-CN" altLang="en-US" sz="1400" b="1" i="0">
                  <a:solidFill>
                    <a:srgbClr val="22C55E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笼状结构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，内腔大小适中，非常适合包合许多具有异味的有机小分子。</a:t>
              </a:r>
              <a:endParaRPr lang="zh-CN" altLang="en-US" sz="1400" i="0">
                <a:solidFill>
                  <a:schemeClr val="tx1"/>
                </a:solidFill>
                <a:uFillTx/>
                <a:cs typeface="思源宋体" panose="02020700000000000000" charset="-122"/>
                <a:sym typeface="Noto Sans SC" panose="020B0200000000000000" charset="-122"/>
              </a:endParaRPr>
            </a:p>
            <a:p>
              <a:pPr marL="285750" indent="-285750" algn="just" fontAlgn="auto">
                <a:lnSpc>
                  <a:spcPct val="125000"/>
                </a:lnSpc>
                <a:spcAft>
                  <a:spcPts val="600"/>
                </a:spcAft>
                <a:buFont typeface="Wingdings" panose="05000000000000000000" charset="0"/>
                <a:buChar char="u"/>
                <a:defRPr/>
              </a:pPr>
              <a:r>
                <a:rPr lang="zh-CN" altLang="en-US" sz="1600" b="1" i="0">
                  <a:solidFill>
                    <a:schemeClr val="tx1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包合祛味：</a:t>
              </a:r>
              <a:r>
                <a:rPr lang="zh-CN" altLang="en-US" sz="1400" i="0">
                  <a:solidFill>
                    <a:schemeClr val="tx1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 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许多产生异味的物质（如硫化物、氨、胺类、短链脂肪酸、醛类、酮类、某些酚类化合物等）具有疏水性或部分疏水性，能够被</a:t>
              </a:r>
              <a:r>
                <a:rPr lang="en-US" altLang="zh-CN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β-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环糊精的疏水内腔</a:t>
              </a:r>
              <a:r>
                <a:rPr lang="zh-CN" altLang="en-US" sz="1400" b="1" i="0">
                  <a:solidFill>
                    <a:srgbClr val="22C55E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捕获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，</a:t>
              </a:r>
              <a:r>
                <a:rPr lang="zh-CN" altLang="en-US" sz="1400" b="1" i="0">
                  <a:solidFill>
                    <a:srgbClr val="22C55E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形成主客体包合物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。</a:t>
              </a:r>
              <a:endParaRPr lang="zh-CN" altLang="en-US" sz="1400" i="0">
                <a:solidFill>
                  <a:schemeClr val="tx1"/>
                </a:solidFill>
                <a:uFillTx/>
                <a:cs typeface="思源宋体" panose="02020700000000000000" charset="-122"/>
                <a:sym typeface="Noto Sans SC" panose="020B0200000000000000" charset="-122"/>
              </a:endParaRPr>
            </a:p>
            <a:p>
              <a:pPr marL="285750" indent="-285750" algn="just" fontAlgn="auto">
                <a:lnSpc>
                  <a:spcPct val="125000"/>
                </a:lnSpc>
                <a:spcAft>
                  <a:spcPts val="600"/>
                </a:spcAft>
                <a:buFont typeface="Wingdings" panose="05000000000000000000" charset="0"/>
                <a:buChar char="u"/>
                <a:defRPr/>
              </a:pPr>
              <a:r>
                <a:rPr lang="zh-CN" altLang="en-US" sz="1600" b="1" i="0">
                  <a:solidFill>
                    <a:schemeClr val="tx1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物理去除：</a:t>
              </a:r>
              <a:r>
                <a:rPr lang="zh-CN" altLang="en-US" sz="1400" i="0">
                  <a:solidFill>
                    <a:schemeClr val="tx1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 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通过</a:t>
              </a:r>
              <a:r>
                <a:rPr lang="zh-CN" altLang="en-US" sz="1400" b="1" i="0">
                  <a:solidFill>
                    <a:srgbClr val="22C55E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物理包合</a:t>
              </a:r>
              <a:r>
                <a:rPr lang="en-US" altLang="zh-CN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“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困住</a:t>
              </a:r>
              <a:r>
                <a:rPr lang="en-US" altLang="zh-CN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”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异味分子，而非化学反应或香味掩盖。</a:t>
              </a:r>
              <a:endPara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思源宋体" panose="02020700000000000000" charset="-122"/>
                <a:sym typeface="Noto Sans SC" panose="020B0200000000000000" charset="-122"/>
              </a:endParaRPr>
            </a:p>
            <a:p>
              <a:pPr marL="285750" indent="-285750" algn="just" fontAlgn="auto">
                <a:lnSpc>
                  <a:spcPct val="125000"/>
                </a:lnSpc>
                <a:spcAft>
                  <a:spcPts val="600"/>
                </a:spcAft>
                <a:buFont typeface="Wingdings" panose="05000000000000000000" charset="0"/>
                <a:buChar char="u"/>
                <a:defRPr/>
              </a:pPr>
              <a:r>
                <a:rPr lang="zh-CN" altLang="en-US" sz="1600" b="1" i="0">
                  <a:solidFill>
                    <a:schemeClr val="tx1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效果持久：</a:t>
              </a:r>
              <a:r>
                <a:rPr lang="zh-CN" altLang="en-US" sz="1400" i="0">
                  <a:solidFill>
                    <a:schemeClr val="tx1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 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异味分子被稳定束缚，正常条件下不易释放，</a:t>
              </a:r>
              <a:r>
                <a:rPr lang="zh-CN" altLang="en-US" sz="1400" b="1" i="0">
                  <a:solidFill>
                    <a:srgbClr val="22C55E"/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长效锁味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思源宋体" panose="02020700000000000000" charset="-122"/>
                  <a:sym typeface="Noto Sans SC" panose="020B0200000000000000" charset="-122"/>
                </a:rPr>
                <a:t>。</a:t>
              </a:r>
              <a:endPara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思源宋体" panose="020207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2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物理吸附：</a:t>
            </a:r>
            <a:r>
              <a:rPr lang="zh-CN" altLang="en-US" sz="2800" b="1">
                <a:latin typeface="+mn-ea"/>
                <a:cs typeface="+mn-ea"/>
                <a:sym typeface="+mn-ea"/>
              </a:rPr>
              <a:t>β</a:t>
            </a:r>
            <a:r>
              <a:rPr lang="en-US" altLang="zh-CN" sz="2800" b="1">
                <a:latin typeface="+mn-ea"/>
                <a:cs typeface="+mn-ea"/>
                <a:sym typeface="+mn-ea"/>
              </a:rPr>
              <a:t>-</a:t>
            </a:r>
            <a:r>
              <a:rPr lang="zh-CN" altLang="en-US" sz="2800" b="1">
                <a:latin typeface="+mn-ea"/>
                <a:cs typeface="+mn-ea"/>
                <a:sym typeface="+mn-ea"/>
              </a:rPr>
              <a:t>环糊精（</a:t>
            </a:r>
            <a:r>
              <a:rPr lang="en-US" altLang="zh-CN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β-Cyclodextrin</a:t>
            </a: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）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965190" y="1483678"/>
            <a:ext cx="5769610" cy="4344035"/>
            <a:chOff x="9587" y="2455"/>
            <a:chExt cx="9070" cy="7344"/>
          </a:xfrm>
        </p:grpSpPr>
        <p:sp>
          <p:nvSpPr>
            <p:cNvPr id="28" name="AutoShape 5"/>
            <p:cNvSpPr/>
            <p:nvPr>
              <p:custDataLst>
                <p:tags r:id="rId4"/>
              </p:custDataLst>
            </p:nvPr>
          </p:nvSpPr>
          <p:spPr>
            <a:xfrm>
              <a:off x="9587" y="2455"/>
              <a:ext cx="9071" cy="7345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F3F4F6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094319833" name="图片 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7" t="3650" r="3280" b="1409"/>
            <a:stretch>
              <a:fillRect/>
            </a:stretch>
          </p:blipFill>
          <p:spPr>
            <a:xfrm>
              <a:off x="10401" y="4199"/>
              <a:ext cx="5750" cy="4247"/>
            </a:xfrm>
            <a:prstGeom prst="roundRect">
              <a:avLst/>
            </a:prstGeom>
            <a:noFill/>
            <a:ln>
              <a:noFill/>
            </a:ln>
          </p:spPr>
        </p:pic>
        <p:sp>
          <p:nvSpPr>
            <p:cNvPr id="17" name="椭圆 16"/>
            <p:cNvSpPr/>
            <p:nvPr/>
          </p:nvSpPr>
          <p:spPr>
            <a:xfrm>
              <a:off x="12667" y="2667"/>
              <a:ext cx="1020" cy="102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7084" y="7654"/>
              <a:ext cx="1020" cy="102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6412" y="5885"/>
              <a:ext cx="1020" cy="102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2667" y="8446"/>
              <a:ext cx="1020" cy="102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5404" y="3020"/>
              <a:ext cx="1020" cy="102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7044" y="4116"/>
              <a:ext cx="1020" cy="102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4927" y="8240"/>
              <a:ext cx="1020" cy="102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4" name="曲线连接符 23"/>
            <p:cNvCxnSpPr>
              <a:stCxn id="17" idx="5"/>
            </p:cNvCxnSpPr>
            <p:nvPr/>
          </p:nvCxnSpPr>
          <p:spPr>
            <a:xfrm rot="5400000" flipV="1">
              <a:off x="13118" y="3958"/>
              <a:ext cx="1261" cy="421"/>
            </a:xfrm>
            <a:prstGeom prst="curvedConnector3">
              <a:avLst>
                <a:gd name="adj1" fmla="val 55908"/>
              </a:avLst>
            </a:prstGeom>
            <a:ln w="19050">
              <a:solidFill>
                <a:srgbClr val="C25449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曲线连接符 24"/>
            <p:cNvCxnSpPr/>
            <p:nvPr/>
          </p:nvCxnSpPr>
          <p:spPr>
            <a:xfrm rot="10800000" flipV="1">
              <a:off x="14079" y="3839"/>
              <a:ext cx="1440" cy="1220"/>
            </a:xfrm>
            <a:prstGeom prst="curvedConnector3">
              <a:avLst>
                <a:gd name="adj1" fmla="val 49931"/>
              </a:avLst>
            </a:prstGeom>
            <a:ln w="19050">
              <a:solidFill>
                <a:srgbClr val="C25449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6" name="图片 25" descr="白色球体3D渲染插图"/>
            <p:cNvPicPr/>
            <p:nvPr>
              <p:custDataLst>
                <p:tags r:id="rId6"/>
              </p:custDataLst>
            </p:nvPr>
          </p:nvPicPr>
          <p:blipFill>
            <a:blip r:embed="rId7"/>
            <a:srcRect l="86148" t="51265" r="353" b="23534"/>
            <a:stretch>
              <a:fillRect/>
            </a:stretch>
          </p:blipFill>
          <p:spPr>
            <a:xfrm>
              <a:off x="16971" y="7495"/>
              <a:ext cx="1247" cy="13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" name="曲线连接符 3"/>
            <p:cNvCxnSpPr>
              <a:stCxn id="22" idx="2"/>
            </p:cNvCxnSpPr>
            <p:nvPr/>
          </p:nvCxnSpPr>
          <p:spPr>
            <a:xfrm rot="10800000" flipV="1">
              <a:off x="14139" y="4626"/>
              <a:ext cx="2905" cy="1013"/>
            </a:xfrm>
            <a:prstGeom prst="curvedConnector3">
              <a:avLst>
                <a:gd name="adj1" fmla="val 49983"/>
              </a:avLst>
            </a:prstGeom>
            <a:ln w="19050">
              <a:solidFill>
                <a:srgbClr val="C25449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曲线连接符 10"/>
            <p:cNvCxnSpPr/>
            <p:nvPr/>
          </p:nvCxnSpPr>
          <p:spPr>
            <a:xfrm rot="5400000" flipH="1">
              <a:off x="15060" y="5193"/>
              <a:ext cx="637" cy="2482"/>
            </a:xfrm>
            <a:prstGeom prst="curvedConnector4">
              <a:avLst>
                <a:gd name="adj1" fmla="val -28806"/>
                <a:gd name="adj2" fmla="val 53002"/>
              </a:avLst>
            </a:prstGeom>
            <a:ln w="19050">
              <a:solidFill>
                <a:srgbClr val="C25449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曲线连接符 11"/>
            <p:cNvCxnSpPr>
              <a:stCxn id="18" idx="2"/>
            </p:cNvCxnSpPr>
            <p:nvPr/>
          </p:nvCxnSpPr>
          <p:spPr>
            <a:xfrm rot="10800000">
              <a:off x="14099" y="6839"/>
              <a:ext cx="2985" cy="1325"/>
            </a:xfrm>
            <a:prstGeom prst="curvedConnector3">
              <a:avLst>
                <a:gd name="adj1" fmla="val 49983"/>
              </a:avLst>
            </a:prstGeom>
            <a:ln w="19050">
              <a:solidFill>
                <a:srgbClr val="C25449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曲线连接符 12"/>
            <p:cNvCxnSpPr/>
            <p:nvPr/>
          </p:nvCxnSpPr>
          <p:spPr>
            <a:xfrm rot="16200000" flipV="1">
              <a:off x="13879" y="7339"/>
              <a:ext cx="1360" cy="1000"/>
            </a:xfrm>
            <a:prstGeom prst="curvedConnector3">
              <a:avLst>
                <a:gd name="adj1" fmla="val 49926"/>
              </a:avLst>
            </a:prstGeom>
            <a:ln w="19050">
              <a:solidFill>
                <a:srgbClr val="C25449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曲线连接符 13"/>
            <p:cNvCxnSpPr>
              <a:stCxn id="20" idx="0"/>
            </p:cNvCxnSpPr>
            <p:nvPr/>
          </p:nvCxnSpPr>
          <p:spPr>
            <a:xfrm rot="16200000">
              <a:off x="12814" y="7501"/>
              <a:ext cx="1307" cy="582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C25449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5" name="图片 14" descr="白色球体3D渲染插图"/>
            <p:cNvPicPr/>
            <p:nvPr>
              <p:custDataLst>
                <p:tags r:id="rId8"/>
              </p:custDataLst>
            </p:nvPr>
          </p:nvPicPr>
          <p:blipFill>
            <a:blip r:embed="rId7"/>
            <a:srcRect l="86148" t="51265" r="353" b="23534"/>
            <a:stretch>
              <a:fillRect/>
            </a:stretch>
          </p:blipFill>
          <p:spPr>
            <a:xfrm>
              <a:off x="12554" y="8287"/>
              <a:ext cx="1247" cy="13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6" name="图片 15" descr="白色球体3D渲染插图"/>
            <p:cNvPicPr/>
            <p:nvPr>
              <p:custDataLst>
                <p:tags r:id="rId9"/>
              </p:custDataLst>
            </p:nvPr>
          </p:nvPicPr>
          <p:blipFill>
            <a:blip r:embed="rId7"/>
            <a:srcRect l="86148" t="51265" r="353" b="23534"/>
            <a:stretch>
              <a:fillRect/>
            </a:stretch>
          </p:blipFill>
          <p:spPr>
            <a:xfrm>
              <a:off x="14814" y="8081"/>
              <a:ext cx="1247" cy="13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图片 26" descr="白色球体3D渲染插图"/>
            <p:cNvPicPr/>
            <p:nvPr>
              <p:custDataLst>
                <p:tags r:id="rId10"/>
              </p:custDataLst>
            </p:nvPr>
          </p:nvPicPr>
          <p:blipFill>
            <a:blip r:embed="rId7"/>
            <a:srcRect l="86148" t="51265" r="353" b="23534"/>
            <a:stretch>
              <a:fillRect/>
            </a:stretch>
          </p:blipFill>
          <p:spPr>
            <a:xfrm>
              <a:off x="16299" y="5726"/>
              <a:ext cx="1247" cy="13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6" name="图片 35" descr="白色球体3D渲染插图"/>
            <p:cNvPicPr/>
            <p:nvPr>
              <p:custDataLst>
                <p:tags r:id="rId11"/>
              </p:custDataLst>
            </p:nvPr>
          </p:nvPicPr>
          <p:blipFill>
            <a:blip r:embed="rId7"/>
            <a:srcRect l="86148" t="51265" r="353" b="23534"/>
            <a:stretch>
              <a:fillRect/>
            </a:stretch>
          </p:blipFill>
          <p:spPr>
            <a:xfrm>
              <a:off x="12554" y="2508"/>
              <a:ext cx="1247" cy="13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7" name="图片 36" descr="白色球体3D渲染插图"/>
            <p:cNvPicPr/>
            <p:nvPr>
              <p:custDataLst>
                <p:tags r:id="rId12"/>
              </p:custDataLst>
            </p:nvPr>
          </p:nvPicPr>
          <p:blipFill>
            <a:blip r:embed="rId7"/>
            <a:srcRect l="86148" t="51265" r="353" b="23534"/>
            <a:stretch>
              <a:fillRect/>
            </a:stretch>
          </p:blipFill>
          <p:spPr>
            <a:xfrm>
              <a:off x="15291" y="2861"/>
              <a:ext cx="1247" cy="13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图片 37" descr="白色球体3D渲染插图"/>
            <p:cNvPicPr/>
            <p:nvPr>
              <p:custDataLst>
                <p:tags r:id="rId13"/>
              </p:custDataLst>
            </p:nvPr>
          </p:nvPicPr>
          <p:blipFill>
            <a:blip r:embed="rId7"/>
            <a:srcRect l="86148" t="51265" r="353" b="23534"/>
            <a:stretch>
              <a:fillRect/>
            </a:stretch>
          </p:blipFill>
          <p:spPr>
            <a:xfrm>
              <a:off x="16931" y="3957"/>
              <a:ext cx="1247" cy="133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9" name="组合 38"/>
            <p:cNvGrpSpPr/>
            <p:nvPr/>
          </p:nvGrpSpPr>
          <p:grpSpPr>
            <a:xfrm>
              <a:off x="12621" y="2960"/>
              <a:ext cx="5530" cy="6233"/>
              <a:chOff x="12621" y="2960"/>
              <a:chExt cx="5530" cy="6233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2621" y="2960"/>
                <a:ext cx="1113" cy="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硫化物</a:t>
                </a:r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5358" y="3313"/>
                <a:ext cx="1113" cy="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氨</a:t>
                </a:r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6998" y="4409"/>
                <a:ext cx="1113" cy="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胺类</a:t>
                </a:r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661" y="8559"/>
                <a:ext cx="1032" cy="6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短链</a:t>
                </a:r>
                <a:endParaRPr lang="zh-CN" altLang="en-US" sz="12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脂肪酸</a:t>
                </a:r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6366" y="6178"/>
                <a:ext cx="1113" cy="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醛类</a:t>
                </a:r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7038" y="7947"/>
                <a:ext cx="1113" cy="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酮类</a:t>
                </a:r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4811" y="8456"/>
                <a:ext cx="1260" cy="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b="1">
                    <a:solidFill>
                      <a:schemeClr val="tx1"/>
                    </a:solidFill>
                  </a:rPr>
                  <a:t>酚类</a:t>
                </a:r>
                <a:endParaRPr lang="zh-CN" altLang="en-US" sz="11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1100" b="1">
                    <a:solidFill>
                      <a:schemeClr val="tx1"/>
                    </a:solidFill>
                  </a:rPr>
                  <a:t>化合物</a:t>
                </a:r>
                <a:endParaRPr lang="zh-CN" altLang="en-US" sz="1100" b="1">
                  <a:solidFill>
                    <a:schemeClr val="tx1"/>
                  </a:solidFill>
                </a:endParaRPr>
              </a:p>
            </p:txBody>
          </p:sp>
        </p:grpSp>
      </p:grp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化学中和</a:t>
            </a: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：</a:t>
            </a:r>
            <a:r>
              <a:rPr 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L-乳酸(L(+)-Lactic acid)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772160" y="1598295"/>
            <a:ext cx="5890260" cy="4223385"/>
            <a:chOff x="1020" y="2985"/>
            <a:chExt cx="9276" cy="6651"/>
          </a:xfrm>
        </p:grpSpPr>
        <p:grpSp>
          <p:nvGrpSpPr>
            <p:cNvPr id="40" name="组合 39"/>
            <p:cNvGrpSpPr/>
            <p:nvPr/>
          </p:nvGrpSpPr>
          <p:grpSpPr>
            <a:xfrm>
              <a:off x="1020" y="2985"/>
              <a:ext cx="9276" cy="6651"/>
              <a:chOff x="1200" y="2953"/>
              <a:chExt cx="9276" cy="6651"/>
            </a:xfrm>
          </p:grpSpPr>
          <p:sp>
            <p:nvSpPr>
              <p:cNvPr id="22" name="AutoShape 5"/>
              <p:cNvSpPr/>
              <p:nvPr>
                <p:custDataLst>
                  <p:tags r:id="rId1"/>
                </p:custDataLst>
              </p:nvPr>
            </p:nvSpPr>
            <p:spPr>
              <a:xfrm>
                <a:off x="1200" y="2953"/>
                <a:ext cx="9276" cy="6651"/>
              </a:xfrm>
              <a:prstGeom prst="roundRect">
                <a:avLst>
                  <a:gd name="adj" fmla="val 4000"/>
                </a:avLst>
              </a:prstGeom>
              <a:solidFill>
                <a:srgbClr val="FFFFFF">
                  <a:alpha val="100000"/>
                </a:srgbClr>
              </a:solidFill>
              <a:ln w="12700" cap="flat" cmpd="sng">
                <a:solidFill>
                  <a:srgbClr val="F3F4F6">
                    <a:alpha val="100000"/>
                  </a:srgbClr>
                </a:solidFill>
                <a:prstDash val="solid"/>
                <a:round/>
              </a:ln>
              <a:effectLst>
                <a:outerShdw blurRad="444500" dist="190500" dir="2700000" algn="tl" rotWithShape="0">
                  <a:srgbClr val="000000">
                    <a:alpha val="25000"/>
                  </a:srgbClr>
                </a:outerShdw>
              </a:effectLst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24" name="AutoShape 7"/>
              <p:cNvSpPr/>
              <p:nvPr>
                <p:custDataLst>
                  <p:tags r:id="rId2"/>
                </p:custDataLst>
              </p:nvPr>
            </p:nvSpPr>
            <p:spPr>
              <a:xfrm>
                <a:off x="2109" y="3221"/>
                <a:ext cx="6000" cy="1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endParaRPr lang="zh-CN" altLang="en-US" sz="2400" b="1" i="0" u="none" strike="noStrike">
                  <a:solidFill>
                    <a:schemeClr val="tx1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1216" y="4343"/>
              <a:ext cx="8813" cy="5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 defTabSz="266700" fontAlgn="auto">
                <a:lnSpc>
                  <a:spcPct val="125000"/>
                </a:lnSpc>
                <a:buFont typeface="Wingdings" panose="05000000000000000000" charset="0"/>
                <a:buChar char="u"/>
              </a:pPr>
              <a:endParaRPr lang="zh-CN" altLang="en-US" sz="1400" dirty="0">
                <a:solidFill>
                  <a:schemeClr val="tx1"/>
                </a:solidFill>
                <a:uFillTx/>
                <a:latin typeface="+mn-ea"/>
                <a:cs typeface="+mn-ea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l="5037" t="22425" r="2736" b="13097"/>
          <a:stretch>
            <a:fillRect/>
          </a:stretch>
        </p:blipFill>
        <p:spPr>
          <a:xfrm>
            <a:off x="7263765" y="2403475"/>
            <a:ext cx="4250055" cy="24739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01725" y="2004695"/>
            <a:ext cx="4652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天然L-乳酸，源自生命的智慧</a:t>
            </a:r>
            <a:endParaRPr lang="en-US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文本框 2" descr="7b0a202020202262756c6c6574223a20227b5c2263617465676f727949645c223a5c225c222c5c2274656d706c61746549645c223a32303233313634357d220a7d0a"/>
          <p:cNvSpPr txBox="1"/>
          <p:nvPr/>
        </p:nvSpPr>
        <p:spPr>
          <a:xfrm>
            <a:off x="1055053" y="2775268"/>
            <a:ext cx="5324475" cy="2819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just" fontAlgn="auto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22C55E"/>
              </a:buClr>
              <a:buFont typeface="Wingdings" panose="05000000000000000000" charset="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/>
            </a:pPr>
            <a:r>
              <a:rPr lang="en-US" sz="1600" b="1">
                <a:solidFill>
                  <a:schemeClr val="tx1"/>
                </a:solidFill>
                <a:cs typeface="微软雅黑" panose="020B0503020204020204" charset="-122"/>
                <a:sym typeface="微软雅黑" panose="020B0503020204020204" charset="-122"/>
              </a:rPr>
              <a:t>天然弱酸，温和亲肤：</a:t>
            </a: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天然</a:t>
            </a:r>
            <a:r>
              <a:rPr lang="en-US" sz="1500" b="1">
                <a:solidFill>
                  <a:srgbClr val="22C55E"/>
                </a:solidFill>
                <a:cs typeface="微软雅黑" panose="020B0503020204020204" charset="-122"/>
                <a:sym typeface="微软雅黑" panose="020B0503020204020204" charset="-122"/>
              </a:rPr>
              <a:t>存在于人体肌肤</a:t>
            </a: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中的保湿因子，具有卓越的保湿和</a:t>
            </a:r>
            <a:r>
              <a:rPr lang="en-US" sz="1500" b="1">
                <a:solidFill>
                  <a:srgbClr val="22C55E"/>
                </a:solidFill>
                <a:cs typeface="微软雅黑" panose="020B0503020204020204" charset="-122"/>
                <a:sym typeface="微软雅黑" panose="020B0503020204020204" charset="-122"/>
              </a:rPr>
              <a:t>调节pH值</a:t>
            </a: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能力，性质温和，对皮肤和黏膜友好。</a:t>
            </a:r>
            <a:endParaRPr lang="en-US" sz="15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just" fontAlgn="auto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22C55E"/>
              </a:buClr>
              <a:buFont typeface="Wingdings" panose="05000000000000000000" charset="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1600" b="1">
                <a:solidFill>
                  <a:schemeClr val="tx1"/>
                </a:solidFill>
                <a:cs typeface="微软雅黑" panose="020B0503020204020204" charset="-122"/>
                <a:sym typeface="微软雅黑" panose="020B0503020204020204" charset="-122"/>
              </a:rPr>
              <a:t>调节微生态，抑制细菌：</a:t>
            </a: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创造</a:t>
            </a:r>
            <a:r>
              <a:rPr lang="en-US" sz="1500" b="1">
                <a:solidFill>
                  <a:srgbClr val="22C55E"/>
                </a:solidFill>
                <a:cs typeface="微软雅黑" panose="020B0503020204020204" charset="-122"/>
                <a:sym typeface="微软雅黑" panose="020B0503020204020204" charset="-122"/>
              </a:rPr>
              <a:t>弱酸性环境</a:t>
            </a: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，有效抑制多种产臭细菌和霉菌的生长，</a:t>
            </a:r>
            <a:r>
              <a:rPr lang="en-US" sz="1500" b="1">
                <a:solidFill>
                  <a:srgbClr val="22C55E"/>
                </a:solidFill>
                <a:cs typeface="微软雅黑" panose="020B0503020204020204" charset="-122"/>
                <a:sym typeface="微软雅黑" panose="020B0503020204020204" charset="-122"/>
              </a:rPr>
              <a:t>从源头减少异味</a:t>
            </a: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的产生。</a:t>
            </a:r>
            <a:endParaRPr lang="en-US" sz="1500" i="0">
              <a:solidFill>
                <a:schemeClr val="tx1">
                  <a:lumMod val="75000"/>
                  <a:lumOff val="25000"/>
                </a:schemeClr>
              </a:solidFill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 algn="just" fontAlgn="auto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22C55E"/>
              </a:buClr>
              <a:buFont typeface="Wingdings" panose="05000000000000000000" charset="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1600" b="1">
                <a:solidFill>
                  <a:schemeClr val="tx1"/>
                </a:solidFill>
                <a:cs typeface="微软雅黑" panose="020B0503020204020204" charset="-122"/>
                <a:sym typeface="微软雅黑" panose="020B0503020204020204" charset="-122"/>
              </a:rPr>
              <a:t>协同增效，提升功效：</a:t>
            </a:r>
            <a:r>
              <a:rPr lang="zh-CN" altLang="en-US" sz="1500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通过弱酸中和碱性异味分子，将其转化为无臭、性质稳定的盐类，实现根源祛味，无二次污染。</a:t>
            </a:r>
            <a:endParaRPr lang="zh-CN" altLang="en-US" sz="1500">
              <a:solidFill>
                <a:schemeClr val="tx1">
                  <a:lumMod val="75000"/>
                  <a:lumOff val="25000"/>
                </a:schemeClr>
              </a:solidFill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化学中和：柠檬酸（</a:t>
            </a:r>
            <a:r>
              <a:rPr lang="en-US" altLang="zh-CN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C</a:t>
            </a:r>
            <a:r>
              <a:rPr lang="en-US" altLang="zh-CN" sz="2800" b="1" baseline="-25000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6</a:t>
            </a:r>
            <a:r>
              <a:rPr lang="en-US" altLang="zh-CN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H</a:t>
            </a:r>
            <a:r>
              <a:rPr lang="en-US" altLang="zh-CN" sz="2800" b="1" baseline="-25000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8</a:t>
            </a:r>
            <a:r>
              <a:rPr lang="en-US" altLang="zh-CN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O</a:t>
            </a:r>
            <a:r>
              <a:rPr lang="en-US" altLang="zh-CN" sz="2800" b="1" baseline="-25000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7</a:t>
            </a: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）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pic>
        <p:nvPicPr>
          <p:cNvPr id="20" name="图片 19" descr="小苏打粉加梅耶柠檬粉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778"/>
          <a:stretch>
            <a:fillRect/>
          </a:stretch>
        </p:blipFill>
        <p:spPr>
          <a:xfrm>
            <a:off x="6760845" y="1760220"/>
            <a:ext cx="4908550" cy="3562350"/>
          </a:xfrm>
          <a:prstGeom prst="roundRect">
            <a:avLst/>
          </a:prstGeom>
          <a:noFill/>
          <a:ln>
            <a:noFill/>
          </a:ln>
          <a:effectLst>
            <a:softEdge rad="31750"/>
          </a:effectLst>
        </p:spPr>
      </p:pic>
      <p:grpSp>
        <p:nvGrpSpPr>
          <p:cNvPr id="28" name="组合 27"/>
          <p:cNvGrpSpPr/>
          <p:nvPr/>
        </p:nvGrpSpPr>
        <p:grpSpPr>
          <a:xfrm>
            <a:off x="772160" y="1598295"/>
            <a:ext cx="5890260" cy="4080139"/>
            <a:chOff x="1020" y="2985"/>
            <a:chExt cx="9276" cy="6638"/>
          </a:xfrm>
        </p:grpSpPr>
        <p:grpSp>
          <p:nvGrpSpPr>
            <p:cNvPr id="40" name="组合 39"/>
            <p:cNvGrpSpPr/>
            <p:nvPr/>
          </p:nvGrpSpPr>
          <p:grpSpPr>
            <a:xfrm>
              <a:off x="1020" y="2985"/>
              <a:ext cx="9276" cy="6638"/>
              <a:chOff x="1200" y="2953"/>
              <a:chExt cx="9276" cy="6638"/>
            </a:xfrm>
          </p:grpSpPr>
          <p:sp>
            <p:nvSpPr>
              <p:cNvPr id="22" name="AutoShape 5"/>
              <p:cNvSpPr/>
              <p:nvPr>
                <p:custDataLst>
                  <p:tags r:id="rId3"/>
                </p:custDataLst>
              </p:nvPr>
            </p:nvSpPr>
            <p:spPr>
              <a:xfrm>
                <a:off x="1200" y="2953"/>
                <a:ext cx="9276" cy="6638"/>
              </a:xfrm>
              <a:prstGeom prst="roundRect">
                <a:avLst>
                  <a:gd name="adj" fmla="val 4000"/>
                </a:avLst>
              </a:prstGeom>
              <a:solidFill>
                <a:srgbClr val="FFFFFF">
                  <a:alpha val="100000"/>
                </a:srgbClr>
              </a:solidFill>
              <a:ln w="12700" cap="flat" cmpd="sng">
                <a:solidFill>
                  <a:srgbClr val="F3F4F6">
                    <a:alpha val="100000"/>
                  </a:srgbClr>
                </a:solidFill>
                <a:prstDash val="solid"/>
                <a:round/>
              </a:ln>
              <a:effectLst>
                <a:outerShdw blurRad="444500" dist="190500" dir="2700000" algn="tl" rotWithShape="0">
                  <a:srgbClr val="000000">
                    <a:alpha val="25000"/>
                  </a:srgbClr>
                </a:outerShdw>
              </a:effectLst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24" name="AutoShape 7"/>
              <p:cNvSpPr/>
              <p:nvPr>
                <p:custDataLst>
                  <p:tags r:id="rId4"/>
                </p:custDataLst>
              </p:nvPr>
            </p:nvSpPr>
            <p:spPr>
              <a:xfrm>
                <a:off x="2109" y="3221"/>
                <a:ext cx="6000" cy="1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zh-CN" altLang="en-US" sz="2400" b="1" i="0" u="none" strike="noStrike">
                    <a:solidFill>
                      <a:schemeClr val="tx1"/>
                    </a:solidFill>
                    <a:latin typeface="+mn-ea"/>
                    <a:cs typeface="Noto Sans SC" panose="020B0200000000000000" charset="-122"/>
                    <a:sym typeface="Noto Sans SC" panose="020B0200000000000000" charset="-122"/>
                  </a:rPr>
                  <a:t>柠檬酸</a:t>
                </a:r>
                <a:endParaRPr lang="zh-CN" altLang="en-US" sz="2400" b="1" i="0" u="none" strike="noStrike">
                  <a:solidFill>
                    <a:schemeClr val="tx1"/>
                  </a:solidFill>
                  <a:latin typeface="+mn-ea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1352" y="4343"/>
              <a:ext cx="8613" cy="46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 defTabSz="266700" fontAlgn="auto">
                <a:lnSpc>
                  <a:spcPct val="125000"/>
                </a:lnSpc>
                <a:spcBef>
                  <a:spcPts val="1000"/>
                </a:spcBef>
                <a:buFont typeface="Wingdings" panose="05000000000000000000" charset="0"/>
                <a:buChar char="u"/>
              </a:pPr>
              <a:r>
                <a:rPr lang="zh-CN" altLang="en-US" sz="1600" b="1" dirty="0">
                  <a:solidFill>
                    <a:schemeClr val="tx1"/>
                  </a:solidFill>
                  <a:uFillTx/>
                  <a:cs typeface="+mn-ea"/>
                </a:rPr>
                <a:t>中和碱性异味物质：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柠檬酸是一种</a:t>
              </a:r>
              <a:r>
                <a:rPr lang="en-US" altLang="zh-CN" sz="1400" b="1" dirty="0">
                  <a:solidFill>
                    <a:srgbClr val="22C55E"/>
                  </a:solidFill>
                  <a:uFillTx/>
                  <a:cs typeface="+mn-ea"/>
                </a:rPr>
                <a:t>‌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三元弱酸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‌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，相比一元/二元酸，它拥有更多可解离的氢离子，中和碱性异味的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能力更强</a:t>
              </a:r>
              <a:r>
                <a:rPr lang="zh-CN" altLang="en-US" sz="1400" dirty="0">
                  <a:solidFill>
                    <a:schemeClr val="tx1"/>
                  </a:solidFill>
                  <a:uFillTx/>
                  <a:cs typeface="+mn-ea"/>
                </a:rPr>
                <a:t>、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效率更高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；其水溶液呈酸性，可与人体排出的氨气、三甲胺这些碱性物质发生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中和反应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，生成无味或低气味的盐类，从而消除臭味。</a:t>
              </a:r>
              <a:endParaRPr lang="zh-CN" altLang="en-US" sz="1400" dirty="0">
                <a:solidFill>
                  <a:schemeClr val="tx1"/>
                </a:solidFill>
                <a:uFillTx/>
                <a:cs typeface="+mn-ea"/>
              </a:endParaRPr>
            </a:p>
            <a:p>
              <a:pPr marL="285750" indent="-285750" algn="just" defTabSz="266700" fontAlgn="auto">
                <a:lnSpc>
                  <a:spcPct val="125000"/>
                </a:lnSpc>
                <a:spcBef>
                  <a:spcPts val="1000"/>
                </a:spcBef>
                <a:buFont typeface="Wingdings" panose="05000000000000000000" charset="0"/>
                <a:buChar char="u"/>
              </a:pPr>
              <a:r>
                <a:rPr lang="en-US" altLang="zh-CN" sz="1600" dirty="0">
                  <a:solidFill>
                    <a:schemeClr val="tx1"/>
                  </a:solidFill>
                  <a:uFillTx/>
                  <a:cs typeface="+mn-ea"/>
                </a:rPr>
                <a:t>‌</a:t>
              </a:r>
              <a:r>
                <a:rPr lang="zh-CN" altLang="en-US" sz="1600" b="1" dirty="0">
                  <a:solidFill>
                    <a:schemeClr val="tx1"/>
                  </a:solidFill>
                  <a:uFillTx/>
                  <a:cs typeface="+mn-ea"/>
                </a:rPr>
                <a:t>分解或转化挥发性有机物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cs typeface="+mn-ea"/>
                </a:rPr>
                <a:t>‌</a:t>
              </a:r>
              <a:r>
                <a:rPr lang="zh-CN" altLang="en-US" sz="1600" b="1" dirty="0">
                  <a:solidFill>
                    <a:schemeClr val="tx1"/>
                  </a:solidFill>
                  <a:uFillTx/>
                  <a:cs typeface="+mn-ea"/>
                </a:rPr>
                <a:t>：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部分异味分子（如某些硫化物、醛类）在酸性环境下结构不稳定，柠檬酸可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促进其分解或转化为非挥发性、无臭物质</a:t>
              </a:r>
              <a:r>
                <a:rPr lang="en-US" altLang="zh-C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‌‌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。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n-ea"/>
              </a:endParaRPr>
            </a:p>
            <a:p>
              <a:pPr marL="285750" indent="-285750" algn="just" defTabSz="266700" fontAlgn="auto">
                <a:lnSpc>
                  <a:spcPct val="125000"/>
                </a:lnSpc>
                <a:spcBef>
                  <a:spcPts val="1000"/>
                </a:spcBef>
                <a:buFont typeface="Wingdings" panose="05000000000000000000" charset="0"/>
                <a:buChar char="u"/>
              </a:pPr>
              <a:r>
                <a:rPr lang="zh-CN" altLang="en-US" sz="1600" b="1" dirty="0">
                  <a:solidFill>
                    <a:schemeClr val="tx1"/>
                  </a:solidFill>
                  <a:uFillTx/>
                  <a:cs typeface="+mn-ea"/>
                </a:rPr>
                <a:t>抑制细菌生长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cs typeface="+mn-ea"/>
                </a:rPr>
                <a:t>‌</a:t>
              </a:r>
              <a:r>
                <a:rPr lang="zh-CN" altLang="en-US" sz="1400" b="1" dirty="0">
                  <a:solidFill>
                    <a:schemeClr val="tx1"/>
                  </a:solidFill>
                  <a:uFillTx/>
                  <a:cs typeface="+mn-ea"/>
                </a:rPr>
                <a:t>：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酸性环境（</a:t>
              </a:r>
              <a:r>
                <a:rPr lang="en-US" altLang="zh-CN" sz="1400" b="1" dirty="0">
                  <a:solidFill>
                    <a:srgbClr val="22C55E"/>
                  </a:solidFill>
                  <a:uFillTx/>
                  <a:cs typeface="+mn-ea"/>
                </a:rPr>
                <a:t>pH </a:t>
              </a:r>
              <a:r>
                <a:rPr lang="zh-CN" altLang="en-US" sz="1400" b="1" dirty="0">
                  <a:solidFill>
                    <a:srgbClr val="22C55E"/>
                  </a:solidFill>
                  <a:uFillTx/>
                  <a:cs typeface="+mn-ea"/>
                </a:rPr>
                <a:t>降低）可抑制部分产臭细菌的繁殖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cs typeface="+mn-ea"/>
                </a:rPr>
                <a:t>，间接减少异味产生。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+mn-ea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抑菌控源：</a:t>
            </a:r>
            <a:r>
              <a:rPr 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LAE</a:t>
            </a: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抑菌剂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90220" y="1470660"/>
            <a:ext cx="7098030" cy="4218940"/>
            <a:chOff x="1020" y="2185"/>
            <a:chExt cx="11178" cy="6644"/>
          </a:xfrm>
        </p:grpSpPr>
        <p:sp>
          <p:nvSpPr>
            <p:cNvPr id="6" name="AutoShape 5"/>
            <p:cNvSpPr/>
            <p:nvPr>
              <p:custDataLst>
                <p:tags r:id="rId1"/>
              </p:custDataLst>
            </p:nvPr>
          </p:nvSpPr>
          <p:spPr>
            <a:xfrm>
              <a:off x="1020" y="2185"/>
              <a:ext cx="11178" cy="6644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F3F4F6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" name="AutoShape 2"/>
            <p:cNvSpPr/>
            <p:nvPr/>
          </p:nvSpPr>
          <p:spPr>
            <a:xfrm>
              <a:off x="1507" y="2463"/>
              <a:ext cx="7600" cy="174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88900" tIns="50800" rIns="88900" bIns="50800" rtlCol="0" anchor="t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800" b="1" i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宋体简体" charset="0"/>
                  <a:cs typeface="Times New Roman" panose="02020603050405020304"/>
                  <a:sym typeface="Times New Roman" panose="02020603050405020304"/>
                </a:rPr>
                <a:t>LAE</a:t>
              </a:r>
              <a:r>
                <a:rPr lang="en-US" sz="1600" b="0" i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（月桂酰精氨酸乙酯盐酸盐）</a:t>
              </a:r>
              <a:endParaRPr 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endParaRPr>
            </a:p>
            <a:p>
              <a:pPr indent="0" algn="l">
                <a:lnSpc>
                  <a:spcPct val="125000"/>
                </a:lnSpc>
              </a:pPr>
              <a:r>
                <a:rPr lang="en-US" sz="2000" b="1" i="0">
                  <a:solidFill>
                    <a:schemeClr val="tx1"/>
                  </a:solidFill>
                  <a:uFillTx/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什么是 LAE？</a:t>
              </a:r>
              <a:endParaRPr lang="en-US" sz="2000" b="1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  <a:cs typeface="Songti SC"/>
                <a:sym typeface="Songti SC"/>
              </a:endParaRPr>
            </a:p>
          </p:txBody>
        </p:sp>
        <p:sp>
          <p:nvSpPr>
            <p:cNvPr id="5" name="AutoShape 4"/>
            <p:cNvSpPr/>
            <p:nvPr/>
          </p:nvSpPr>
          <p:spPr>
            <a:xfrm>
              <a:off x="1348" y="4158"/>
              <a:ext cx="10849" cy="456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88900" tIns="127000" rIns="88900" bIns="127000" rtlCol="0" anchor="t" anchorCtr="0"/>
            <a:lstStyle/>
            <a:p>
              <a:pPr marL="285750" indent="-285750" algn="just" eaLnBrk="1" fontAlgn="auto" latinLnBrk="0" hangingPunct="1">
                <a:lnSpc>
                  <a:spcPct val="150000"/>
                </a:lnSpc>
                <a:buClr>
                  <a:srgbClr val="000000"/>
                </a:buClr>
                <a:buFont typeface="Wingdings" panose="05000000000000000000" charset="0"/>
                <a:buChar char="u"/>
                <a:defRPr/>
              </a:pPr>
              <a:r>
                <a:rPr lang="en-US" sz="1400" b="1" i="0">
                  <a:solidFill>
                    <a:schemeClr val="tx1"/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化学名称：</a:t>
              </a:r>
              <a:r>
                <a:rPr lang="en-US" sz="1400" b="1" i="0">
                  <a:solidFill>
                    <a:srgbClr val="22C55E"/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月桂酰精氨酸乙酯盐酸盐 </a:t>
              </a:r>
              <a:r>
                <a:rPr lang="en-US" sz="1400" b="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(Lauroyl arginate ethyl ester HCl)</a:t>
              </a:r>
              <a:endParaRPr lang="en-US"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endParaRPr>
            </a:p>
            <a:p>
              <a:pPr marL="285750" indent="-285750" algn="just" eaLnBrk="1" fontAlgn="auto" latinLnBrk="0" hangingPunct="1">
                <a:lnSpc>
                  <a:spcPct val="150000"/>
                </a:lnSpc>
                <a:buClr>
                  <a:srgbClr val="000000"/>
                </a:buClr>
                <a:buFont typeface="Wingdings" panose="05000000000000000000" charset="0"/>
                <a:buChar char="u"/>
                <a:defRPr/>
              </a:pPr>
              <a:r>
                <a:rPr lang="en-US" sz="1400" b="1" i="0">
                  <a:solidFill>
                    <a:schemeClr val="tx1"/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INCI 名称：</a:t>
              </a:r>
              <a:r>
                <a:rPr lang="en-US" sz="1400" b="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Ethyl Lauroyl Arginate HCl</a:t>
              </a:r>
              <a:endParaRPr lang="en-US"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endParaRPr>
            </a:p>
            <a:p>
              <a:pPr marL="285750" indent="-285750" algn="just" eaLnBrk="1" fontAlgn="auto" latinLnBrk="0" hangingPunct="1">
                <a:lnSpc>
                  <a:spcPct val="150000"/>
                </a:lnSpc>
                <a:buClr>
                  <a:srgbClr val="000000"/>
                </a:buClr>
                <a:buFont typeface="Wingdings" panose="05000000000000000000" charset="0"/>
                <a:buChar char="u"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panose="02020603050405020304" charset="0"/>
                  <a:ea typeface="宋体简体" charset="0"/>
                  <a:cs typeface="Songti SC"/>
                  <a:sym typeface="+mn-ea"/>
                </a:rPr>
                <a:t>外观：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白色粉末，易溶于水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/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乙醇，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pH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稳定范围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3–7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sym typeface="+mn-ea"/>
              </a:endParaRPr>
            </a:p>
            <a:p>
              <a:pPr marL="285750" indent="-285750" algn="just" eaLnBrk="1" fontAlgn="auto" latinLnBrk="0" hangingPunct="1">
                <a:lnSpc>
                  <a:spcPct val="150000"/>
                </a:lnSpc>
                <a:buClr>
                  <a:srgbClr val="000000"/>
                </a:buClr>
                <a:buFont typeface="Wingdings" panose="05000000000000000000" charset="0"/>
                <a:buChar char="u"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panose="02020603050405020304" charset="0"/>
                  <a:ea typeface="宋体简体" charset="0"/>
                  <a:cs typeface="Songti SC"/>
                  <a:sym typeface="+mn-ea"/>
                </a:rPr>
                <a:t>核心属性：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阳离子表面活性剂、广谱防腐剂，由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L-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sym typeface="+mn-ea"/>
                </a:rPr>
                <a:t>精氨酸、月桂酸、乙醇合成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sym typeface="+mn-ea"/>
              </a:endParaRPr>
            </a:p>
            <a:p>
              <a:pPr marL="285750" indent="-285750" algn="just" eaLnBrk="1" fontAlgn="auto" latinLnBrk="0" hangingPunct="1">
                <a:lnSpc>
                  <a:spcPct val="150000"/>
                </a:lnSpc>
                <a:buClr>
                  <a:srgbClr val="000000"/>
                </a:buClr>
                <a:buFont typeface="Wingdings" panose="05000000000000000000" charset="0"/>
                <a:buChar char="u"/>
                <a:defRPr/>
              </a:pPr>
              <a:r>
                <a:rPr lang="en-US" sz="1400" b="1" i="0">
                  <a:solidFill>
                    <a:schemeClr val="tx1"/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来源与结构：</a:t>
              </a:r>
              <a:endParaRPr lang="en-US" sz="1400" b="1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endParaRPr>
            </a:p>
            <a:p>
              <a:pPr marL="0" indent="0" algn="just" eaLnBrk="1" fontAlgn="auto" latinLnBrk="0" hangingPunct="1">
                <a:lnSpc>
                  <a:spcPct val="150000"/>
                </a:lnSpc>
              </a:pPr>
              <a:r>
                <a:rPr lang="en-US" sz="1400" b="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      由天然来源的</a:t>
              </a:r>
              <a:r>
                <a:rPr lang="en-US" sz="1400" b="1" i="0">
                  <a:solidFill>
                    <a:schemeClr val="tx1"/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L-精氨酸</a:t>
              </a:r>
              <a:r>
                <a:rPr lang="en-US" sz="1400" b="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（氨基酸）和</a:t>
              </a:r>
              <a:r>
                <a:rPr lang="en-US" sz="1400" b="1" i="0">
                  <a:solidFill>
                    <a:schemeClr val="tx1"/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月桂酸</a:t>
              </a:r>
              <a:r>
                <a:rPr lang="en-US" sz="1400" b="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charset="0"/>
                  <a:ea typeface="宋体简体" charset="0"/>
                  <a:cs typeface="Songti SC"/>
                  <a:sym typeface="Songti SC"/>
                </a:rPr>
                <a:t>（天然脂肪酸）合成的阳离子表面活性剂。其独特的分子结构赋予了它卓越的抑菌性能和良好的生物相容性，在各类产品中都能发挥高效、温和的作用</a:t>
              </a:r>
              <a:endParaRPr lang="en-US"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781290" y="1860233"/>
            <a:ext cx="3920490" cy="3439795"/>
            <a:chOff x="12509" y="2877"/>
            <a:chExt cx="6174" cy="541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rcRect t="12" b="12"/>
            <a:stretch>
              <a:fillRect/>
            </a:stretch>
          </p:blipFill>
          <p:spPr>
            <a:xfrm>
              <a:off x="12509" y="5960"/>
              <a:ext cx="6173" cy="2335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  <p:pic>
          <p:nvPicPr>
            <p:cNvPr id="10" name="图片 9" descr="ea966e9e4cd421dbf8c01294015ca6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09" y="2877"/>
              <a:ext cx="6174" cy="2441"/>
            </a:xfrm>
            <a:prstGeom prst="rect">
              <a:avLst/>
            </a:prstGeom>
          </p:spPr>
        </p:pic>
      </p:grp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AutoShape 8"/>
          <p:cNvSpPr/>
          <p:nvPr>
            <p:custDataLst>
              <p:tags r:id="rId1"/>
            </p:custDataLst>
          </p:nvPr>
        </p:nvSpPr>
        <p:spPr>
          <a:xfrm>
            <a:off x="6276975" y="4127500"/>
            <a:ext cx="5400000" cy="187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0" name="AutoShape 8"/>
          <p:cNvSpPr/>
          <p:nvPr>
            <p:custDataLst>
              <p:tags r:id="rId2"/>
            </p:custDataLst>
          </p:nvPr>
        </p:nvSpPr>
        <p:spPr>
          <a:xfrm>
            <a:off x="6276975" y="2044065"/>
            <a:ext cx="5400000" cy="187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" name="AutoShape 8"/>
          <p:cNvSpPr/>
          <p:nvPr>
            <p:custDataLst>
              <p:tags r:id="rId3"/>
            </p:custDataLst>
          </p:nvPr>
        </p:nvSpPr>
        <p:spPr>
          <a:xfrm>
            <a:off x="514985" y="4129405"/>
            <a:ext cx="5400000" cy="187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" name="AutoShape 8"/>
          <p:cNvSpPr/>
          <p:nvPr>
            <p:custDataLst>
              <p:tags r:id="rId4"/>
            </p:custDataLst>
          </p:nvPr>
        </p:nvSpPr>
        <p:spPr>
          <a:xfrm>
            <a:off x="514985" y="2044065"/>
            <a:ext cx="5400000" cy="187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抑菌控源：</a:t>
            </a:r>
            <a:r>
              <a:rPr 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LAE</a:t>
            </a: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抑菌剂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sp>
        <p:nvSpPr>
          <p:cNvPr id="6" name="AutoShape 2"/>
          <p:cNvSpPr/>
          <p:nvPr/>
        </p:nvSpPr>
        <p:spPr>
          <a:xfrm>
            <a:off x="596900" y="1085215"/>
            <a:ext cx="6350000" cy="748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>
                <a:solidFill>
                  <a:srgbClr val="22C55E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LAE 抑菌机理：</a:t>
            </a:r>
            <a:r>
              <a:rPr lang="en-US" sz="2000" b="0" i="0">
                <a:solidFill>
                  <a:srgbClr val="1F2329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精准靶向，高效瓦解</a:t>
            </a:r>
            <a:endParaRPr lang="en-US" sz="2000" b="0" i="0">
              <a:solidFill>
                <a:srgbClr val="1F2329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5"/>
          <p:cNvSpPr/>
          <p:nvPr>
            <p:custDataLst>
              <p:tags r:id="rId5"/>
            </p:custDataLst>
          </p:nvPr>
        </p:nvSpPr>
        <p:spPr>
          <a:xfrm>
            <a:off x="812165" y="2046605"/>
            <a:ext cx="4805680" cy="1869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rgbClr val="2563EB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01 / 静电吸附与靶向结合</a:t>
            </a:r>
            <a:endParaRPr lang="en-US" b="1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LAE分子带有正电荷的亲水头部，能被带负电荷的细菌细胞膜通过静电引力强烈吸附。这种“阳离子-阴离子”的精准结合，是其发挥抑菌作用的关键第一步</a:t>
            </a:r>
            <a:r>
              <a:rPr lang="zh-CN" altLang="en-US" sz="1400" b="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b="0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34352" r="34352"/>
          <a:stretch>
            <a:fillRect/>
          </a:stretch>
        </p:blipFill>
        <p:spPr>
          <a:xfrm>
            <a:off x="6538595" y="2170430"/>
            <a:ext cx="1388745" cy="1619885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8127365" y="2047240"/>
            <a:ext cx="3322955" cy="1868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rgbClr val="D97706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02 / 插入膜结构，破坏完整性</a:t>
            </a:r>
            <a:endParaRPr lang="en-US" b="1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结合后，LAE分子的疏水长链会像“楔子”一样强行插入细菌细胞膜的脂质双层内部，破坏膜的有序排列结构，使其流动性和稳定性迅速丧失</a:t>
            </a:r>
            <a:r>
              <a:rPr lang="zh-CN" altLang="en-US" sz="1400" b="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b="0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27891" r="27891"/>
          <a:stretch>
            <a:fillRect/>
          </a:stretch>
        </p:blipFill>
        <p:spPr>
          <a:xfrm>
            <a:off x="779145" y="4255770"/>
            <a:ext cx="1388745" cy="1619885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13" name="AutoShape 11"/>
          <p:cNvSpPr/>
          <p:nvPr>
            <p:custDataLst>
              <p:tags r:id="rId11"/>
            </p:custDataLst>
          </p:nvPr>
        </p:nvSpPr>
        <p:spPr>
          <a:xfrm>
            <a:off x="2345690" y="4129405"/>
            <a:ext cx="3343275" cy="1873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rgbClr val="DC2626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03 / 膜通透性剧增，内容物外泄</a:t>
            </a:r>
            <a:endParaRPr lang="en-US" b="1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细胞膜结构的物理性破坏导致其选择透过性急剧下降，细胞内的钾离子、蛋白质、核酸等重要生命物质会不受控制地大量泄漏，无法维持生理稳态</a:t>
            </a:r>
            <a:r>
              <a:rPr lang="zh-CN" altLang="en-US" sz="1400" b="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b="0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>
            <p:custDataLst>
              <p:tags r:id="rId12"/>
            </p:custDataLst>
          </p:nvPr>
        </p:nvSpPr>
        <p:spPr>
          <a:xfrm>
            <a:off x="6548755" y="4130040"/>
            <a:ext cx="4806950" cy="18726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rgbClr val="059669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04 / 代谢终止，细胞死亡</a:t>
            </a:r>
            <a:endParaRPr lang="en-US" b="1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随着关键物质流失和细胞膜彻底崩溃，细菌的能量代谢、物质合成等核心生命活动完全停滞，最终导致细菌无法存活，在短时间内快速死亡</a:t>
            </a:r>
            <a:r>
              <a:rPr lang="zh-CN" altLang="en-US" sz="1400" b="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b="0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8"/>
          <p:cNvSpPr/>
          <p:nvPr>
            <p:custDataLst>
              <p:tags r:id="rId1"/>
            </p:custDataLst>
          </p:nvPr>
        </p:nvSpPr>
        <p:spPr>
          <a:xfrm>
            <a:off x="514985" y="1343025"/>
            <a:ext cx="3564255" cy="2700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7" name="AutoShape 8"/>
          <p:cNvSpPr/>
          <p:nvPr>
            <p:custDataLst>
              <p:tags r:id="rId2"/>
            </p:custDataLst>
          </p:nvPr>
        </p:nvSpPr>
        <p:spPr>
          <a:xfrm>
            <a:off x="4359275" y="1343025"/>
            <a:ext cx="3564255" cy="2700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9" name="AutoShape 8"/>
          <p:cNvSpPr/>
          <p:nvPr>
            <p:custDataLst>
              <p:tags r:id="rId3"/>
            </p:custDataLst>
          </p:nvPr>
        </p:nvSpPr>
        <p:spPr>
          <a:xfrm>
            <a:off x="8202930" y="1343025"/>
            <a:ext cx="3564255" cy="2700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抑菌控源：</a:t>
            </a:r>
            <a:r>
              <a:rPr lang="zh-CN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壳聚糖</a:t>
            </a:r>
            <a:endParaRPr lang="zh-CN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7945" y="1533425"/>
            <a:ext cx="432000" cy="432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7"/>
            </p:custDataLst>
          </p:nvPr>
        </p:nvSpPr>
        <p:spPr>
          <a:xfrm>
            <a:off x="1027113" y="1495425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天然来源</a:t>
            </a:r>
            <a:endParaRPr lang="en-US" sz="1800" b="1" i="0">
              <a:solidFill>
                <a:schemeClr val="tx1"/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709613" y="2032635"/>
            <a:ext cx="3175000" cy="174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源自自然界第二丰富的多糖——甲壳素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，广泛存在于虾蟹外壳、真菌细胞壁等生物质中，经脱乙酰化反应制得。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uFillTx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作为</a:t>
            </a:r>
            <a:r>
              <a:rPr lang="en-US" sz="1400" b="1" i="0">
                <a:solidFill>
                  <a:srgbClr val="22C55E"/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天然可再生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>
                <a:solidFill>
                  <a:srgbClr val="22C55E"/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可降解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的绿色资源，它不仅环保，更成功实现了水产加工废料的高值化循环利用，变废为宝。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uFillTx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35880" y="1533425"/>
            <a:ext cx="432000" cy="432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4871403" y="1495425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800" b="1" i="0">
              <a:solidFill>
                <a:schemeClr val="tx1"/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4553903" y="2032635"/>
            <a:ext cx="3175000" cy="1736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sz="1400" b="1" i="0">
                <a:solidFill>
                  <a:srgbClr val="22C55E"/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天然安全：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无毒无刺激、无残留且可生物降解，从源头避免化学试剂带来的潜在风险，使用更安心。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uFillTx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1" i="0">
                <a:solidFill>
                  <a:srgbClr val="22C55E"/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全能表现：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抑菌率高达99%，媲美传统抗菌剂；分子结构亲和人体组织，兼具抑菌与微生态调节的双重功效。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uFillTx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82075" y="1533425"/>
            <a:ext cx="432000" cy="4320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715058" y="1495425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抑菌原理</a:t>
            </a:r>
            <a:endParaRPr lang="en-US" sz="1800" b="1" i="0">
              <a:solidFill>
                <a:schemeClr val="tx1"/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8397558" y="2032635"/>
            <a:ext cx="3175000" cy="19532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sz="1400" b="1" i="0">
                <a:solidFill>
                  <a:srgbClr val="22C55E"/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电荷吸附作用：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壳聚糖分子链上带有正电荷的氨基（-NH₃⁺），能精准识别并吸附细菌细胞膜表面带负电的磷脂成分。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uFillTx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1" i="0">
                <a:solidFill>
                  <a:srgbClr val="22C55E"/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物理结构破坏：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cs typeface="Noto Sans SC" panose="020B0200000000000000" charset="-122"/>
                <a:sym typeface="Noto Sans SC" panose="020B0200000000000000" charset="-122"/>
              </a:rPr>
              <a:t>通过静电结合破坏细胞膜的完整性，导致胞内物质外漏、呼吸受阻，最终实现高效、物理性的抑菌杀菌。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uFillTx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9"/>
          <a:srcRect/>
          <a:stretch>
            <a:fillRect/>
          </a:stretch>
        </p:blipFill>
        <p:spPr>
          <a:xfrm>
            <a:off x="515620" y="4226560"/>
            <a:ext cx="3562985" cy="1794510"/>
          </a:xfrm>
          <a:prstGeom prst="rect">
            <a:avLst/>
          </a:prstGeom>
          <a:ln>
            <a:solidFill>
              <a:srgbClr val="22C55E"/>
            </a:solidFill>
          </a:ln>
        </p:spPr>
      </p:pic>
      <p:pic>
        <p:nvPicPr>
          <p:cNvPr id="14" name="Picture 5"/>
          <p:cNvPicPr>
            <a:picLocks noChangeAspect="1"/>
          </p:cNvPicPr>
          <p:nvPr/>
        </p:nvPicPr>
        <p:blipFill>
          <a:blip r:embed="rId20"/>
          <a:srcRect l="394" r="394"/>
          <a:stretch>
            <a:fillRect/>
          </a:stretch>
        </p:blipFill>
        <p:spPr>
          <a:xfrm>
            <a:off x="4359275" y="4226560"/>
            <a:ext cx="7407910" cy="179451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  <p:custDataLst>
      <p:tags r:id="rId2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7"/>
          <p:cNvSpPr/>
          <p:nvPr/>
        </p:nvSpPr>
        <p:spPr>
          <a:xfrm>
            <a:off x="1081088" y="1179830"/>
            <a:ext cx="10029825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>
              <a:lnSpc>
                <a:spcPct val="108000"/>
              </a:lnSpc>
              <a:defRPr/>
            </a:pPr>
            <a:r>
              <a:rPr lang="zh-CN" altLang="en-US" sz="15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依托优质核心原料，可依据各类应用需求自由调配组合，适配多款产品形态，精准打造全维度定制化配套方案。</a:t>
            </a:r>
            <a:endParaRPr lang="zh-CN" altLang="en-US" sz="15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48000" y="36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800" b="1">
                <a:uFillTx/>
                <a:latin typeface="+mj-ea"/>
                <a:ea typeface="+mj-ea"/>
                <a:cs typeface="+mj-ea"/>
                <a:sym typeface="Noto Sans SC" panose="020B0200000000000000" charset="-122"/>
              </a:rPr>
              <a:t>多元化产品形态：满足全场景需求</a:t>
            </a:r>
            <a:endParaRPr lang="zh-CN" altLang="en-US" sz="2800" b="1">
              <a:uFillTx/>
              <a:latin typeface="+mj-ea"/>
              <a:ea typeface="+mj-ea"/>
              <a:cs typeface="+mj-ea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"/>
            </p:custDataLst>
          </p:nvPr>
        </p:nvSpPr>
        <p:spPr>
          <a:xfrm>
            <a:off x="9058275" y="2153920"/>
            <a:ext cx="2484120" cy="3672205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2"/>
            </p:custDataLst>
          </p:nvPr>
        </p:nvSpPr>
        <p:spPr>
          <a:xfrm>
            <a:off x="9220275" y="2378075"/>
            <a:ext cx="2160000" cy="72009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3"/>
            </p:custDataLst>
          </p:nvPr>
        </p:nvSpPr>
        <p:spPr>
          <a:xfrm>
            <a:off x="8839775" y="2471103"/>
            <a:ext cx="2921000" cy="534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>
              <a:lnSpc>
                <a:spcPct val="125000"/>
              </a:lnSpc>
              <a:defRPr/>
            </a:pPr>
            <a:r>
              <a:rPr lang="en-US" sz="2000" b="1" i="0">
                <a:solidFill>
                  <a:srgbClr val="F97316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祛味无纺布</a:t>
            </a:r>
            <a:endParaRPr lang="en-US" sz="2000" b="1" i="0">
              <a:solidFill>
                <a:srgbClr val="F97316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Picture 15" descr="E:\声电资料\timg (1).jpg"/>
          <p:cNvPicPr>
            <a:picLocks noChangeArrowheads="1"/>
          </p:cNvPicPr>
          <p:nvPr>
            <p:custDataLst>
              <p:tags r:id="rId4"/>
            </p:custDataLst>
          </p:nvPr>
        </p:nvPicPr>
        <p:blipFill>
          <a:blip r:embed="rId5">
            <a:lum bright="10000"/>
          </a:blip>
          <a:srcRect t="3204" r="2501" b="7085"/>
          <a:stretch>
            <a:fillRect/>
          </a:stretch>
        </p:blipFill>
        <p:spPr bwMode="auto">
          <a:xfrm>
            <a:off x="9310275" y="3314700"/>
            <a:ext cx="1980000" cy="129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9233792" y="4792980"/>
            <a:ext cx="2132965" cy="71056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12000"/>
              </a:lnSpc>
            </a:pPr>
            <a:r>
              <a:rPr lang="zh-CN" altLang="en-US" sz="12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将祛味成分通过特殊工艺负载于无纺布中，功能与基材一体化，无需额外添加。</a:t>
            </a:r>
            <a:endParaRPr lang="zh-CN" altLang="en-US" sz="12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649605" y="2153920"/>
            <a:ext cx="2484120" cy="3672205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811605" y="2378075"/>
            <a:ext cx="2160000" cy="72009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31105" y="2471103"/>
            <a:ext cx="2921000" cy="534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>
              <a:lnSpc>
                <a:spcPct val="125000"/>
              </a:lnSpc>
              <a:defRPr/>
            </a:pPr>
            <a:r>
              <a:rPr lang="en-US" sz="2000" b="1" i="0">
                <a:solidFill>
                  <a:srgbClr val="10B98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祛味粉</a:t>
            </a:r>
            <a:endParaRPr lang="en-US" sz="2000" b="1" i="0">
              <a:solidFill>
                <a:srgbClr val="10B98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Picture 13" descr="E:\声电资料\写资料需要的照片\timg.jpg"/>
          <p:cNvPicPr>
            <a:picLocks noChangeArrowheads="1"/>
          </p:cNvPicPr>
          <p:nvPr>
            <p:custDataLst>
              <p:tags r:id="rId10"/>
            </p:custDataLst>
          </p:nvPr>
        </p:nvPicPr>
        <p:blipFill>
          <a:blip r:embed="rId11">
            <a:lum bright="10000"/>
          </a:blip>
          <a:srcRect t="13855" r="2840" b="19642"/>
          <a:stretch>
            <a:fillRect/>
          </a:stretch>
        </p:blipFill>
        <p:spPr bwMode="auto">
          <a:xfrm>
            <a:off x="901605" y="3314700"/>
            <a:ext cx="1980000" cy="129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822582" y="4792980"/>
            <a:ext cx="2138045" cy="71056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12000"/>
              </a:lnSpc>
            </a:pPr>
            <a:r>
              <a:rPr lang="zh-CN" altLang="en-US" sz="12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高纯度粉体形态，可直接添加于高分子材料中，长效锁味，适配多种工艺场景。</a:t>
            </a:r>
            <a:endParaRPr lang="zh-CN" altLang="en-US" sz="12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3452495" y="2153920"/>
            <a:ext cx="2484120" cy="3672205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3614495" y="2378075"/>
            <a:ext cx="2160000" cy="72009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3233995" y="2471103"/>
            <a:ext cx="2921000" cy="534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>
              <a:lnSpc>
                <a:spcPct val="125000"/>
              </a:lnSpc>
              <a:defRPr/>
            </a:pPr>
            <a:r>
              <a:rPr lang="en-US" sz="2000" b="1" i="0">
                <a:solidFill>
                  <a:srgbClr val="3B82F6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祛味溶液</a:t>
            </a:r>
            <a:endParaRPr lang="en-US" sz="2000" b="1" i="0">
              <a:solidFill>
                <a:srgbClr val="3B82F6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图片 25" descr="化学实验室试管"/>
          <p:cNvPicPr/>
          <p:nvPr>
            <p:custDataLst>
              <p:tags r:id="rId16"/>
            </p:custDataLst>
          </p:nvPr>
        </p:nvPicPr>
        <p:blipFill>
          <a:blip r:embed="rId17">
            <a:lum bright="10000"/>
          </a:blip>
          <a:stretch>
            <a:fillRect/>
          </a:stretch>
        </p:blipFill>
        <p:spPr bwMode="auto">
          <a:xfrm>
            <a:off x="3704495" y="3314700"/>
            <a:ext cx="1980000" cy="129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0" name="文本框 29"/>
          <p:cNvSpPr txBox="1"/>
          <p:nvPr>
            <p:custDataLst>
              <p:tags r:id="rId18"/>
            </p:custDataLst>
          </p:nvPr>
        </p:nvSpPr>
        <p:spPr>
          <a:xfrm>
            <a:off x="3623567" y="4792980"/>
            <a:ext cx="2141855" cy="71056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12000"/>
              </a:lnSpc>
            </a:pPr>
            <a:r>
              <a:rPr lang="zh-CN" altLang="en-US" sz="12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液态配方，可直接喷涂、浸渍使用，均匀成膜，快速发挥祛味抑菌功效。</a:t>
            </a:r>
            <a:endParaRPr lang="zh-CN" altLang="en-US" sz="12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8"/>
          <p:cNvSpPr/>
          <p:nvPr>
            <p:custDataLst>
              <p:tags r:id="rId19"/>
            </p:custDataLst>
          </p:nvPr>
        </p:nvSpPr>
        <p:spPr>
          <a:xfrm>
            <a:off x="6255385" y="2153920"/>
            <a:ext cx="2484120" cy="3672205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3" name="AutoShape 9"/>
          <p:cNvSpPr/>
          <p:nvPr>
            <p:custDataLst>
              <p:tags r:id="rId20"/>
            </p:custDataLst>
          </p:nvPr>
        </p:nvSpPr>
        <p:spPr>
          <a:xfrm>
            <a:off x="6417385" y="2378075"/>
            <a:ext cx="2160000" cy="720090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4" name="AutoShape 10"/>
          <p:cNvSpPr/>
          <p:nvPr>
            <p:custDataLst>
              <p:tags r:id="rId21"/>
            </p:custDataLst>
          </p:nvPr>
        </p:nvSpPr>
        <p:spPr>
          <a:xfrm>
            <a:off x="6036885" y="2471103"/>
            <a:ext cx="2921000" cy="534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>
              <a:lnSpc>
                <a:spcPct val="125000"/>
              </a:lnSpc>
              <a:defRPr/>
            </a:pPr>
            <a:r>
              <a:rPr lang="en-US" sz="2000" b="1" i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祛味</a:t>
            </a:r>
            <a:r>
              <a:rPr lang="zh-CN" altLang="en-US" sz="2000" b="1" i="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功能芯片</a:t>
            </a:r>
            <a:endParaRPr lang="zh-CN" altLang="en-US" sz="2000" b="1" i="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6428362" y="4792980"/>
            <a:ext cx="2138045" cy="916940"/>
          </a:xfrm>
          <a:prstGeom prst="rect">
            <a:avLst/>
          </a:prstGeom>
        </p:spPr>
        <p:txBody>
          <a:bodyPr wrap="square">
            <a:spAutoFit/>
          </a:bodyPr>
          <a:p>
            <a:pPr algn="just" fontAlgn="auto">
              <a:lnSpc>
                <a:spcPct val="112000"/>
              </a:lnSpc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微胶囊缓释技术，祛味成分稳定负载，直接嵌入产品即可长效释放功效，适配多种工艺场景。</a:t>
            </a:r>
            <a:endParaRPr lang="zh-CN" altLang="en-US" sz="12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图片 33"/>
          <p:cNvPicPr/>
          <p:nvPr>
            <p:custDataLst>
              <p:tags r:id="rId23"/>
            </p:custDataLst>
          </p:nvPr>
        </p:nvPicPr>
        <p:blipFill>
          <a:blip r:embed="rId24">
            <a:lum bright="10000"/>
          </a:blip>
          <a:srcRect b="12004"/>
          <a:stretch>
            <a:fillRect/>
          </a:stretch>
        </p:blipFill>
        <p:spPr bwMode="auto">
          <a:xfrm>
            <a:off x="6507480" y="3317875"/>
            <a:ext cx="1979930" cy="129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custDataLst>
      <p:tags r:id="rId2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b66069e0e33076a62b98f72865e2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AutoShape 2"/>
          <p:cNvSpPr/>
          <p:nvPr/>
        </p:nvSpPr>
        <p:spPr>
          <a:xfrm>
            <a:off x="-635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179763" y="911860"/>
            <a:ext cx="583247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dist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华文宋体" panose="02010600040101010101" charset="-122"/>
                <a:ea typeface="华文宋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感谢</a:t>
            </a:r>
            <a:r>
              <a:rPr lang="zh-CN" altLang="en-US" sz="6000" b="1" i="0" u="none" strike="noStrike">
                <a:solidFill>
                  <a:srgbClr val="FFFFFF"/>
                </a:solidFill>
                <a:latin typeface="华文宋体" panose="02010600040101010101" charset="-122"/>
                <a:ea typeface="华文宋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观看</a:t>
            </a:r>
            <a:endParaRPr lang="zh-CN" altLang="en-US" sz="6000" b="1" i="0" u="none" strike="noStrike">
              <a:solidFill>
                <a:srgbClr val="FFFFFF"/>
              </a:solidFill>
              <a:latin typeface="华文宋体" panose="02010600040101010101" charset="-122"/>
              <a:ea typeface="华文宋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0" y="1898015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08889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期待与您合作 · 共创美好未来</a:t>
            </a:r>
            <a:endParaRPr lang="en-US" sz="1800" b="1" i="0" u="none" strike="noStrike">
              <a:solidFill>
                <a:srgbClr val="FFFFFF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88.xml><?xml version="1.0" encoding="utf-8"?>
<p:tagLst xmlns:p="http://schemas.openxmlformats.org/presentationml/2006/main">
  <p:tag name="KSO_WM_DIAGRAM_VIRTUALLY_FRAME" val="{&quot;height&quot;:380.6,&quot;left&quot;:51,&quot;top&quot;:117.85,&quot;width&quot;:871.9}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2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2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3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3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9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2*m_h_f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2*m_h_a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1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1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5.xml><?xml version="1.0" encoding="utf-8"?>
<p:tagLst xmlns:p="http://schemas.openxmlformats.org/presentationml/2006/main">
  <p:tag name="KSO_WM_DIAGRAM_VIRTUALLY_FRAME" val="{&quot;height&quot;:318.4,&quot;left&quot;:60,&quot;top&quot;:190,&quot;width&quot;:840}"/>
</p:tagLst>
</file>

<file path=ppt/tags/tag19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3199_2*m_h_f*1_2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项正文，文字是思想的提炼，请言简意赅的阐述观点。单击此处输入项正文，文字是思想的提炼，请言简意赅的阐述观点。单击输入项正文，文字是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3199_2*m_h_a*1_2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2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2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0.xml><?xml version="1.0" encoding="utf-8"?>
<p:tagLst xmlns:p="http://schemas.openxmlformats.org/presentationml/2006/main">
  <p:tag name="KSO_WM_DIAGRAM_VIRTUALLY_FRAME" val="{&quot;height&quot;:310,&quot;left&quot;:60,&quot;top&quot;:150,&quot;width&quot;:840}"/>
</p:tagLst>
</file>

<file path=ppt/tags/tag2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3199_2*m_h_f*1_3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3199_2*m_h_a*1_3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3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DIAGRAM_USE_COLOR_VALUE" val="{&quot;color_scheme&quot;:1,&quot;color_type&quot;:1,&quot;theme_color_indexes&quot;:[]}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2*m_h_i*1_3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0.6,&quot;left&quot;:51,&quot;top&quot;:117.85,&quot;width&quot;:871.9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5.xml><?xml version="1.0" encoding="utf-8"?>
<p:tagLst xmlns:p="http://schemas.openxmlformats.org/presentationml/2006/main">
  <p:tag name="KSO_WM_DIAGRAM_VIRTUALLY_FRAME" val="{&quot;height&quot;:310,&quot;left&quot;:60,&quot;top&quot;:150,&quot;width&quot;:840}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2211]}"/>
</p:tagLst>
</file>

<file path=ppt/tags/tag207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08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09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10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11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12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13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14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15.xml><?xml version="1.0" encoding="utf-8"?>
<p:tagLst xmlns:p="http://schemas.openxmlformats.org/presentationml/2006/main">
  <p:tag name="KSO_WM_DIAGRAM_VIRTUALLY_FRAME" val="{&quot;height&quot;:325.1078735351563,&quot;left&quot;:60,&quot;top&quot;:190,&quot;width&quot;:840}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7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18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0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21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22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23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24.xml><?xml version="1.0" encoding="utf-8"?>
<p:tagLst xmlns:p="http://schemas.openxmlformats.org/presentationml/2006/main">
  <p:tag name="KSO_DOCER_RESOURCE_TRACE_INFO" val="{&quot;id&quot;:&quot;158575399&quot;,&quot;origin&quot;:0,&quot;type&quot;:&quot;pictures&quot;,&quot;user&quot;:&quot;327043502&quot;}"/>
</p:tagLst>
</file>

<file path=ppt/tags/tag225.xml><?xml version="1.0" encoding="utf-8"?>
<p:tagLst xmlns:p="http://schemas.openxmlformats.org/presentationml/2006/main">
  <p:tag name="KSO_DOCER_RESOURCE_TRACE_INFO" val="{&quot;id&quot;:&quot;158575399&quot;,&quot;origin&quot;:0,&quot;type&quot;:&quot;pictures&quot;,&quot;user&quot;:&quot;327043502&quot;}"/>
</p:tagLst>
</file>

<file path=ppt/tags/tag226.xml><?xml version="1.0" encoding="utf-8"?>
<p:tagLst xmlns:p="http://schemas.openxmlformats.org/presentationml/2006/main">
  <p:tag name="KSO_DOCER_RESOURCE_TRACE_INFO" val="{&quot;id&quot;:&quot;158575399&quot;,&quot;origin&quot;:0,&quot;type&quot;:&quot;pictures&quot;,&quot;user&quot;:&quot;327043502&quot;}"/>
</p:tagLst>
</file>

<file path=ppt/tags/tag227.xml><?xml version="1.0" encoding="utf-8"?>
<p:tagLst xmlns:p="http://schemas.openxmlformats.org/presentationml/2006/main">
  <p:tag name="KSO_DOCER_RESOURCE_TRACE_INFO" val="{&quot;id&quot;:&quot;158575399&quot;,&quot;origin&quot;:0,&quot;type&quot;:&quot;pictures&quot;,&quot;user&quot;:&quot;327043502&quot;}"/>
</p:tagLst>
</file>

<file path=ppt/tags/tag228.xml><?xml version="1.0" encoding="utf-8"?>
<p:tagLst xmlns:p="http://schemas.openxmlformats.org/presentationml/2006/main">
  <p:tag name="KSO_DOCER_RESOURCE_TRACE_INFO" val="{&quot;id&quot;:&quot;158575399&quot;,&quot;origin&quot;:0,&quot;type&quot;:&quot;pictures&quot;,&quot;user&quot;:&quot;327043502&quot;}"/>
</p:tagLst>
</file>

<file path=ppt/tags/tag229.xml><?xml version="1.0" encoding="utf-8"?>
<p:tagLst xmlns:p="http://schemas.openxmlformats.org/presentationml/2006/main">
  <p:tag name="KSO_DOCER_RESOURCE_TRACE_INFO" val="{&quot;id&quot;:&quot;158575399&quot;,&quot;origin&quot;:0,&quot;type&quot;:&quot;pictures&quot;,&quot;user&quot;:&quot;327043502&quot;}"/>
</p:tagLst>
</file>

<file path=ppt/tags/tag230.xml><?xml version="1.0" encoding="utf-8"?>
<p:tagLst xmlns:p="http://schemas.openxmlformats.org/presentationml/2006/main">
  <p:tag name="KSO_DOCER_RESOURCE_TRACE_INFO" val="{&quot;id&quot;:&quot;158575399&quot;,&quot;origin&quot;:0,&quot;type&quot;:&quot;pictures&quot;,&quot;user&quot;:&quot;327043502&quot;}"/>
</p:tagLst>
</file>

<file path=ppt/tags/tag2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2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33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5.xml><?xml version="1.0" encoding="utf-8"?>
<p:tagLst xmlns:p="http://schemas.openxmlformats.org/presentationml/2006/main">
  <p:tag name="KSO_DOCER_RESOURCE_TRACE_INFO" val="{&quot;id&quot;:&quot;190844733&quot;,&quot;origin&quot;:0,&quot;type&quot;:&quot;pictures&quot;,&quot;user&quot;:&quot;327043502&quot;}"/>
</p:tagLst>
</file>

<file path=ppt/tags/tag236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37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9.xml><?xml version="1.0" encoding="utf-8"?>
<p:tagLst xmlns:p="http://schemas.openxmlformats.org/presentationml/2006/main">
  <p:tag name="KSO_WM_DIAGRAM_VIRTUALLY_FRAME" val="{&quot;height&quot;:300,&quot;left&quot;:60,&quot;top&quot;:190,&quot;width&quot;:840}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1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42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43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44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45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46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47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48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49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50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2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2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53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54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55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56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57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58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59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60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61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62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63.xml><?xml version="1.0" encoding="utf-8"?>
<p:tagLst xmlns:p="http://schemas.openxmlformats.org/presentationml/2006/main">
  <p:tag name="KSO_WM_DIAGRAM_VIRTUALLY_FRAME" val="{&quot;height&quot;:388.15,&quot;left&quot;:40,&quot;top&quot;:105.75,&quot;width&quot;:888.2}"/>
</p:tagLst>
</file>

<file path=ppt/tags/tag2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5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66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67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68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69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0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1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2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3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4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5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6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7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78.xml><?xml version="1.0" encoding="utf-8"?>
<p:tagLst xmlns:p="http://schemas.openxmlformats.org/presentationml/2006/main">
  <p:tag name="KSO_DOCER_RESOURCE_TRACE_INFO" val="{&quot;id&quot;:&quot;77024553&quot;,&quot;origin&quot;:0,&quot;type&quot;:&quot;pictures&quot;,&quot;user&quot;:&quot;1784106338&quot;}"/>
  <p:tag name="KSO_WM_DIAGRAM_VIRTUALLY_FRAME" val="{&quot;height&quot;:408.5,&quot;left&quot;:8,&quot;top&quot;:118.5,&quot;width&quot;:944}"/>
</p:tagLst>
</file>

<file path=ppt/tags/tag279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80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81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82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83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84.xml><?xml version="1.0" encoding="utf-8"?>
<p:tagLst xmlns:p="http://schemas.openxmlformats.org/presentationml/2006/main">
  <p:tag name="KSO_WM_DIAGRAM_VIRTUALLY_FRAME" val="{&quot;height&quot;:408.5,&quot;left&quot;:8,&quot;top&quot;:118.5,&quot;width&quot;:944}"/>
</p:tagLst>
</file>

<file path=ppt/tags/tag2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87.xml><?xml version="1.0" encoding="utf-8"?>
<p:tagLst xmlns:p="http://schemas.openxmlformats.org/presentationml/2006/main">
  <p:tag name="RESOURCE_RECORD_KEY" val="{&quot;10&quot;:[50059534,50059547],&quot;65&quot;:[20205081],&quot;70&quot;:[3322211],&quot;8&quot;:[50071296]}"/>
  <p:tag name="resource_record_key" val="{&quot;10&quot;:[50059534,50059547],&quot;65&quot;:[20205081],&quot;70&quot;:[3322211,3312652],&quot;8&quot;:[50071296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2659</Words>
  <Application>WPS 演示</Application>
  <PresentationFormat>宽屏</PresentationFormat>
  <Paragraphs>175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Noto Sans SC</vt:lpstr>
      <vt:lpstr>微软雅黑</vt:lpstr>
      <vt:lpstr>Calibri</vt:lpstr>
      <vt:lpstr>宋体简体</vt:lpstr>
      <vt:lpstr>思源宋体</vt:lpstr>
      <vt:lpstr>Times New Roman</vt:lpstr>
      <vt:lpstr>Times New Roman</vt:lpstr>
      <vt:lpstr>Songti SC</vt:lpstr>
      <vt:lpstr>华文宋体</vt:lpstr>
      <vt:lpstr>Arial Unicode MS</vt:lpstr>
      <vt:lpstr>Segoe Print</vt:lpstr>
      <vt:lpstr>WPS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kfze06451</cp:lastModifiedBy>
  <cp:revision>266</cp:revision>
  <dcterms:created xsi:type="dcterms:W3CDTF">2019-06-19T02:08:00Z</dcterms:created>
  <dcterms:modified xsi:type="dcterms:W3CDTF">2026-06-12T00:32:45Z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F7589C1DDC374B668290BBD09A66079F_11</vt:lpwstr>
  </property>
</Properties>
</file>