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D209B-D2C8-45AA-AE14-F90E0EFDEE5C}" v="2" dt="2026-10-26T17:22:28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38" autoAdjust="0"/>
  </p:normalViewPr>
  <p:slideViewPr>
    <p:cSldViewPr snapToGrid="0" snapToObjects="1">
      <p:cViewPr>
        <p:scale>
          <a:sx n="125" d="100"/>
          <a:sy n="125" d="100"/>
        </p:scale>
        <p:origin x="9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Chris" userId="a909dcbc-ae92-40b8-aec8-e14c049c96ee" providerId="ADAL" clId="{9EC5BE2D-645D-49DC-A323-988BBC05D7F8}"/>
    <pc:docChg chg="custSel addSld delSld modSld">
      <pc:chgData name="Wang, Chris" userId="a909dcbc-ae92-40b8-aec8-e14c049c96ee" providerId="ADAL" clId="{9EC5BE2D-645D-49DC-A323-988BBC05D7F8}" dt="2026-10-26T17:22:31.525" v="33" actId="47"/>
      <pc:docMkLst>
        <pc:docMk/>
      </pc:docMkLst>
      <pc:sldChg chg="modSp mod">
        <pc:chgData name="Wang, Chris" userId="a909dcbc-ae92-40b8-aec8-e14c049c96ee" providerId="ADAL" clId="{9EC5BE2D-645D-49DC-A323-988BBC05D7F8}" dt="2026-10-26T17:07:56.917" v="31" actId="207"/>
        <pc:sldMkLst>
          <pc:docMk/>
          <pc:sldMk cId="0" sldId="256"/>
        </pc:sldMkLst>
        <pc:spChg chg="mod">
          <ac:chgData name="Wang, Chris" userId="a909dcbc-ae92-40b8-aec8-e14c049c96ee" providerId="ADAL" clId="{9EC5BE2D-645D-49DC-A323-988BBC05D7F8}" dt="2026-10-26T16:16:47.214" v="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Wang, Chris" userId="a909dcbc-ae92-40b8-aec8-e14c049c96ee" providerId="ADAL" clId="{9EC5BE2D-645D-49DC-A323-988BBC05D7F8}" dt="2026-10-26T17:07:56.917" v="31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Wang, Chris" userId="a909dcbc-ae92-40b8-aec8-e14c049c96ee" providerId="ADAL" clId="{9EC5BE2D-645D-49DC-A323-988BBC05D7F8}" dt="2026-10-26T17:07:42.334" v="30" actId="108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del mod">
        <pc:chgData name="Wang, Chris" userId="a909dcbc-ae92-40b8-aec8-e14c049c96ee" providerId="ADAL" clId="{9EC5BE2D-645D-49DC-A323-988BBC05D7F8}" dt="2026-10-26T17:22:31.525" v="33" actId="47"/>
        <pc:sldMkLst>
          <pc:docMk/>
          <pc:sldMk cId="0" sldId="257"/>
        </pc:sldMkLst>
        <pc:spChg chg="mod">
          <ac:chgData name="Wang, Chris" userId="a909dcbc-ae92-40b8-aec8-e14c049c96ee" providerId="ADAL" clId="{9EC5BE2D-645D-49DC-A323-988BBC05D7F8}" dt="2026-10-26T16:17:26.013" v="4" actId="1076"/>
          <ac:spMkLst>
            <pc:docMk/>
            <pc:sldMk cId="0" sldId="257"/>
            <ac:spMk id="2" creationId="{00000000-0000-0000-0000-000000000000}"/>
          </ac:spMkLst>
        </pc:spChg>
        <pc:spChg chg="del">
          <ac:chgData name="Wang, Chris" userId="a909dcbc-ae92-40b8-aec8-e14c049c96ee" providerId="ADAL" clId="{9EC5BE2D-645D-49DC-A323-988BBC05D7F8}" dt="2026-10-26T17:06:36.093" v="7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Wang, Chris" userId="a909dcbc-ae92-40b8-aec8-e14c049c96ee" providerId="ADAL" clId="{9EC5BE2D-645D-49DC-A323-988BBC05D7F8}" dt="2026-10-26T17:07:03.501" v="1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Wang, Chris" userId="a909dcbc-ae92-40b8-aec8-e14c049c96ee" providerId="ADAL" clId="{9EC5BE2D-645D-49DC-A323-988BBC05D7F8}" dt="2026-10-26T17:07:04.819" v="11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Wang, Chris" userId="a909dcbc-ae92-40b8-aec8-e14c049c96ee" providerId="ADAL" clId="{9EC5BE2D-645D-49DC-A323-988BBC05D7F8}" dt="2026-10-26T17:06:27.447" v="6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Wang, Chris" userId="a909dcbc-ae92-40b8-aec8-e14c049c96ee" providerId="ADAL" clId="{9EC5BE2D-645D-49DC-A323-988BBC05D7F8}" dt="2026-10-26T16:18:36.477" v="5" actId="1076"/>
          <ac:spMkLst>
            <pc:docMk/>
            <pc:sldMk cId="0" sldId="257"/>
            <ac:spMk id="41" creationId="{00000000-0000-0000-0000-000000000000}"/>
          </ac:spMkLst>
        </pc:spChg>
        <pc:spChg chg="add">
          <ac:chgData name="Wang, Chris" userId="a909dcbc-ae92-40b8-aec8-e14c049c96ee" providerId="ADAL" clId="{9EC5BE2D-645D-49DC-A323-988BBC05D7F8}" dt="2026-10-26T17:06:51.691" v="8" actId="22"/>
          <ac:spMkLst>
            <pc:docMk/>
            <pc:sldMk cId="0" sldId="257"/>
            <ac:spMk id="263" creationId="{6508121F-E695-27E6-D42E-ECC47274529B}"/>
          </ac:spMkLst>
        </pc:spChg>
        <pc:spChg chg="add mod">
          <ac:chgData name="Wang, Chris" userId="a909dcbc-ae92-40b8-aec8-e14c049c96ee" providerId="ADAL" clId="{9EC5BE2D-645D-49DC-A323-988BBC05D7F8}" dt="2026-10-26T17:07:19.651" v="15" actId="20577"/>
          <ac:spMkLst>
            <pc:docMk/>
            <pc:sldMk cId="0" sldId="257"/>
            <ac:spMk id="265" creationId="{CE36FBC9-F04D-F684-FC7B-E716A86A2DC7}"/>
          </ac:spMkLst>
        </pc:spChg>
      </pc:sldChg>
      <pc:sldChg chg="add">
        <pc:chgData name="Wang, Chris" userId="a909dcbc-ae92-40b8-aec8-e14c049c96ee" providerId="ADAL" clId="{9EC5BE2D-645D-49DC-A323-988BBC05D7F8}" dt="2026-10-26T17:22:28.350" v="32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90697-8171-4C62-B38E-035779FD3F5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23AAF-DBB0-47A9-95FE-A8CD825B8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79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0000" y="79200"/>
            <a:ext cx="6480000" cy="103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dirty="0">
                <a:solidFill>
                  <a:srgbClr val="FFE0E0"/>
                </a:solidFill>
                <a:latin typeface="等线"/>
                <a:ea typeface="等线"/>
                <a:cs typeface="等线"/>
              </a:rPr>
              <a:t>OI / IPC BCC  ·  ONE-PAGE OI PROJECT PROFILE</a:t>
            </a:r>
            <a:r>
              <a:rPr lang="en-US" sz="670" b="0" dirty="0">
                <a:solidFill>
                  <a:srgbClr val="FFE0E0"/>
                </a:solidFill>
                <a:latin typeface="等线"/>
                <a:ea typeface="等线"/>
                <a:cs typeface="等线"/>
              </a:rPr>
              <a:t> - 01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0000" y="180000"/>
            <a:ext cx="900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REL  ·  Reinforcement / Enhancement Layer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60000" y="532800"/>
            <a:ext cx="10044000" cy="120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dirty="0">
                <a:solidFill>
                  <a:srgbClr val="FFE6E6"/>
                </a:solidFill>
                <a:latin typeface="等线"/>
                <a:ea typeface="等线"/>
                <a:cs typeface="等线"/>
              </a:rPr>
              <a:t>5-fibre reinforcement veil between two SAP layers  ·  33.48 </a:t>
            </a:r>
            <a:r>
              <a:rPr sz="780" b="0" dirty="0" err="1">
                <a:solidFill>
                  <a:srgbClr val="FFE6E6"/>
                </a:solidFill>
                <a:latin typeface="等线"/>
                <a:ea typeface="等线"/>
                <a:cs typeface="等线"/>
              </a:rPr>
              <a:t>gsm</a:t>
            </a:r>
            <a:r>
              <a:rPr sz="780" b="0" dirty="0">
                <a:solidFill>
                  <a:srgbClr val="FFE6E6"/>
                </a:solidFill>
                <a:latin typeface="等线"/>
                <a:ea typeface="等线"/>
                <a:cs typeface="等线"/>
              </a:rPr>
              <a:t> (Code B)  ·  material-level SAP retention 62 % vs 23.5 % baseline  ·  product level: net trade-off, not a proved gain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08000" y="86400"/>
            <a:ext cx="882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GATE STATUS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0926000" y="259200"/>
            <a:ext cx="871200" cy="324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26000" y="351950"/>
            <a:ext cx="8712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chemeClr val="bg1"/>
                </a:solidFill>
                <a:latin typeface="Arial"/>
              </a:rPr>
              <a:t>OI Development</a:t>
            </a:r>
            <a:endParaRPr sz="9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27999"/>
            <a:ext cx="12192119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000" y="885600"/>
            <a:ext cx="1655999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PROJECT LEAD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000" y="986400"/>
            <a:ext cx="1655999" cy="1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OI / FEI Team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37237" y="871200"/>
            <a:ext cx="9525" cy="3456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8000" y="885600"/>
            <a:ext cx="1655999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BUSINESS SPONSOR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68000" y="986400"/>
            <a:ext cx="1655999" cy="1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Category BU</a:t>
            </a: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45237" y="871200"/>
            <a:ext cx="9525" cy="3456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76000" y="885600"/>
            <a:ext cx="1655999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MARKET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76000" y="986400"/>
            <a:ext cx="1655999" cy="1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APAC — CN pilot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953237" y="871200"/>
            <a:ext cx="9525" cy="3456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3999" y="885600"/>
            <a:ext cx="1655999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TARGET LAUNCH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3999" y="986400"/>
            <a:ext cx="1655999" cy="1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H2 2027</a:t>
            </a: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61237" y="871200"/>
            <a:ext cx="9525" cy="3456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92000" y="885600"/>
            <a:ext cx="1655999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CURRENT TRL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2000" y="986400"/>
            <a:ext cx="1655999" cy="1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TRL 4 (lab → pilot)</a:t>
            </a: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69237" y="871200"/>
            <a:ext cx="9525" cy="3456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00000" y="885600"/>
            <a:ext cx="1655999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GATE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0000" y="986400"/>
            <a:ext cx="1655999" cy="13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G2 · Tianjin validation</a:t>
            </a: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0000" y="1339200"/>
            <a:ext cx="3078000" cy="19259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9200" y="14184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7200" y="1386000"/>
            <a:ext cx="279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900" b="1" dirty="0">
                <a:solidFill>
                  <a:srgbClr val="C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Status &amp; Challenge</a:t>
            </a:r>
            <a:endParaRPr lang="en-US" altLang="zh-CN" sz="900" dirty="0"/>
          </a:p>
        </p:txBody>
      </p:sp>
      <p:sp>
        <p:nvSpPr>
          <p:cNvPr id="33" name="Rectangle 32"/>
          <p:cNvSpPr/>
          <p:nvPr/>
        </p:nvSpPr>
        <p:spPr>
          <a:xfrm>
            <a:off x="1879200" y="1634400"/>
            <a:ext cx="1404000" cy="849600"/>
          </a:xfrm>
          <a:prstGeom prst="rect">
            <a:avLst/>
          </a:prstGeom>
          <a:noFill/>
          <a:ln w="6350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000" y="2709637"/>
            <a:ext cx="2818800" cy="9525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000" y="2743200"/>
            <a:ext cx="921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b="1" dirty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33.48</a:t>
            </a:r>
            <a:r>
              <a:rPr sz="1450" b="1" dirty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 </a:t>
            </a:r>
            <a:r>
              <a:rPr sz="1450" b="1" dirty="0" err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gsm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468000" y="2951999"/>
            <a:ext cx="9216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nominal basis weight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1425600" y="2743200"/>
            <a:ext cx="921600" cy="20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5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25600" y="2951999"/>
            <a:ext cx="9216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fibre classes in blend</a:t>
            </a: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83200" y="2743200"/>
            <a:ext cx="921600" cy="20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62 %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83200" y="2951999"/>
            <a:ext cx="921600" cy="80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SAP held ·</a:t>
            </a:r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360000" y="3319200"/>
            <a:ext cx="3078000" cy="15659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9200" y="33984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7200" y="3366000"/>
            <a:ext cx="2790000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Formulation · 5-fibre blend</a:t>
            </a:r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68000" y="3614400"/>
            <a:ext cx="2862000" cy="1296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4000" y="3618000"/>
            <a:ext cx="907200" cy="122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FIBRE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83200" y="3618000"/>
            <a:ext cx="367200" cy="122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D × L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922400" y="3618000"/>
            <a:ext cx="151200" cy="122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%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45600" y="3618000"/>
            <a:ext cx="1148400" cy="122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ROLE</a:t>
            </a: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4000" y="3747600"/>
            <a:ext cx="90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2D ES CoPET/PET</a:t>
            </a: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83200" y="3747600"/>
            <a:ext cx="36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2.0D × 38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922400" y="3747600"/>
            <a:ext cx="151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32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45600" y="3747600"/>
            <a:ext cx="11484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fine capillary + primary binder</a:t>
            </a:r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68000" y="3920825"/>
            <a:ext cx="2862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68000" y="3924000"/>
            <a:ext cx="2862000" cy="180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4000" y="3927600"/>
            <a:ext cx="90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3D ES CoPET/PET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483200" y="3927600"/>
            <a:ext cx="36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3.0D × 38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922400" y="3927600"/>
            <a:ext cx="151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8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145600" y="3927600"/>
            <a:ext cx="11484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secondary capillary + bonding</a:t>
            </a:r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68000" y="4100825"/>
            <a:ext cx="2862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4000" y="4107600"/>
            <a:ext cx="90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4D hollow ES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83200" y="4107600"/>
            <a:ext cx="36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4.0D × 38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2400" y="4107600"/>
            <a:ext cx="151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30</a:t>
            </a: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145600" y="4107600"/>
            <a:ext cx="11484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Z-channels + lumen void</a:t>
            </a:r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68000" y="4280825"/>
            <a:ext cx="2862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68000" y="4284000"/>
            <a:ext cx="2862000" cy="180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4000" y="4287600"/>
            <a:ext cx="90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7D PTT/PET S/S</a:t>
            </a: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83200" y="4287600"/>
            <a:ext cx="36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7.0D × 51</a:t>
            </a: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922400" y="4287600"/>
            <a:ext cx="151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24</a:t>
            </a:r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145600" y="4287600"/>
            <a:ext cx="11484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resilience / anti gel-block</a:t>
            </a: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68000" y="4460825"/>
            <a:ext cx="2862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4000" y="4467600"/>
            <a:ext cx="90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6D PVA (insoluble)</a:t>
            </a: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483200" y="4467600"/>
            <a:ext cx="367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6.0D × 51</a:t>
            </a: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922400" y="4467600"/>
            <a:ext cx="1512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6</a:t>
            </a:r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45600" y="4467600"/>
            <a:ext cx="1148400" cy="17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Z-scaffold / wet strength</a:t>
            </a:r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68000" y="4640825"/>
            <a:ext cx="2862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68000" y="4629600"/>
            <a:ext cx="2862000" cy="20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Code A and Code B share this composition (32 / 8 / 30 / 24 / 6); only basis weight and layer build differ.</a:t>
            </a:r>
            <a:endParaRPr/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49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Measured 28.97 ± 1.61 gsm (n = 30) · 2.758 mm · Code B 33.48 gsm (+19.6 %) · gradient +12.4 %</a:t>
            </a:r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60000" y="4939200"/>
            <a:ext cx="3078000" cy="137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39200" y="50184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47200" y="4986000"/>
            <a:ext cx="279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Open </a:t>
            </a:r>
            <a:r>
              <a:rPr lang="en-US"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D</a:t>
            </a: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ata </a:t>
            </a:r>
            <a:r>
              <a:rPr lang="en-US" sz="90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G</a:t>
            </a: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aps</a:t>
            </a:r>
            <a:endParaRPr dirty="0"/>
          </a:p>
        </p:txBody>
      </p:sp>
      <p:sp>
        <p:nvSpPr>
          <p:cNvPr id="81" name="TextBox 80"/>
          <p:cNvSpPr txBox="1"/>
          <p:nvPr/>
        </p:nvSpPr>
        <p:spPr>
          <a:xfrm>
            <a:off x="468000" y="5234400"/>
            <a:ext cx="2862000" cy="502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dirty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▪  </a:t>
            </a:r>
            <a:r>
              <a:rPr sz="56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Void volume @ 0.5 kPa — 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not measured. The 34.3 cm³/g figure is an unstressed estimate on another basis.</a:t>
            </a:r>
            <a:endParaRPr dirty="0"/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500" b="0" dirty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▪  </a:t>
            </a:r>
            <a:r>
              <a:rPr sz="56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Compression recovery (4× @ 1 kPa) — 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not measured on either code.</a:t>
            </a:r>
            <a:endParaRPr dirty="0"/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500" b="0" dirty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▪  </a:t>
            </a:r>
            <a:r>
              <a:rPr sz="56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Cross-web uniformity — 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measured defect: +3.34 </a:t>
            </a:r>
            <a:r>
              <a:rPr sz="560" b="0" dirty="0" err="1">
                <a:solidFill>
                  <a:srgbClr val="333333"/>
                </a:solidFill>
                <a:latin typeface="等线"/>
                <a:ea typeface="等线"/>
                <a:cs typeface="等线"/>
              </a:rPr>
              <a:t>gsm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 / +12.4 % left to right.</a:t>
            </a:r>
            <a:endParaRPr dirty="0"/>
          </a:p>
        </p:txBody>
      </p:sp>
      <p:sp>
        <p:nvSpPr>
          <p:cNvPr id="82" name="Rectangle 81"/>
          <p:cNvSpPr/>
          <p:nvPr/>
        </p:nvSpPr>
        <p:spPr>
          <a:xfrm>
            <a:off x="3564000" y="1339200"/>
            <a:ext cx="4392000" cy="20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643200" y="14184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751200" y="1386000"/>
            <a:ext cx="410399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Finished-product test  ·  </a:t>
            </a:r>
            <a:r>
              <a:rPr lang="en-US"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New </a:t>
            </a: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REL vs Control</a:t>
            </a:r>
            <a:endParaRPr dirty="0"/>
          </a:p>
        </p:txBody>
      </p:sp>
      <p:sp>
        <p:nvSpPr>
          <p:cNvPr id="85" name="TextBox 84"/>
          <p:cNvSpPr txBox="1"/>
          <p:nvPr/>
        </p:nvSpPr>
        <p:spPr>
          <a:xfrm>
            <a:off x="3672000" y="1519200"/>
            <a:ext cx="41760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Full-core assembly · GB 28004 + Cradle + L/H · n = 5 / 4 / 4 · tested 2026-09-30</a:t>
            </a:r>
            <a:endParaRPr dirty="0"/>
          </a:p>
        </p:txBody>
      </p:sp>
      <p:sp>
        <p:nvSpPr>
          <p:cNvPr id="86" name="Rectangle 85"/>
          <p:cNvSpPr/>
          <p:nvPr/>
        </p:nvSpPr>
        <p:spPr>
          <a:xfrm>
            <a:off x="3671999" y="1663200"/>
            <a:ext cx="4266000" cy="1152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707999" y="1666800"/>
            <a:ext cx="1350000" cy="1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METRIC</a:t>
            </a:r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129999" y="1666800"/>
            <a:ext cx="547200" cy="1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CODE 14</a:t>
            </a:r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749200" y="1666800"/>
            <a:ext cx="57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CONTROL-2</a:t>
            </a:r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97200" y="1666800"/>
            <a:ext cx="439200" cy="1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Δ</a:t>
            </a:r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08399" y="1666800"/>
            <a:ext cx="917999" cy="1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READ</a:t>
            </a:r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07999" y="17820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1st absorption, GB (s)</a:t>
            </a:r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29999" y="17820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24.10</a:t>
            </a:r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49200" y="17820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25.66</a:t>
            </a: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397200" y="17820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−6.1 %</a:t>
            </a:r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908399" y="17820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↑ better</a:t>
            </a:r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671999" y="18940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671999" y="1897200"/>
            <a:ext cx="4266000" cy="11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707999" y="19008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2nd absorption, GB (s)</a:t>
            </a:r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129999" y="19008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25.03</a:t>
            </a:r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749200" y="19008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28.67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97200" y="19008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−12.7 %</a:t>
            </a:r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08399" y="19008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↑ better</a:t>
            </a:r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671999" y="20128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707999" y="20196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Rewet, GB (g)</a:t>
            </a:r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129999" y="20196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0.500</a:t>
            </a:r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749200" y="20196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0.492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97200" y="20196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8A8A8A"/>
                </a:solidFill>
                <a:latin typeface="等线"/>
                <a:ea typeface="等线"/>
                <a:cs typeface="等线"/>
              </a:rPr>
              <a:t>+1.6 %</a:t>
            </a: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908399" y="20196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8A8A8A"/>
                </a:solidFill>
                <a:latin typeface="等线"/>
                <a:ea typeface="等线"/>
                <a:cs typeface="等线"/>
              </a:rPr>
              <a:t>= flat</a:t>
            </a:r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671999" y="21316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671999" y="2134800"/>
            <a:ext cx="4266000" cy="11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707999" y="21384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Leakage, GB (g)</a:t>
            </a:r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129999" y="21384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0.650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749200" y="21384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0.466</a:t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97200" y="21384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+39.5 %</a:t>
            </a:r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908399" y="21384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↓ worse</a:t>
            </a:r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671999" y="22504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707999" y="22572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Cradle 3rd intake (s)</a:t>
            </a:r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129999" y="22572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57.58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749200" y="22572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39.68</a:t>
            </a: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397200" y="22572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+45.1 %</a:t>
            </a:r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908399" y="22572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↓ worse</a:t>
            </a:r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671999" y="23692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71999" y="2372400"/>
            <a:ext cx="4266000" cy="11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707999" y="23760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L intake (s)</a:t>
            </a:r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129999" y="23760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9.70</a:t>
            </a: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749200" y="23760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7.77</a:t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397200" y="23760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+24.9 %</a:t>
            </a: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908399" y="23760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↓ worse</a:t>
            </a: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671999" y="24880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707999" y="24948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H intake (s)</a:t>
            </a:r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129999" y="24948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17.93</a:t>
            </a: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749200" y="24948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14.68</a:t>
            </a:r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397200" y="24948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+22.1 %</a:t>
            </a: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908399" y="24948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↓ worse</a:t>
            </a:r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3671999" y="26068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3671999" y="2610000"/>
            <a:ext cx="4266000" cy="11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07999" y="26136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L rewet (g)</a:t>
            </a: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129999" y="26136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0.147</a:t>
            </a:r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749200" y="26136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0.195</a:t>
            </a:r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397200" y="26136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−24.4 %</a:t>
            </a:r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908399" y="26136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↑ better</a:t>
            </a:r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671999" y="27256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707999" y="27324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L residue (g)</a:t>
            </a:r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129999" y="27324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0.015</a:t>
            </a: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749200" y="27324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0.100</a:t>
            </a:r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97200" y="27324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−85.0 %</a:t>
            </a: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08399" y="27324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↑ better</a:t>
            </a:r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671999" y="28444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3671999" y="2847600"/>
            <a:ext cx="4266000" cy="11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707999" y="2851200"/>
            <a:ext cx="1350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H residue (g)</a:t>
            </a:r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129999" y="2851200"/>
            <a:ext cx="547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0.010</a:t>
            </a:r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5749200" y="2851200"/>
            <a:ext cx="5760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0.055</a:t>
            </a:r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397200" y="2851200"/>
            <a:ext cx="439200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−81.8 %</a:t>
            </a:r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908399" y="2851200"/>
            <a:ext cx="917999" cy="11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2E7D5B"/>
                </a:solidFill>
                <a:latin typeface="等线"/>
                <a:ea typeface="等线"/>
                <a:cs typeface="等线"/>
              </a:rPr>
              <a:t>↑ better</a:t>
            </a:r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3671999" y="2963225"/>
            <a:ext cx="4266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3671999" y="3024000"/>
            <a:ext cx="4266000" cy="2664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3671999" y="3024000"/>
            <a:ext cx="25200" cy="266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744000" y="3034800"/>
            <a:ext cx="4140000" cy="2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Net trade-off. </a:t>
            </a: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Retention (+80–85 % residue) and rewet (−24 % at L) gains are offset by leakage +39.5 % and late-insult intake +22–45 %. Material gains did not convert at product level; two variables moved at once (supplier + basis weight) and collection dates differ by 7 days.</a:t>
            </a:r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3564000" y="3416400"/>
            <a:ext cx="4392000" cy="151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643200" y="34956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751200" y="3463200"/>
            <a:ext cx="4103999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Cost comparison  ·  full cost per m²  vs  official 40 gsm baseline</a:t>
            </a:r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672000" y="3596400"/>
            <a:ext cx="41760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Fibre + 5,000 RMB/t converting · 0.038 m²/pad · 100 M pads/yr · baseline 0.692 RMB/m²</a:t>
            </a:r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671999" y="3740400"/>
            <a:ext cx="1000799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Baseline · 40 gsm, 17.3k RMB/t</a:t>
            </a:r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4698000" y="3747600"/>
            <a:ext cx="2440800" cy="115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4698000" y="3747600"/>
            <a:ext cx="2252044" cy="1152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160400" y="3740400"/>
            <a:ext cx="3096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0.6920</a:t>
            </a:r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484400" y="3740400"/>
            <a:ext cx="3168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reference</a:t>
            </a:r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671999" y="3949200"/>
            <a:ext cx="1000799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New REL · 33 gsm measured</a:t>
            </a:r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698000" y="3956400"/>
            <a:ext cx="2440800" cy="115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698000" y="3956400"/>
            <a:ext cx="2127401" cy="115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7160400" y="3949200"/>
            <a:ext cx="3096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0.6537</a:t>
            </a:r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7484400" y="3949200"/>
            <a:ext cx="3168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−5.5 %</a:t>
            </a:r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444915" y="4179711"/>
            <a:ext cx="1227884" cy="8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New REL</a:t>
            </a:r>
            <a:r>
              <a:rPr lang="en-US" sz="560" b="0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 (Target)</a:t>
            </a:r>
            <a:r>
              <a:rPr sz="560" b="0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 · 28 </a:t>
            </a:r>
            <a:r>
              <a:rPr sz="560" b="0" dirty="0" err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gsm</a:t>
            </a:r>
            <a:r>
              <a:rPr sz="560" b="0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 design</a:t>
            </a:r>
            <a:endParaRPr dirty="0"/>
          </a:p>
        </p:txBody>
      </p:sp>
      <p:sp>
        <p:nvSpPr>
          <p:cNvPr id="175" name="Rectangle 174"/>
          <p:cNvSpPr/>
          <p:nvPr/>
        </p:nvSpPr>
        <p:spPr>
          <a:xfrm>
            <a:off x="4698000" y="4165200"/>
            <a:ext cx="2440800" cy="115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4698000" y="4165200"/>
            <a:ext cx="1805215" cy="115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7160400" y="4158000"/>
            <a:ext cx="3096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0.5547</a:t>
            </a:r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84400" y="4158000"/>
            <a:ext cx="3168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−19.8 %</a:t>
            </a:r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944644" y="3726000"/>
            <a:ext cx="10800" cy="561600"/>
          </a:xfrm>
          <a:prstGeom prst="rect">
            <a:avLst/>
          </a:prstGeom>
          <a:solidFill>
            <a:srgbClr val="8B1D1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608044" y="4294800"/>
            <a:ext cx="684000" cy="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9" b="0">
                <a:solidFill>
                  <a:srgbClr val="8B1D1C"/>
                </a:solidFill>
                <a:latin typeface="等线"/>
                <a:ea typeface="等线"/>
                <a:cs typeface="等线"/>
              </a:rPr>
              <a:t>critical 34.93 gsm</a:t>
            </a:r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3671999" y="4370400"/>
            <a:ext cx="426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dirty="0">
                <a:solidFill>
                  <a:srgbClr val="8B1D1C"/>
                </a:solidFill>
                <a:latin typeface="等线"/>
                <a:ea typeface="等线"/>
                <a:cs typeface="等线"/>
              </a:rPr>
              <a:t>Basis weight, not </a:t>
            </a:r>
            <a:r>
              <a:rPr sz="580" b="1" dirty="0" err="1">
                <a:solidFill>
                  <a:srgbClr val="8B1D1C"/>
                </a:solidFill>
                <a:latin typeface="等线"/>
                <a:ea typeface="等线"/>
                <a:cs typeface="等线"/>
              </a:rPr>
              <a:t>fibre</a:t>
            </a:r>
            <a:r>
              <a:rPr sz="580" b="1" dirty="0">
                <a:solidFill>
                  <a:srgbClr val="8B1D1C"/>
                </a:solidFill>
                <a:latin typeface="等线"/>
                <a:ea typeface="等线"/>
                <a:cs typeface="等线"/>
              </a:rPr>
              <a:t> price, decides the business case. 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The +14.5 % per-</a:t>
            </a:r>
            <a:r>
              <a:rPr sz="560" b="0" dirty="0" err="1">
                <a:solidFill>
                  <a:srgbClr val="333333"/>
                </a:solidFill>
                <a:latin typeface="等线"/>
                <a:ea typeface="等线"/>
                <a:cs typeface="等线"/>
              </a:rPr>
              <a:t>tonne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 premium (19,810 vs 17,300 RMB/t) is offset by a −27 % mass saving only while actual basis weight stays below 34.93 </a:t>
            </a:r>
            <a:r>
              <a:rPr sz="560" b="0" dirty="0" err="1">
                <a:solidFill>
                  <a:srgbClr val="333333"/>
                </a:solidFill>
                <a:latin typeface="等线"/>
                <a:ea typeface="等线"/>
                <a:cs typeface="等线"/>
              </a:rPr>
              <a:t>gsm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. Measured 33.48 </a:t>
            </a:r>
            <a:r>
              <a:rPr sz="560" b="0" dirty="0" err="1">
                <a:solidFill>
                  <a:srgbClr val="333333"/>
                </a:solidFill>
                <a:latin typeface="等线"/>
                <a:ea typeface="等线"/>
                <a:cs typeface="等线"/>
              </a:rPr>
              <a:t>gsm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 leaves a margin of only 1.45 </a:t>
            </a:r>
            <a:r>
              <a:rPr sz="560" b="0" dirty="0" err="1">
                <a:solidFill>
                  <a:srgbClr val="333333"/>
                </a:solidFill>
                <a:latin typeface="等线"/>
                <a:ea typeface="等线"/>
                <a:cs typeface="等线"/>
              </a:rPr>
              <a:t>gsm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.</a:t>
            </a:r>
            <a:endParaRPr dirty="0"/>
          </a:p>
        </p:txBody>
      </p:sp>
      <p:sp>
        <p:nvSpPr>
          <p:cNvPr id="182" name="TextBox 181"/>
          <p:cNvSpPr txBox="1"/>
          <p:nvPr/>
        </p:nvSpPr>
        <p:spPr>
          <a:xfrm>
            <a:off x="3671999" y="4608000"/>
            <a:ext cx="4266000" cy="48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Price basis, delivered and tax incl.: PTT/PET S/S 20,500 RMB/t — Hengtan at 1,000 t scale 20,000–21,000; the 26,000 sample quote does not apply · PVA 6D 20,000 (Wanwei) · ES 2D/3D 11,600 · hollow ES 13,500 (to be confirmed) · converting 5,000 RMB/t.</a:t>
            </a:r>
            <a:endParaRPr dirty="0"/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49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Excluded: 3–5 % process loss, slitting waste, sampling </a:t>
            </a:r>
            <a:r>
              <a:rPr sz="490" b="0" dirty="0" err="1">
                <a:solidFill>
                  <a:srgbClr val="8A8A8A"/>
                </a:solidFill>
                <a:latin typeface="等线"/>
                <a:ea typeface="等线"/>
                <a:cs typeface="等线"/>
              </a:rPr>
              <a:t>amortisation</a:t>
            </a:r>
            <a:r>
              <a:rPr sz="49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, tariff and certification.</a:t>
            </a:r>
            <a:endParaRPr dirty="0"/>
          </a:p>
        </p:txBody>
      </p:sp>
      <p:sp>
        <p:nvSpPr>
          <p:cNvPr id="183" name="Rectangle 182"/>
          <p:cNvSpPr/>
          <p:nvPr/>
        </p:nvSpPr>
        <p:spPr>
          <a:xfrm>
            <a:off x="3564000" y="4982400"/>
            <a:ext cx="4392000" cy="13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3643200" y="50616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3751200" y="5029200"/>
            <a:ext cx="410399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Sensitivity and annualized impact</a:t>
            </a:r>
            <a:endParaRPr dirty="0"/>
          </a:p>
        </p:txBody>
      </p:sp>
      <p:sp>
        <p:nvSpPr>
          <p:cNvPr id="186" name="Rectangle 185"/>
          <p:cNvSpPr/>
          <p:nvPr/>
        </p:nvSpPr>
        <p:spPr>
          <a:xfrm>
            <a:off x="3671999" y="5277600"/>
            <a:ext cx="1029600" cy="489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3722400" y="5313600"/>
            <a:ext cx="928800" cy="19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−19.8 %</a:t>
            </a:r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22400" y="5529600"/>
            <a:ext cx="928800" cy="20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vs baseline · 28 gsm design</a:t>
            </a:r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4752000" y="5277600"/>
            <a:ext cx="1029600" cy="489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4802400" y="5313600"/>
            <a:ext cx="928800" cy="19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−5.5 %</a:t>
            </a:r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4802400" y="5529600"/>
            <a:ext cx="928800" cy="20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vs baseline · 33 gsm measured</a:t>
            </a:r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832000" y="5277600"/>
            <a:ext cx="1029600" cy="489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5882400" y="5313600"/>
            <a:ext cx="928800" cy="19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+0.0198</a:t>
            </a:r>
            <a:endParaRPr dirty="0"/>
          </a:p>
        </p:txBody>
      </p:sp>
      <p:sp>
        <p:nvSpPr>
          <p:cNvPr id="194" name="TextBox 193"/>
          <p:cNvSpPr txBox="1"/>
          <p:nvPr/>
        </p:nvSpPr>
        <p:spPr>
          <a:xfrm>
            <a:off x="5882400" y="5529600"/>
            <a:ext cx="928800" cy="20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RMB/m² per +1 </a:t>
            </a:r>
            <a:r>
              <a:rPr sz="500" b="0" dirty="0" err="1">
                <a:solidFill>
                  <a:srgbClr val="8A8A8A"/>
                </a:solidFill>
                <a:latin typeface="等线"/>
                <a:ea typeface="等线"/>
                <a:cs typeface="等线"/>
              </a:rPr>
              <a:t>gsm</a:t>
            </a:r>
            <a:endParaRPr dirty="0"/>
          </a:p>
        </p:txBody>
      </p:sp>
      <p:sp>
        <p:nvSpPr>
          <p:cNvPr id="195" name="Rectangle 194"/>
          <p:cNvSpPr/>
          <p:nvPr/>
        </p:nvSpPr>
        <p:spPr>
          <a:xfrm>
            <a:off x="6912000" y="5277600"/>
            <a:ext cx="1029600" cy="489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6962400" y="5313600"/>
            <a:ext cx="9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−</a:t>
            </a:r>
            <a:r>
              <a:rPr lang="en-US" sz="120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</a:t>
            </a:r>
            <a:r>
              <a:rPr sz="120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.</a:t>
            </a:r>
            <a:r>
              <a:rPr lang="en-US" sz="120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4</a:t>
            </a:r>
            <a:r>
              <a:rPr sz="1200" b="1" dirty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 M</a:t>
            </a:r>
            <a:endParaRPr dirty="0"/>
          </a:p>
        </p:txBody>
      </p:sp>
      <p:sp>
        <p:nvSpPr>
          <p:cNvPr id="197" name="TextBox 196"/>
          <p:cNvSpPr txBox="1"/>
          <p:nvPr/>
        </p:nvSpPr>
        <p:spPr>
          <a:xfrm>
            <a:off x="6962400" y="5529600"/>
            <a:ext cx="928800" cy="76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RMB/yr saved · </a:t>
            </a:r>
            <a:r>
              <a:rPr lang="en-US" sz="500" b="0" dirty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1000 t</a:t>
            </a:r>
            <a:endParaRPr dirty="0"/>
          </a:p>
        </p:txBody>
      </p:sp>
      <p:sp>
        <p:nvSpPr>
          <p:cNvPr id="198" name="TextBox 197"/>
          <p:cNvSpPr txBox="1"/>
          <p:nvPr/>
        </p:nvSpPr>
        <p:spPr>
          <a:xfrm>
            <a:off x="3671999" y="5860800"/>
            <a:ext cx="4266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9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At 100 M pads: 2.11 M RMB/yr at design weight and 2.48 M at measured weight, against 2.63 M for the 40 </a:t>
            </a:r>
            <a:r>
              <a:rPr sz="509" b="0" dirty="0" err="1">
                <a:solidFill>
                  <a:srgbClr val="333333"/>
                </a:solidFill>
                <a:latin typeface="等线"/>
                <a:ea typeface="等线"/>
                <a:cs typeface="等线"/>
              </a:rPr>
              <a:t>gsm</a:t>
            </a:r>
            <a:r>
              <a:rPr sz="509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 baseline — a saving of 0.52 M and 0.15 M RMB/yr respectively. Each −1,000 RMB/t on PTT/PET (24 % of the blend) cuts a further 0.0067 RMB/m².</a:t>
            </a:r>
            <a:endParaRPr dirty="0"/>
          </a:p>
        </p:txBody>
      </p:sp>
      <p:sp>
        <p:nvSpPr>
          <p:cNvPr id="199" name="Rectangle 198"/>
          <p:cNvSpPr/>
          <p:nvPr/>
        </p:nvSpPr>
        <p:spPr>
          <a:xfrm>
            <a:off x="8082000" y="1339200"/>
            <a:ext cx="3751200" cy="2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8161199" y="14184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269200" y="1386000"/>
            <a:ext cx="3463199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Material-level benchmark  ·  6 samples</a:t>
            </a:r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190000" y="1519200"/>
            <a:ext cx="35352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Protocols differ by source · basis weight and caliper differ, so there is no single ranking</a:t>
            </a:r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8190000" y="1656000"/>
            <a:ext cx="3114000" cy="1080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8226000" y="1659600"/>
            <a:ext cx="727200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SAMPLE</a:t>
            </a:r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9025200" y="1659600"/>
            <a:ext cx="259200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gsm</a:t>
            </a:r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9356400" y="1659600"/>
            <a:ext cx="233999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mm</a:t>
            </a:r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9662400" y="1659600"/>
            <a:ext cx="259200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STT s</a:t>
            </a:r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9993600" y="1659600"/>
            <a:ext cx="295200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Rewet g</a:t>
            </a:r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0360800" y="1659600"/>
            <a:ext cx="208800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SAM %</a:t>
            </a:r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10641600" y="1659600"/>
            <a:ext cx="626400" cy="10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8226000" y="17676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Code A · new REL</a:t>
            </a:r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9025200" y="17676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28.8</a:t>
            </a:r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9356400" y="17676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1.01</a:t>
            </a:r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662400" y="17676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1.02</a:t>
            </a: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9993600" y="17676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0.09</a:t>
            </a:r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0360800" y="17676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62</a:t>
            </a:r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10627200" y="1810800"/>
            <a:ext cx="619200" cy="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10627200" y="1810800"/>
            <a:ext cx="548434" cy="57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8190000" y="19120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8190000" y="1915200"/>
            <a:ext cx="3114000" cy="151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8226000" y="19188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Code B · Minrui</a:t>
            </a:r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9025200" y="19188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33.48</a:t>
            </a:r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9356400" y="19188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0.865</a:t>
            </a:r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9662400" y="19188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1.232</a:t>
            </a:r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993600" y="19188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0.0474</a:t>
            </a:r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10360800" y="19188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1A1A1A"/>
                </a:solidFill>
                <a:latin typeface="等线"/>
                <a:ea typeface="等线"/>
                <a:cs typeface="等线"/>
              </a:rPr>
              <a:t>n/a</a:t>
            </a:r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8190000" y="20632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226000" y="20700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YJ DL24C</a:t>
            </a:r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9025200" y="20700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39.8</a:t>
            </a:r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356400" y="20700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0.71</a:t>
            </a:r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9662400" y="20700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0.77</a:t>
            </a:r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9993600" y="20700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0.06</a:t>
            </a:r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10360800" y="20700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4</a:t>
            </a:r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10627200" y="2113200"/>
            <a:ext cx="619200" cy="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10627200" y="2113200"/>
            <a:ext cx="35382" cy="57600"/>
          </a:xfrm>
          <a:prstGeom prst="rect">
            <a:avLst/>
          </a:prstGeom>
          <a:solidFill>
            <a:srgbClr val="E89A9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190000" y="22144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190000" y="2217600"/>
            <a:ext cx="3114000" cy="151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8226000" y="22212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DY ND055</a:t>
            </a:r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9025200" y="22212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38.8</a:t>
            </a:r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9356400" y="22212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1.13</a:t>
            </a:r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9662400" y="22212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0.55</a:t>
            </a:r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9993600" y="22212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0.07</a:t>
            </a:r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10360800" y="22212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15</a:t>
            </a:r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10627200" y="2264400"/>
            <a:ext cx="619200" cy="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10627200" y="2264400"/>
            <a:ext cx="132685" cy="57600"/>
          </a:xfrm>
          <a:prstGeom prst="rect">
            <a:avLst/>
          </a:prstGeom>
          <a:solidFill>
            <a:srgbClr val="E89A9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8190000" y="23656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8226000" y="23724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ZB box REL</a:t>
            </a:r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9025200" y="23724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40.0</a:t>
            </a:r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356400" y="23724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1.77</a:t>
            </a:r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662400" y="23724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0.23</a:t>
            </a:r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9993600" y="23724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n/a</a:t>
            </a:r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10360800" y="23724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42</a:t>
            </a:r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10627200" y="2415600"/>
            <a:ext cx="619200" cy="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10627200" y="2415600"/>
            <a:ext cx="371520" cy="57600"/>
          </a:xfrm>
          <a:prstGeom prst="rect">
            <a:avLst/>
          </a:prstGeom>
          <a:solidFill>
            <a:srgbClr val="E89A9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8190000" y="25168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8190000" y="2520000"/>
            <a:ext cx="3114000" cy="151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226000" y="25236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Qiaodong box REL</a:t>
            </a:r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9025200" y="25236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40.0</a:t>
            </a:r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9356400" y="25236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2.02</a:t>
            </a:r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9662400" y="25236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0.49</a:t>
            </a:r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9993600" y="25236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0.08</a:t>
            </a:r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10360800" y="25236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33</a:t>
            </a:r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10627200" y="2566800"/>
            <a:ext cx="619200" cy="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10627200" y="2566800"/>
            <a:ext cx="291908" cy="57600"/>
          </a:xfrm>
          <a:prstGeom prst="rect">
            <a:avLst/>
          </a:prstGeom>
          <a:solidFill>
            <a:srgbClr val="E89A9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8190000" y="26680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8190000" y="2671200"/>
            <a:ext cx="3114000" cy="1512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8226000" y="2674800"/>
            <a:ext cx="727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Baseline mean</a:t>
            </a:r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9025200" y="26748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39.65</a:t>
            </a:r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9356400" y="2674800"/>
            <a:ext cx="233999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1.41</a:t>
            </a:r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9662400" y="2674800"/>
            <a:ext cx="259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0.51</a:t>
            </a:r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9993600" y="2674800"/>
            <a:ext cx="2952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0.07</a:t>
            </a:r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10360800" y="2674800"/>
            <a:ext cx="208800" cy="14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1A1A"/>
                </a:solidFill>
                <a:latin typeface="等线"/>
                <a:ea typeface="等线"/>
                <a:cs typeface="等线"/>
              </a:rPr>
              <a:t>23.5</a:t>
            </a:r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10627200" y="2718000"/>
            <a:ext cx="619200" cy="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10627200" y="2718000"/>
            <a:ext cx="207874" cy="57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8190000" y="2819225"/>
            <a:ext cx="3114000" cy="635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190000" y="2901600"/>
            <a:ext cx="3546000" cy="55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7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Code A holds 62 % of SAP </a:t>
            </a:r>
            <a:r>
              <a:rPr sz="57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— 2.6× the baseline mean, but it has the highest rewet of the five measured (0.09 g) and the second-slowest strike-through.</a:t>
            </a:r>
            <a:endParaRPr/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57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Code B holds the best rewet </a:t>
            </a:r>
            <a:r>
              <a:rPr sz="570" b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(0.0474 g) at the lowest porosity, and the slowest strike-through (1.232 s). The two codes take both of the two slowest STT slots in the set.</a:t>
            </a:r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8190000" y="3484800"/>
            <a:ext cx="35460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SAM = SAP retained in the REL after the migration test (in-house method, no KC threshold). STT and rewet are material-level; the KC criteria are assembly-level, so they are directional only.</a:t>
            </a:r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8082000" y="3888000"/>
            <a:ext cx="3751200" cy="24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8161199" y="3967200"/>
            <a:ext cx="79200" cy="79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8269200" y="3934800"/>
            <a:ext cx="3463199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Verdict and next gate</a:t>
            </a:r>
            <a:endParaRPr dirty="0"/>
          </a:p>
        </p:txBody>
      </p:sp>
      <p:sp>
        <p:nvSpPr>
          <p:cNvPr id="281" name="Rectangle 280"/>
          <p:cNvSpPr/>
          <p:nvPr/>
        </p:nvSpPr>
        <p:spPr>
          <a:xfrm>
            <a:off x="8190000" y="4183200"/>
            <a:ext cx="3535200" cy="194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8243999" y="4183200"/>
            <a:ext cx="1224000" cy="19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REVISE</a:t>
            </a:r>
            <a:endParaRPr dirty="0"/>
          </a:p>
        </p:txBody>
      </p:sp>
      <p:sp>
        <p:nvSpPr>
          <p:cNvPr id="283" name="TextBox 282"/>
          <p:cNvSpPr txBox="1"/>
          <p:nvPr/>
        </p:nvSpPr>
        <p:spPr>
          <a:xfrm>
            <a:off x="9198000" y="4183200"/>
            <a:ext cx="2484000" cy="19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dirty="0">
                <a:solidFill>
                  <a:srgbClr val="FFDCDC"/>
                </a:solidFill>
                <a:latin typeface="等线"/>
                <a:ea typeface="等线"/>
                <a:cs typeface="等线"/>
              </a:rPr>
              <a:t>2 of 10 qualification criteria measured</a:t>
            </a:r>
            <a:endParaRPr dirty="0"/>
          </a:p>
        </p:txBody>
      </p:sp>
      <p:sp>
        <p:nvSpPr>
          <p:cNvPr id="284" name="TextBox 283"/>
          <p:cNvSpPr txBox="1"/>
          <p:nvPr/>
        </p:nvSpPr>
        <p:spPr>
          <a:xfrm>
            <a:off x="8190000" y="4406400"/>
            <a:ext cx="3535200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Acceptable but need improvement</a:t>
            </a:r>
            <a:r>
              <a:rPr sz="560" b="0" dirty="0">
                <a:solidFill>
                  <a:srgbClr val="333333"/>
                </a:solidFill>
                <a:latin typeface="等线"/>
                <a:ea typeface="等线"/>
                <a:cs typeface="等线"/>
              </a:rPr>
              <a:t>. The two criteria measured are material-level proxies, not assembly-level; the one assembly-level comparison shows a net trade-off. Cost already clears the baseline at both design and measured weight, </a:t>
            </a:r>
            <a:endParaRPr dirty="0"/>
          </a:p>
        </p:txBody>
      </p:sp>
      <p:sp>
        <p:nvSpPr>
          <p:cNvPr id="299" name="Rectangle 298"/>
          <p:cNvSpPr/>
          <p:nvPr/>
        </p:nvSpPr>
        <p:spPr>
          <a:xfrm>
            <a:off x="0" y="6390000"/>
            <a:ext cx="12192119" cy="4680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0" y="6377300"/>
            <a:ext cx="12192119" cy="25400"/>
          </a:xfrm>
          <a:prstGeom prst="rect">
            <a:avLst/>
          </a:prstGeom>
          <a:solidFill>
            <a:srgbClr val="8B1D1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360000" y="6451200"/>
            <a:ext cx="576000" cy="20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PATH TO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00000"/>
                </a:solidFill>
                <a:latin typeface="等线"/>
                <a:ea typeface="等线"/>
                <a:cs typeface="等线"/>
              </a:rPr>
              <a:t>DECISION</a:t>
            </a:r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1098000" y="6443999"/>
            <a:ext cx="1908000" cy="180000"/>
          </a:xfrm>
          <a:prstGeom prst="rect">
            <a:avLst/>
          </a:prstGeom>
          <a:solidFill>
            <a:srgbClr val="8B1D1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1098000" y="6443999"/>
            <a:ext cx="190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Material benchmark · Sep 2026</a:t>
            </a:r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1098000" y="6638400"/>
            <a:ext cx="1908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6 samples · done</a:t>
            </a:r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006000" y="6443999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›</a:t>
            </a:r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3113999" y="6443999"/>
            <a:ext cx="1908000" cy="18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3113999" y="6443999"/>
            <a:ext cx="190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Product 3-arm · Q4 2026</a:t>
            </a:r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3113999" y="6638400"/>
            <a:ext cx="1908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supplier vs basis weight</a:t>
            </a:r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22000" y="6443999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›</a:t>
            </a:r>
            <a:endParaRPr/>
          </a:p>
        </p:txBody>
      </p:sp>
      <p:sp>
        <p:nvSpPr>
          <p:cNvPr id="310" name="Rectangle 309"/>
          <p:cNvSpPr/>
          <p:nvPr/>
        </p:nvSpPr>
        <p:spPr>
          <a:xfrm>
            <a:off x="5129999" y="6443999"/>
            <a:ext cx="1908000" cy="18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129999" y="6483216"/>
            <a:ext cx="1908000" cy="1015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Scale-up lock-in · Q</a:t>
            </a:r>
            <a:r>
              <a:rPr lang="en-US" sz="66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1</a:t>
            </a:r>
            <a:r>
              <a:rPr sz="66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 2027</a:t>
            </a:r>
            <a:endParaRPr dirty="0"/>
          </a:p>
        </p:txBody>
      </p:sp>
      <p:sp>
        <p:nvSpPr>
          <p:cNvPr id="312" name="TextBox 311"/>
          <p:cNvSpPr txBox="1"/>
          <p:nvPr/>
        </p:nvSpPr>
        <p:spPr>
          <a:xfrm>
            <a:off x="5129999" y="6638400"/>
            <a:ext cx="1908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cost balance point</a:t>
            </a:r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7037999" y="6443999"/>
            <a:ext cx="10800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C00000"/>
                </a:solidFill>
                <a:latin typeface="等线"/>
                <a:ea typeface="等线"/>
                <a:cs typeface="等线"/>
              </a:rPr>
              <a:t>›</a:t>
            </a:r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7145999" y="6443999"/>
            <a:ext cx="1908000" cy="18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7145999" y="6483216"/>
            <a:ext cx="1908000" cy="1015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Mass production · </a:t>
            </a:r>
            <a:r>
              <a:rPr lang="en-US" sz="66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Q2</a:t>
            </a:r>
            <a:r>
              <a:rPr sz="66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 202</a:t>
            </a:r>
            <a:r>
              <a:rPr lang="en-US" sz="66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7</a:t>
            </a:r>
            <a:endParaRPr dirty="0"/>
          </a:p>
        </p:txBody>
      </p:sp>
      <p:sp>
        <p:nvSpPr>
          <p:cNvPr id="316" name="TextBox 315"/>
          <p:cNvSpPr txBox="1"/>
          <p:nvPr/>
        </p:nvSpPr>
        <p:spPr>
          <a:xfrm>
            <a:off x="7145999" y="6638400"/>
            <a:ext cx="1908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TRL 6 handover</a:t>
            </a:r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9522000" y="6429600"/>
            <a:ext cx="22680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" b="0">
                <a:solidFill>
                  <a:srgbClr val="8A8A8A"/>
                </a:solidFill>
                <a:latin typeface="等线"/>
                <a:ea typeface="等线"/>
                <a:cs typeface="等线"/>
              </a:rPr>
              <a:t>CONFIDENTIAL · 2026-10-26</a:t>
            </a:r>
            <a:endParaRPr/>
          </a:p>
        </p:txBody>
      </p:sp>
      <p:pic>
        <p:nvPicPr>
          <p:cNvPr id="320" name="Picture 121" descr="rel_absorbent_web_93a168a3a37a48e4867220f7c8663ad8.png">
            <a:extLst>
              <a:ext uri="{FF2B5EF4-FFF2-40B4-BE49-F238E27FC236}">
                <a16:creationId xmlns:a16="http://schemas.microsoft.com/office/drawing/2014/main" id="{7F83B77A-B939-B7A2-890F-A367E59B2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000" y="1705873"/>
            <a:ext cx="1176914" cy="7901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BC191D70-533C-8E3E-DE45-EFE0D7D17AED}"/>
              </a:ext>
            </a:extLst>
          </p:cNvPr>
          <p:cNvGrpSpPr/>
          <p:nvPr/>
        </p:nvGrpSpPr>
        <p:grpSpPr>
          <a:xfrm>
            <a:off x="8141236" y="4689480"/>
            <a:ext cx="3646256" cy="604755"/>
            <a:chOff x="3562261" y="3486063"/>
            <a:chExt cx="4314336" cy="619109"/>
          </a:xfrm>
        </p:grpSpPr>
        <p:sp>
          <p:nvSpPr>
            <p:cNvPr id="322" name="Text 66">
              <a:extLst>
                <a:ext uri="{FF2B5EF4-FFF2-40B4-BE49-F238E27FC236}">
                  <a16:creationId xmlns:a16="http://schemas.microsoft.com/office/drawing/2014/main" id="{2BBC2D26-0A69-022C-4598-AFD0E09875AE}"/>
                </a:ext>
              </a:extLst>
            </p:cNvPr>
            <p:cNvSpPr/>
            <p:nvPr/>
          </p:nvSpPr>
          <p:spPr>
            <a:xfrm>
              <a:off x="3562261" y="3486063"/>
              <a:ext cx="4314336" cy="1428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PHASE 2 · COST-DOWN PATH → COST BALANCE POINT</a:t>
              </a:r>
              <a:endParaRPr lang="en-US" sz="670" dirty="0"/>
            </a:p>
          </p:txBody>
        </p:sp>
        <p:pic>
          <p:nvPicPr>
            <p:cNvPr id="324" name="Image 31" descr="preencoded.png">
              <a:extLst>
                <a:ext uri="{FF2B5EF4-FFF2-40B4-BE49-F238E27FC236}">
                  <a16:creationId xmlns:a16="http://schemas.microsoft.com/office/drawing/2014/main" id="{96E836BE-7786-5E63-8713-E0E8ADDBE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2261" y="3667033"/>
              <a:ext cx="1047724" cy="438139"/>
            </a:xfrm>
            <a:prstGeom prst="rect">
              <a:avLst/>
            </a:prstGeom>
          </p:spPr>
        </p:pic>
        <p:pic>
          <p:nvPicPr>
            <p:cNvPr id="342" name="Image 34" descr="preencoded.png">
              <a:extLst>
                <a:ext uri="{FF2B5EF4-FFF2-40B4-BE49-F238E27FC236}">
                  <a16:creationId xmlns:a16="http://schemas.microsoft.com/office/drawing/2014/main" id="{C446C8F0-4B2F-5556-BFE5-5A588A01D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1118" y="3667033"/>
              <a:ext cx="1047724" cy="438139"/>
            </a:xfrm>
            <a:prstGeom prst="rect">
              <a:avLst/>
            </a:prstGeom>
          </p:spPr>
        </p:pic>
        <p:sp>
          <p:nvSpPr>
            <p:cNvPr id="344" name="Text 73">
              <a:extLst>
                <a:ext uri="{FF2B5EF4-FFF2-40B4-BE49-F238E27FC236}">
                  <a16:creationId xmlns:a16="http://schemas.microsoft.com/office/drawing/2014/main" id="{772992BC-F472-BFA1-9AFC-43F225B42ACE}"/>
                </a:ext>
              </a:extLst>
            </p:cNvPr>
            <p:cNvSpPr/>
            <p:nvPr/>
          </p:nvSpPr>
          <p:spPr>
            <a:xfrm>
              <a:off x="4757791" y="3714657"/>
              <a:ext cx="923521" cy="1428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FFFFFF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Cost balance</a:t>
              </a:r>
              <a:endParaRPr lang="en-US" sz="670" dirty="0"/>
            </a:p>
          </p:txBody>
        </p:sp>
        <p:sp>
          <p:nvSpPr>
            <p:cNvPr id="346" name="Text 74">
              <a:extLst>
                <a:ext uri="{FF2B5EF4-FFF2-40B4-BE49-F238E27FC236}">
                  <a16:creationId xmlns:a16="http://schemas.microsoft.com/office/drawing/2014/main" id="{4F79A922-49B9-8FC4-73D4-27EE87FE259E}"/>
                </a:ext>
              </a:extLst>
            </p:cNvPr>
            <p:cNvSpPr/>
            <p:nvPr/>
          </p:nvSpPr>
          <p:spPr>
            <a:xfrm>
              <a:off x="4757791" y="3848004"/>
              <a:ext cx="923521" cy="104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F6D9D9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+15% → -20%</a:t>
              </a:r>
              <a:endParaRPr lang="en-US" sz="600" dirty="0"/>
            </a:p>
          </p:txBody>
        </p:sp>
      </p:grpSp>
      <p:grpSp>
        <p:nvGrpSpPr>
          <p:cNvPr id="348" name="组合 347">
            <a:extLst>
              <a:ext uri="{FF2B5EF4-FFF2-40B4-BE49-F238E27FC236}">
                <a16:creationId xmlns:a16="http://schemas.microsoft.com/office/drawing/2014/main" id="{1B8D5E2F-13C6-3041-8573-A21101A3CCF9}"/>
              </a:ext>
            </a:extLst>
          </p:cNvPr>
          <p:cNvGrpSpPr/>
          <p:nvPr/>
        </p:nvGrpSpPr>
        <p:grpSpPr>
          <a:xfrm>
            <a:off x="8145407" y="5367645"/>
            <a:ext cx="3646256" cy="604755"/>
            <a:chOff x="3562261" y="3486063"/>
            <a:chExt cx="4314336" cy="619109"/>
          </a:xfrm>
        </p:grpSpPr>
        <p:sp>
          <p:nvSpPr>
            <p:cNvPr id="349" name="Text 66">
              <a:extLst>
                <a:ext uri="{FF2B5EF4-FFF2-40B4-BE49-F238E27FC236}">
                  <a16:creationId xmlns:a16="http://schemas.microsoft.com/office/drawing/2014/main" id="{A86F9F79-4D7F-36AF-E015-47AFB598712F}"/>
                </a:ext>
              </a:extLst>
            </p:cNvPr>
            <p:cNvSpPr/>
            <p:nvPr/>
          </p:nvSpPr>
          <p:spPr>
            <a:xfrm>
              <a:off x="3562261" y="3486063"/>
              <a:ext cx="4314336" cy="1428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PHASE 3 · COST-DOWN PATH → </a:t>
              </a:r>
              <a:r>
                <a:rPr lang="en-US" altLang="zh-CN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Performance Improvement</a:t>
              </a:r>
              <a:endParaRPr lang="en-US" sz="670" dirty="0"/>
            </a:p>
          </p:txBody>
        </p:sp>
        <p:pic>
          <p:nvPicPr>
            <p:cNvPr id="350" name="Image 31" descr="preencoded.png">
              <a:extLst>
                <a:ext uri="{FF2B5EF4-FFF2-40B4-BE49-F238E27FC236}">
                  <a16:creationId xmlns:a16="http://schemas.microsoft.com/office/drawing/2014/main" id="{078EA4BC-DCDF-297A-B98C-A96319BE7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2261" y="3667033"/>
              <a:ext cx="1047724" cy="438139"/>
            </a:xfrm>
            <a:prstGeom prst="rect">
              <a:avLst/>
            </a:prstGeom>
          </p:spPr>
        </p:pic>
        <p:sp>
          <p:nvSpPr>
            <p:cNvPr id="351" name="Text 67">
              <a:extLst>
                <a:ext uri="{FF2B5EF4-FFF2-40B4-BE49-F238E27FC236}">
                  <a16:creationId xmlns:a16="http://schemas.microsoft.com/office/drawing/2014/main" id="{7EB6237C-8492-FB76-2BF3-8A89914E568B}"/>
                </a:ext>
              </a:extLst>
            </p:cNvPr>
            <p:cNvSpPr/>
            <p:nvPr/>
          </p:nvSpPr>
          <p:spPr>
            <a:xfrm>
              <a:off x="3628934" y="3714657"/>
              <a:ext cx="923521" cy="1428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Crimped PVA</a:t>
              </a:r>
              <a:endParaRPr lang="en-US" sz="670" dirty="0"/>
            </a:p>
          </p:txBody>
        </p:sp>
        <p:sp>
          <p:nvSpPr>
            <p:cNvPr id="352" name="Text 68">
              <a:extLst>
                <a:ext uri="{FF2B5EF4-FFF2-40B4-BE49-F238E27FC236}">
                  <a16:creationId xmlns:a16="http://schemas.microsoft.com/office/drawing/2014/main" id="{CAE66C22-0CF0-DA43-52B1-F2B5832FBF44}"/>
                </a:ext>
              </a:extLst>
            </p:cNvPr>
            <p:cNvSpPr/>
            <p:nvPr/>
          </p:nvSpPr>
          <p:spPr>
            <a:xfrm>
              <a:off x="3628934" y="3848004"/>
              <a:ext cx="923521" cy="20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A8A8A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replaces straight PVA · resilience↑</a:t>
              </a:r>
              <a:endParaRPr lang="en-US" sz="600" dirty="0"/>
            </a:p>
          </p:txBody>
        </p:sp>
        <p:pic>
          <p:nvPicPr>
            <p:cNvPr id="353" name="Image 32" descr="preencoded.png">
              <a:extLst>
                <a:ext uri="{FF2B5EF4-FFF2-40B4-BE49-F238E27FC236}">
                  <a16:creationId xmlns:a16="http://schemas.microsoft.com/office/drawing/2014/main" id="{9CAEE0D5-2292-29FD-8000-691809110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8084" y="3667033"/>
              <a:ext cx="1047724" cy="438139"/>
            </a:xfrm>
            <a:prstGeom prst="rect">
              <a:avLst/>
            </a:prstGeom>
          </p:spPr>
        </p:pic>
        <p:sp>
          <p:nvSpPr>
            <p:cNvPr id="354" name="Text 69">
              <a:extLst>
                <a:ext uri="{FF2B5EF4-FFF2-40B4-BE49-F238E27FC236}">
                  <a16:creationId xmlns:a16="http://schemas.microsoft.com/office/drawing/2014/main" id="{51BAD868-2FBE-20E0-8024-CCABD93299F7}"/>
                </a:ext>
              </a:extLst>
            </p:cNvPr>
            <p:cNvSpPr/>
            <p:nvPr/>
          </p:nvSpPr>
          <p:spPr>
            <a:xfrm>
              <a:off x="4714757" y="3714657"/>
              <a:ext cx="923521" cy="1428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Lower PTT share</a:t>
              </a:r>
              <a:endParaRPr lang="en-US" sz="670" dirty="0"/>
            </a:p>
          </p:txBody>
        </p:sp>
        <p:sp>
          <p:nvSpPr>
            <p:cNvPr id="355" name="Text 70">
              <a:extLst>
                <a:ext uri="{FF2B5EF4-FFF2-40B4-BE49-F238E27FC236}">
                  <a16:creationId xmlns:a16="http://schemas.microsoft.com/office/drawing/2014/main" id="{40B8A02A-8A51-D7CC-4BB9-5D30F5234146}"/>
                </a:ext>
              </a:extLst>
            </p:cNvPr>
            <p:cNvSpPr/>
            <p:nvPr/>
          </p:nvSpPr>
          <p:spPr>
            <a:xfrm>
              <a:off x="4714757" y="3848004"/>
              <a:ext cx="923521" cy="20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A8A8A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24%→lower · cut costly fibre</a:t>
              </a:r>
              <a:endParaRPr lang="en-US" sz="600" dirty="0"/>
            </a:p>
          </p:txBody>
        </p:sp>
        <p:pic>
          <p:nvPicPr>
            <p:cNvPr id="359" name="Image 34" descr="preencoded.png">
              <a:extLst>
                <a:ext uri="{FF2B5EF4-FFF2-40B4-BE49-F238E27FC236}">
                  <a16:creationId xmlns:a16="http://schemas.microsoft.com/office/drawing/2014/main" id="{7763299C-EE7A-D497-9581-F9F6E88C4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3907" y="3667033"/>
              <a:ext cx="1047724" cy="438139"/>
            </a:xfrm>
            <a:prstGeom prst="rect">
              <a:avLst/>
            </a:prstGeom>
          </p:spPr>
        </p:pic>
        <p:sp>
          <p:nvSpPr>
            <p:cNvPr id="360" name="Text 73">
              <a:extLst>
                <a:ext uri="{FF2B5EF4-FFF2-40B4-BE49-F238E27FC236}">
                  <a16:creationId xmlns:a16="http://schemas.microsoft.com/office/drawing/2014/main" id="{E9B1679A-870F-454B-7589-391B3441FCE8}"/>
                </a:ext>
              </a:extLst>
            </p:cNvPr>
            <p:cNvSpPr/>
            <p:nvPr/>
          </p:nvSpPr>
          <p:spPr>
            <a:xfrm>
              <a:off x="5800580" y="3714657"/>
              <a:ext cx="923521" cy="1428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FFFFFF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Cost balance</a:t>
              </a:r>
              <a:endParaRPr lang="en-US" sz="670" dirty="0"/>
            </a:p>
          </p:txBody>
        </p:sp>
        <p:sp>
          <p:nvSpPr>
            <p:cNvPr id="361" name="Text 74">
              <a:extLst>
                <a:ext uri="{FF2B5EF4-FFF2-40B4-BE49-F238E27FC236}">
                  <a16:creationId xmlns:a16="http://schemas.microsoft.com/office/drawing/2014/main" id="{8CA75C2E-AA70-0ADF-4C14-A266BD47A9D5}"/>
                </a:ext>
              </a:extLst>
            </p:cNvPr>
            <p:cNvSpPr/>
            <p:nvPr/>
          </p:nvSpPr>
          <p:spPr>
            <a:xfrm>
              <a:off x="5800580" y="3848004"/>
              <a:ext cx="923521" cy="1047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F6D9D9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-20%% → </a:t>
              </a:r>
              <a:r>
                <a:rPr lang="zh-CN" altLang="en-US" sz="600" dirty="0">
                  <a:solidFill>
                    <a:srgbClr val="F6D9D9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？</a:t>
              </a:r>
              <a:endParaRPr lang="en-US" sz="600" dirty="0"/>
            </a:p>
          </p:txBody>
        </p:sp>
      </p:grpSp>
      <p:sp>
        <p:nvSpPr>
          <p:cNvPr id="363" name="Text 71">
            <a:extLst>
              <a:ext uri="{FF2B5EF4-FFF2-40B4-BE49-F238E27FC236}">
                <a16:creationId xmlns:a16="http://schemas.microsoft.com/office/drawing/2014/main" id="{3976EC61-B619-C8DC-FE69-F5EB6E6E1B89}"/>
              </a:ext>
            </a:extLst>
          </p:cNvPr>
          <p:cNvSpPr/>
          <p:nvPr/>
        </p:nvSpPr>
        <p:spPr>
          <a:xfrm>
            <a:off x="8240399" y="4932975"/>
            <a:ext cx="780513" cy="139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C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Lower basis wt</a:t>
            </a:r>
            <a:endParaRPr lang="en-US" sz="670" dirty="0"/>
          </a:p>
        </p:txBody>
      </p:sp>
      <p:sp>
        <p:nvSpPr>
          <p:cNvPr id="365" name="Text 72">
            <a:extLst>
              <a:ext uri="{FF2B5EF4-FFF2-40B4-BE49-F238E27FC236}">
                <a16:creationId xmlns:a16="http://schemas.microsoft.com/office/drawing/2014/main" id="{D1003F2A-B4E5-3461-FECA-A01AC4DD42F0}"/>
              </a:ext>
            </a:extLst>
          </p:cNvPr>
          <p:cNvSpPr/>
          <p:nvPr/>
        </p:nvSpPr>
        <p:spPr>
          <a:xfrm>
            <a:off x="8240399" y="5063230"/>
            <a:ext cx="780513" cy="1023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A8A8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converge to 28 gsm</a:t>
            </a:r>
            <a:endParaRPr lang="en-US" sz="600" dirty="0"/>
          </a:p>
        </p:txBody>
      </p:sp>
      <p:grpSp>
        <p:nvGrpSpPr>
          <p:cNvPr id="374" name="组合 373">
            <a:extLst>
              <a:ext uri="{FF2B5EF4-FFF2-40B4-BE49-F238E27FC236}">
                <a16:creationId xmlns:a16="http://schemas.microsoft.com/office/drawing/2014/main" id="{EFDE60ED-EF4B-ECDE-CD86-8D5C9C6B518F}"/>
              </a:ext>
            </a:extLst>
          </p:cNvPr>
          <p:cNvGrpSpPr/>
          <p:nvPr/>
        </p:nvGrpSpPr>
        <p:grpSpPr>
          <a:xfrm>
            <a:off x="419569" y="1733328"/>
            <a:ext cx="1927631" cy="896356"/>
            <a:chOff x="476238" y="1828754"/>
            <a:chExt cx="2127262" cy="896356"/>
          </a:xfrm>
        </p:grpSpPr>
        <p:sp>
          <p:nvSpPr>
            <p:cNvPr id="367" name="Text 18">
              <a:extLst>
                <a:ext uri="{FF2B5EF4-FFF2-40B4-BE49-F238E27FC236}">
                  <a16:creationId xmlns:a16="http://schemas.microsoft.com/office/drawing/2014/main" id="{56840E19-F575-0007-00DD-D6DF59056AA2}"/>
                </a:ext>
              </a:extLst>
            </p:cNvPr>
            <p:cNvSpPr/>
            <p:nvPr/>
          </p:nvSpPr>
          <p:spPr>
            <a:xfrm>
              <a:off x="476238" y="1828754"/>
              <a:ext cx="2127262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Application</a:t>
              </a:r>
              <a:r>
                <a:rPr lang="en-US" sz="670" dirty="0">
                  <a:solidFill>
                    <a:srgbClr val="1A1A1A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: in a 100% SAP fluff-less core, REL sits between two SAP layers → creates void space, prevents gel-block.</a:t>
              </a:r>
              <a:endParaRPr lang="en-US" sz="670" dirty="0"/>
            </a:p>
          </p:txBody>
        </p:sp>
        <p:sp>
          <p:nvSpPr>
            <p:cNvPr id="369" name="Text 19">
              <a:extLst>
                <a:ext uri="{FF2B5EF4-FFF2-40B4-BE49-F238E27FC236}">
                  <a16:creationId xmlns:a16="http://schemas.microsoft.com/office/drawing/2014/main" id="{7F860579-7A34-8D98-BF36-121FD5464F8C}"/>
                </a:ext>
              </a:extLst>
            </p:cNvPr>
            <p:cNvSpPr/>
            <p:nvPr/>
          </p:nvSpPr>
          <p:spPr>
            <a:xfrm>
              <a:off x="476238" y="2143071"/>
              <a:ext cx="2127262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Pain points</a:t>
              </a:r>
              <a:r>
                <a:rPr lang="en-US" sz="670" dirty="0">
                  <a:solidFill>
                    <a:srgbClr val="1A1A1A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: SAP uptake insufficient · no space as SAP swells · REL clean-water wicking sub-optimal.</a:t>
              </a:r>
              <a:endParaRPr lang="en-US" sz="670" dirty="0"/>
            </a:p>
          </p:txBody>
        </p:sp>
        <p:sp>
          <p:nvSpPr>
            <p:cNvPr id="371" name="Text 20">
              <a:extLst>
                <a:ext uri="{FF2B5EF4-FFF2-40B4-BE49-F238E27FC236}">
                  <a16:creationId xmlns:a16="http://schemas.microsoft.com/office/drawing/2014/main" id="{12D9678D-E171-630B-1FB0-9D760EC63864}"/>
                </a:ext>
              </a:extLst>
            </p:cNvPr>
            <p:cNvSpPr/>
            <p:nvPr/>
          </p:nvSpPr>
          <p:spPr>
            <a:xfrm>
              <a:off x="476238" y="2447864"/>
              <a:ext cx="2127262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70" b="1" dirty="0">
                  <a:solidFill>
                    <a:srgbClr val="C00000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5 failure modes without REL</a:t>
              </a:r>
              <a:r>
                <a:rPr lang="en-US" sz="670" dirty="0">
                  <a:solidFill>
                    <a:srgbClr val="1A1A1A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: gel-block / no void / Z-collapse / poor MD distribution / rewet.</a:t>
              </a:r>
              <a:endParaRPr lang="en-US" sz="670" dirty="0"/>
            </a:p>
          </p:txBody>
        </p:sp>
        <p:sp>
          <p:nvSpPr>
            <p:cNvPr id="373" name="Text 21">
              <a:extLst>
                <a:ext uri="{FF2B5EF4-FFF2-40B4-BE49-F238E27FC236}">
                  <a16:creationId xmlns:a16="http://schemas.microsoft.com/office/drawing/2014/main" id="{C71050E9-7973-9F02-FA8E-CCA8A281A0BA}"/>
                </a:ext>
              </a:extLst>
            </p:cNvPr>
            <p:cNvSpPr/>
            <p:nvPr/>
          </p:nvSpPr>
          <p:spPr>
            <a:xfrm>
              <a:off x="476238" y="2679391"/>
              <a:ext cx="2127262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A8A8A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No one in the industry does this → opportunity</a:t>
              </a:r>
              <a:endParaRPr lang="en-US" sz="6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20" cy="7920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2120" cy="12600"/>
          </a:xfrm>
          <a:prstGeom prst="rect">
            <a:avLst/>
          </a:prstGeom>
          <a:solidFill>
            <a:srgbClr val="A8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61200"/>
            <a:ext cx="720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 i="0">
                <a:solidFill>
                  <a:srgbClr val="FFD9D5"/>
                </a:solidFill>
                <a:latin typeface="Arial"/>
                <a:ea typeface="Arial"/>
              </a:rPr>
              <a:t>OI / IPC BCC   ·   ONE-PAGE OI PROJECT PROFILE   ·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90800"/>
            <a:ext cx="8640000" cy="34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FFFFFF"/>
                </a:solidFill>
                <a:latin typeface="Arial"/>
                <a:ea typeface="Arial"/>
              </a:rPr>
              <a:t>Baymax  ·  Trilobal Profiled-Fibre Liner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558000"/>
            <a:ext cx="8856000" cy="18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0" i="0">
                <a:solidFill>
                  <a:srgbClr val="FFE3DF"/>
                </a:solidFill>
                <a:latin typeface="Arial"/>
                <a:ea typeface="Arial"/>
              </a:rPr>
              <a:t>Trilobal cross-section fibre + in-line ultrasonic bonding: MD distribution without added basis weight   |   Code 1 liner · 50 gsm → core Code 3, n=5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04600"/>
            <a:ext cx="12192120" cy="38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000" y="8424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 i="0">
                <a:solidFill>
                  <a:srgbClr val="9E9E9E"/>
                </a:solidFill>
                <a:latin typeface="Arial"/>
                <a:ea typeface="Arial"/>
              </a:rPr>
              <a:t>PROJECT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943200"/>
            <a:ext cx="180402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dirty="0">
                <a:solidFill>
                  <a:srgbClr val="3C3C3C"/>
                </a:solidFill>
                <a:latin typeface="Arial"/>
                <a:ea typeface="Arial"/>
              </a:rPr>
              <a:t>Du Tingting · trial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10656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 dirty="0">
                <a:solidFill>
                  <a:srgbClr val="8A8A8A"/>
                </a:solidFill>
                <a:latin typeface="Arial"/>
                <a:ea typeface="Arial"/>
              </a:rPr>
              <a:t>Chris Wang · </a:t>
            </a:r>
            <a:r>
              <a:rPr sz="520" b="0" i="0" dirty="0" err="1">
                <a:solidFill>
                  <a:srgbClr val="8A8A8A"/>
                </a:solidFill>
                <a:latin typeface="Arial"/>
                <a:ea typeface="Arial"/>
              </a:rPr>
              <a:t>fibre</a:t>
            </a:r>
            <a:r>
              <a:rPr sz="520" b="0" i="0" dirty="0">
                <a:solidFill>
                  <a:srgbClr val="8A8A8A"/>
                </a:solidFill>
                <a:latin typeface="Arial"/>
                <a:ea typeface="Arial"/>
              </a:rPr>
              <a:t> sourcing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2020" y="8424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 i="0">
                <a:solidFill>
                  <a:srgbClr val="9E9E9E"/>
                </a:solidFill>
                <a:latin typeface="Arial"/>
                <a:ea typeface="Arial"/>
              </a:rPr>
              <a:t>BUSINESS 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2020" y="943200"/>
            <a:ext cx="180402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dirty="0">
                <a:solidFill>
                  <a:srgbClr val="3C3C3C"/>
                </a:solidFill>
                <a:latin typeface="Arial"/>
                <a:ea typeface="Arial"/>
              </a:rPr>
              <a:t>COCO V6 platform (shared)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6420" y="871200"/>
            <a:ext cx="6480" cy="266400"/>
          </a:xfrm>
          <a:prstGeom prst="rect">
            <a:avLst/>
          </a:prstGeom>
          <a:solidFill>
            <a:srgbClr val="EED5D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84040" y="8424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 i="0">
                <a:solidFill>
                  <a:srgbClr val="9E9E9E"/>
                </a:solidFill>
                <a:latin typeface="Arial"/>
                <a:ea typeface="Arial"/>
              </a:rPr>
              <a:t>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4040" y="943200"/>
            <a:ext cx="1804020" cy="98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640" b="1" dirty="0">
                <a:solidFill>
                  <a:srgbClr val="3C3C3C"/>
                </a:solidFill>
                <a:latin typeface="Arial"/>
              </a:rPr>
              <a:t>APAC — CN pilot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8440" y="871200"/>
            <a:ext cx="6480" cy="266400"/>
          </a:xfrm>
          <a:prstGeom prst="rect">
            <a:avLst/>
          </a:prstGeom>
          <a:solidFill>
            <a:srgbClr val="EED5D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6060" y="8424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 i="0">
                <a:solidFill>
                  <a:srgbClr val="9E9E9E"/>
                </a:solidFill>
                <a:latin typeface="Arial"/>
                <a:ea typeface="Arial"/>
              </a:rPr>
              <a:t>TARGET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60" y="943200"/>
            <a:ext cx="180402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C3C3C"/>
                </a:solidFill>
                <a:latin typeface="Arial"/>
                <a:ea typeface="Arial"/>
              </a:rPr>
              <a:t>Commercial date [TBD]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20460" y="871200"/>
            <a:ext cx="6480" cy="266400"/>
          </a:xfrm>
          <a:prstGeom prst="rect">
            <a:avLst/>
          </a:prstGeom>
          <a:solidFill>
            <a:srgbClr val="EED5D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8080" y="8424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 i="0">
                <a:solidFill>
                  <a:srgbClr val="9E9E9E"/>
                </a:solidFill>
                <a:latin typeface="Arial"/>
                <a:ea typeface="Arial"/>
              </a:rPr>
              <a:t>CURRENT TRL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8080" y="943200"/>
            <a:ext cx="180402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C3C3C"/>
                </a:solidFill>
                <a:latin typeface="Arial"/>
                <a:ea typeface="Arial"/>
              </a:rPr>
              <a:t>FEI · pilot trial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8080" y="10656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8A8A8A"/>
                </a:solidFill>
                <a:latin typeface="Arial"/>
                <a:ea typeface="Arial"/>
              </a:rPr>
              <a:t>Product Code 3 tested (n=5)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2480" y="871200"/>
            <a:ext cx="6480" cy="266400"/>
          </a:xfrm>
          <a:prstGeom prst="rect">
            <a:avLst/>
          </a:prstGeom>
          <a:solidFill>
            <a:srgbClr val="EED5D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20100" y="8424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0" i="0">
                <a:solidFill>
                  <a:srgbClr val="9E9E9E"/>
                </a:solidFill>
                <a:latin typeface="Arial"/>
                <a:ea typeface="Arial"/>
              </a:rPr>
              <a:t>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0100" y="943200"/>
            <a:ext cx="180402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dirty="0">
                <a:solidFill>
                  <a:srgbClr val="3C3C3C"/>
                </a:solidFill>
                <a:latin typeface="Arial"/>
                <a:ea typeface="Arial"/>
              </a:rPr>
              <a:t>Off-line 600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0100" y="1065600"/>
            <a:ext cx="180402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 dirty="0">
                <a:solidFill>
                  <a:srgbClr val="8A8A8A"/>
                </a:solidFill>
                <a:latin typeface="Arial"/>
                <a:ea typeface="Arial"/>
              </a:rPr>
              <a:t>→ 2027 on-line 500 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44500" y="871200"/>
            <a:ext cx="6480" cy="266400"/>
          </a:xfrm>
          <a:prstGeom prst="rect">
            <a:avLst/>
          </a:prstGeom>
          <a:solidFill>
            <a:srgbClr val="EED5D3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0000" y="12708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3600" y="1249200"/>
            <a:ext cx="332640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A80000"/>
                </a:solidFill>
                <a:latin typeface="Arial"/>
                <a:ea typeface="Arial"/>
              </a:rPr>
              <a:t>STATUS &amp; CHALLENGE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1407600"/>
            <a:ext cx="342000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0000" y="1425600"/>
            <a:ext cx="34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180"/>
              </a:spcAft>
            </a:pPr>
            <a:r>
              <a:rPr sz="570" b="0" i="0" dirty="0">
                <a:solidFill>
                  <a:srgbClr val="3C3C3C"/>
                </a:solidFill>
                <a:latin typeface="Arial"/>
                <a:ea typeface="Arial"/>
              </a:rPr>
              <a:t>Situation: the liner is bought from </a:t>
            </a:r>
            <a:r>
              <a:rPr sz="570" b="0" i="0" dirty="0" err="1">
                <a:solidFill>
                  <a:srgbClr val="3C3C3C"/>
                </a:solidFill>
                <a:latin typeface="Arial"/>
                <a:ea typeface="Arial"/>
              </a:rPr>
              <a:t>Yanjan</a:t>
            </a:r>
            <a:r>
              <a:rPr sz="570" b="0" i="0" dirty="0">
                <a:solidFill>
                  <a:srgbClr val="3C3C3C"/>
                </a:solidFill>
                <a:latin typeface="Arial"/>
                <a:ea typeface="Arial"/>
              </a:rPr>
              <a:t> at a high unit price — no answer for cost-sensitive markets. Round </a:t>
            </a:r>
            <a:r>
              <a:rPr sz="570" b="0" i="0" dirty="0" err="1">
                <a:solidFill>
                  <a:srgbClr val="3C3C3C"/>
                </a:solidFill>
                <a:latin typeface="Arial"/>
                <a:ea typeface="Arial"/>
              </a:rPr>
              <a:t>fibres</a:t>
            </a:r>
            <a:r>
              <a:rPr sz="570" b="0" i="0" dirty="0">
                <a:solidFill>
                  <a:srgbClr val="3C3C3C"/>
                </a:solidFill>
                <a:latin typeface="Arial"/>
                <a:ea typeface="Arial"/>
              </a:rPr>
              <a:t> touch only at points, so liquid moves by pore capillarity and pools at the impact point.</a:t>
            </a:r>
          </a:p>
          <a:p>
            <a:pPr algn="l">
              <a:lnSpc>
                <a:spcPct val="134000"/>
              </a:lnSpc>
              <a:spcAft>
                <a:spcPts val="180"/>
              </a:spcAft>
            </a:pPr>
            <a:r>
              <a:rPr sz="570" b="0" i="0" dirty="0">
                <a:solidFill>
                  <a:srgbClr val="3C3C3C"/>
                </a:solidFill>
                <a:latin typeface="Arial"/>
                <a:ea typeface="Arial"/>
              </a:rPr>
              <a:t>Hypothesis: trilobal grooves form axial channels that align with MD after carding → liquid is drawn along the machine direction instead of stacking up.</a:t>
            </a:r>
          </a:p>
          <a:p>
            <a:pPr algn="l">
              <a:lnSpc>
                <a:spcPct val="134000"/>
              </a:lnSpc>
              <a:spcAft>
                <a:spcPts val="180"/>
              </a:spcAft>
            </a:pPr>
            <a:r>
              <a:rPr sz="570" b="0" i="0" dirty="0">
                <a:solidFill>
                  <a:srgbClr val="A80000"/>
                </a:solidFill>
                <a:latin typeface="Arial"/>
                <a:ea typeface="Arial"/>
              </a:rPr>
              <a:t>Trial verdict: hypothesis holds on spread — Cradle spread +17.9% vs the same core with the standard liner, above the +15% design target. Price: GB rewet doubles and lateral intake slows ~33%.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25092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3600" y="2487600"/>
            <a:ext cx="332640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dirty="0">
                <a:solidFill>
                  <a:srgbClr val="A80000"/>
                </a:solidFill>
                <a:latin typeface="Arial"/>
                <a:ea typeface="Arial"/>
              </a:rPr>
              <a:t>FIBRE COMPOSITION &amp; DENIER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600" y="2673360"/>
            <a:ext cx="33264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8A8A8A"/>
                </a:solidFill>
                <a:latin typeface="Arial"/>
                <a:ea typeface="Arial"/>
              </a:rPr>
              <a:t>Code 1 liner · 50 gsm · 25 gsm per layer · 102 mm wide · 4 plies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2646000"/>
            <a:ext cx="342000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0000" y="2808000"/>
            <a:ext cx="3420000" cy="1656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3200" y="2849400"/>
            <a:ext cx="1148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9" b="1" i="0">
                <a:solidFill>
                  <a:srgbClr val="FFFFFF"/>
                </a:solidFill>
                <a:latin typeface="Arial"/>
                <a:ea typeface="Arial"/>
              </a:rPr>
              <a:t>FIBRE · DENIER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9200" y="2849400"/>
            <a:ext cx="320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9" b="1" i="0">
                <a:solidFill>
                  <a:srgbClr val="FFFFFF"/>
                </a:solidFill>
                <a:latin typeface="Arial"/>
                <a:ea typeface="Arial"/>
              </a:rPr>
              <a:t>gsm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87200" y="2849400"/>
            <a:ext cx="302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9" b="1" i="0">
                <a:solidFill>
                  <a:srgbClr val="FFFFFF"/>
                </a:solidFill>
                <a:latin typeface="Arial"/>
                <a:ea typeface="Arial"/>
              </a:rP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47200" y="2849400"/>
            <a:ext cx="1418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9" b="1" i="0">
                <a:solidFill>
                  <a:srgbClr val="FFFFFF"/>
                </a:solidFill>
                <a:latin typeface="Arial"/>
                <a:ea typeface="Arial"/>
              </a:rPr>
              <a:t>ROLE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" y="2973600"/>
            <a:ext cx="3420000" cy="259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60000" y="2973600"/>
            <a:ext cx="3420000" cy="576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3200" y="3027600"/>
            <a:ext cx="11628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" b="1" i="0">
                <a:solidFill>
                  <a:srgbClr val="3C3C3C"/>
                </a:solidFill>
                <a:latin typeface="Arial"/>
                <a:ea typeface="Arial"/>
              </a:rPr>
              <a:t>Top  A1 · 2D Bico PE/PET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9200" y="3042000"/>
            <a:ext cx="334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 i="0">
                <a:solidFill>
                  <a:srgbClr val="3C3C3C"/>
                </a:solidFill>
                <a:latin typeface="Arial"/>
                <a:ea typeface="Arial"/>
              </a:rPr>
              <a:t>22.5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7200" y="3042000"/>
            <a:ext cx="316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 i="0">
                <a:solidFill>
                  <a:srgbClr val="A80000"/>
                </a:solidFill>
                <a:latin typeface="Arial"/>
                <a:ea typeface="Arial"/>
              </a:rPr>
              <a:t>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7200" y="3027600"/>
            <a:ext cx="1411200" cy="18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30" b="0" i="0">
                <a:solidFill>
                  <a:srgbClr val="3C3C3C"/>
                </a:solidFill>
                <a:latin typeface="Arial"/>
                <a:ea typeface="Arial"/>
              </a:rPr>
              <a:t>Skin side: softness + start of planar spread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0000" y="3232800"/>
            <a:ext cx="3420000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0000" y="3232800"/>
            <a:ext cx="3420000" cy="576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03200" y="3286800"/>
            <a:ext cx="11628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" b="1" i="0">
                <a:solidFill>
                  <a:srgbClr val="3C3C3C"/>
                </a:solidFill>
                <a:latin typeface="Arial"/>
                <a:ea typeface="Arial"/>
              </a:rPr>
              <a:t>Top  A2 · Trilobal 3D PET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9200" y="3301200"/>
            <a:ext cx="334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 i="0">
                <a:solidFill>
                  <a:srgbClr val="3C3C3C"/>
                </a:solidFill>
                <a:latin typeface="Arial"/>
                <a:ea typeface="Arial"/>
              </a:rPr>
              <a:t>2.5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7200" y="3301200"/>
            <a:ext cx="316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 i="0">
                <a:solidFill>
                  <a:srgbClr val="A80000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47200" y="3286800"/>
            <a:ext cx="1411200" cy="18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30" b="0" i="0">
                <a:solidFill>
                  <a:srgbClr val="3C3C3C"/>
                </a:solidFill>
                <a:latin typeface="Arial"/>
                <a:ea typeface="Arial"/>
              </a:rPr>
              <a:t>Surface grooves begin; only 10% skin-side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3492000"/>
            <a:ext cx="3420000" cy="259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60000" y="3492000"/>
            <a:ext cx="3420000" cy="576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3200" y="3546000"/>
            <a:ext cx="11628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" b="1" i="0">
                <a:solidFill>
                  <a:srgbClr val="3C3C3C"/>
                </a:solidFill>
                <a:latin typeface="Arial"/>
                <a:ea typeface="Arial"/>
              </a:rPr>
              <a:t>Bottom B1 · 4D Bico PE/PET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09200" y="3560400"/>
            <a:ext cx="334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 i="0">
                <a:solidFill>
                  <a:srgbClr val="3C3C3C"/>
                </a:solidFill>
                <a:latin typeface="Arial"/>
                <a:ea typeface="Arial"/>
              </a:rPr>
              <a:t>12.5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87200" y="3560400"/>
            <a:ext cx="316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 i="0">
                <a:solidFill>
                  <a:srgbClr val="A80000"/>
                </a:solidFill>
                <a:latin typeface="Arial"/>
                <a:ea typeface="Arial"/>
              </a:rPr>
              <a:t>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47200" y="3546000"/>
            <a:ext cx="1411200" cy="18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30" b="0" i="0">
                <a:solidFill>
                  <a:srgbClr val="3C3C3C"/>
                </a:solidFill>
                <a:latin typeface="Arial"/>
                <a:ea typeface="Arial"/>
              </a:rPr>
              <a:t>Bulk, pattern depth, compression recovery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0000" y="3751200"/>
            <a:ext cx="3420000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60000" y="3751200"/>
            <a:ext cx="3420000" cy="576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03200" y="3805200"/>
            <a:ext cx="11628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" b="1" i="0">
                <a:solidFill>
                  <a:srgbClr val="3C3C3C"/>
                </a:solidFill>
                <a:latin typeface="Arial"/>
                <a:ea typeface="Arial"/>
              </a:rPr>
              <a:t>Bottom B2 · Trilobal 3D PET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09200" y="3819600"/>
            <a:ext cx="334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 i="0">
                <a:solidFill>
                  <a:srgbClr val="3C3C3C"/>
                </a:solidFill>
                <a:latin typeface="Arial"/>
                <a:ea typeface="Arial"/>
              </a:rPr>
              <a:t>12.5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87200" y="3819600"/>
            <a:ext cx="3168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1" i="0">
                <a:solidFill>
                  <a:srgbClr val="A80000"/>
                </a:solidFill>
                <a:latin typeface="Arial"/>
                <a:ea typeface="Arial"/>
              </a:rPr>
              <a:t>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47200" y="3805200"/>
            <a:ext cx="1411200" cy="18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30" b="0" i="0">
                <a:solidFill>
                  <a:srgbClr val="3C3C3C"/>
                </a:solidFill>
                <a:latin typeface="Arial"/>
                <a:ea typeface="Arial"/>
              </a:rPr>
              <a:t>Main groove network: 30% = 15 gsm of total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0000" y="4010400"/>
            <a:ext cx="3420000" cy="19440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03200" y="4059000"/>
            <a:ext cx="2232000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 i="0">
                <a:solidFill>
                  <a:srgbClr val="8E140C"/>
                </a:solidFill>
                <a:latin typeface="Arial"/>
                <a:ea typeface="Arial"/>
              </a:rPr>
              <a:t>TOTAL  50 gsm  ·  trilobal 30% (15 gsm)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6000" y="4066200"/>
            <a:ext cx="1368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00" b="0" i="0">
                <a:solidFill>
                  <a:srgbClr val="8E140C"/>
                </a:solidFill>
                <a:latin typeface="Arial"/>
                <a:ea typeface="Arial"/>
              </a:rPr>
              <a:t>peel 115.28 N measured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0000" y="4222800"/>
            <a:ext cx="34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20" b="0" i="0">
                <a:solidFill>
                  <a:srgbClr val="8A8A8A"/>
                </a:solidFill>
                <a:latin typeface="Arial"/>
                <a:ea typeface="Arial"/>
              </a:rPr>
              <a:t>Incoming material (n=5): 45.22 gsm — −9.6% vs nominal 50; 1.72 mm; pH 7.11. Trilobal is 3D only, so denier cannot match the 2D layer; cut length [TBD].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0000" y="44172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3600" y="4395600"/>
            <a:ext cx="332640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A80000"/>
                </a:solidFill>
                <a:latin typeface="Arial"/>
                <a:ea typeface="Arial"/>
              </a:rPr>
              <a:t>SUPPLY CHAIN · PROCUREMENT VIEW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0000" y="4554000"/>
            <a:ext cx="342000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0000" y="4575600"/>
            <a:ext cx="3420000" cy="41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160"/>
              </a:spcAft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Trilobal  Fudi 3D trilobal Bico PE/PET (300 kg ready); long-term intent to switch to Home PET</a:t>
            </a:r>
          </a:p>
          <a:p>
            <a:pPr algn="l">
              <a:lnSpc>
                <a:spcPct val="126000"/>
              </a:lnSpc>
              <a:spcAft>
                <a:spcPts val="160"/>
              </a:spcAft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Bico / trials  Yanjan supplies 2D/4D Bico; Code 1 liner built in Tianjin</a:t>
            </a:r>
          </a:p>
          <a:p>
            <a:pPr algn="l">
              <a:lnSpc>
                <a:spcPct val="126000"/>
              </a:lnSpc>
              <a:spcAft>
                <a:spcPts val="160"/>
              </a:spcAft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Cost  premium vs standard liner still unquoted [TBD] — the open item for the business case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06000" y="12708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99600" y="1249200"/>
            <a:ext cx="221040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dirty="0">
                <a:solidFill>
                  <a:srgbClr val="A80000"/>
                </a:solidFill>
                <a:latin typeface="Arial"/>
                <a:ea typeface="Arial"/>
              </a:rPr>
              <a:t>TECHNICAL CONCEPT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99600" y="1389600"/>
            <a:ext cx="22104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8A8A8A"/>
                </a:solidFill>
                <a:latin typeface="Arial"/>
                <a:ea typeface="Arial"/>
              </a:rPr>
              <a:t>Z-gradient allocation · MD groove transport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06000" y="1407600"/>
            <a:ext cx="230400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78000" y="1605600"/>
            <a:ext cx="2160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" b="1" i="0">
                <a:solidFill>
                  <a:srgbClr val="DA281C"/>
                </a:solidFill>
                <a:latin typeface="Arial"/>
                <a:ea typeface="Arial"/>
              </a:rPr>
              <a:t>FIG. 1 · PLACEHOLDER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78000" y="2246400"/>
            <a:ext cx="2160000" cy="23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i="0">
                <a:solidFill>
                  <a:srgbClr val="A80000"/>
                </a:solidFill>
                <a:latin typeface="Arial"/>
                <a:ea typeface="Arial"/>
              </a:rPr>
              <a:t>Z-gradient cross-section + trilobal close-up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78000" y="2764800"/>
            <a:ext cx="2160000" cy="2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500" b="0" i="0">
                <a:solidFill>
                  <a:srgbClr val="8A8A8A"/>
                </a:solidFill>
                <a:latin typeface="Arial"/>
                <a:ea typeface="Arial"/>
              </a:rPr>
              <a:t>4-ply stack (A1/A2/B1/B2), groove orientation vs MD, fibre cross-section micrograph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63240" y="3664800"/>
            <a:ext cx="2232000" cy="3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470" b="0" i="0" dirty="0">
                <a:solidFill>
                  <a:srgbClr val="3C3C3C"/>
                </a:solidFill>
                <a:latin typeface="Arial"/>
                <a:ea typeface="Arial"/>
              </a:rPr>
              <a:t>Groove suction ≈40–50 kPa vs ≈1–2 kPa for the pore network; same-denier surface area ≈300% of round </a:t>
            </a:r>
            <a:r>
              <a:rPr sz="470" b="0" i="0" dirty="0" err="1">
                <a:solidFill>
                  <a:srgbClr val="3C3C3C"/>
                </a:solidFill>
                <a:latin typeface="Arial"/>
                <a:ea typeface="Arial"/>
              </a:rPr>
              <a:t>fibre</a:t>
            </a:r>
            <a:r>
              <a:rPr sz="470" b="0" i="0" dirty="0">
                <a:solidFill>
                  <a:srgbClr val="3C3C3C"/>
                </a:solidFill>
                <a:latin typeface="Arial"/>
                <a:ea typeface="Arial"/>
              </a:rPr>
              <a:t> — the mechanism behind the measured spread gain.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06000" y="4140000"/>
            <a:ext cx="2304000" cy="511200"/>
          </a:xfrm>
          <a:prstGeom prst="rect">
            <a:avLst/>
          </a:prstGeom>
          <a:solidFill>
            <a:srgbClr val="FFE8E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970800" y="4197600"/>
            <a:ext cx="21816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"/>
              </a:spcAft>
            </a:pPr>
            <a:r>
              <a:rPr sz="500" b="1" i="0">
                <a:solidFill>
                  <a:srgbClr val="DA281C"/>
                </a:solidFill>
                <a:latin typeface="Arial"/>
                <a:ea typeface="Arial"/>
              </a:rPr>
              <a:t>READ-ACROSS</a:t>
            </a:r>
          </a:p>
          <a:p>
            <a:pPr algn="l">
              <a:lnSpc>
                <a:spcPct val="126000"/>
              </a:lnSpc>
            </a:pPr>
            <a:r>
              <a:rPr sz="509" b="0" i="0">
                <a:solidFill>
                  <a:srgbClr val="A80000"/>
                </a:solidFill>
                <a:latin typeface="Arial"/>
                <a:ea typeface="Arial"/>
              </a:rPr>
              <a:t>The cross-section is the transport element; the Z-gradient keeps softness out of the trade-off.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18000" y="12708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11600" y="1249200"/>
            <a:ext cx="542052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A80000"/>
                </a:solidFill>
                <a:latin typeface="Arial"/>
                <a:ea typeface="Arial"/>
              </a:rPr>
              <a:t>PRODUCT TEST · CODE 3 vs CONTROL 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11600" y="1389600"/>
            <a:ext cx="542052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8A8A8A"/>
                </a:solidFill>
                <a:latin typeface="Arial"/>
                <a:ea typeface="Arial"/>
              </a:rPr>
              <a:t>Same core, same glue (3.5×4) — the liner is the only changed variable · n=5 per leg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18000" y="1407600"/>
            <a:ext cx="551412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318000" y="1562400"/>
            <a:ext cx="5514120" cy="1584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61200" y="1600200"/>
            <a:ext cx="1958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" b="1" i="0">
                <a:solidFill>
                  <a:srgbClr val="FFFFFF"/>
                </a:solidFill>
                <a:latin typeface="Arial"/>
                <a:ea typeface="Arial"/>
              </a:rPr>
              <a:t>METRIC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77200" y="1600200"/>
            <a:ext cx="734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" b="1" i="0">
                <a:solidFill>
                  <a:srgbClr val="FFFFFF"/>
                </a:solidFill>
                <a:latin typeface="Arial"/>
                <a:ea typeface="Arial"/>
              </a:rPr>
              <a:t>CONTROL 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69200" y="1600200"/>
            <a:ext cx="734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" b="1" i="0">
                <a:solidFill>
                  <a:srgbClr val="FFFFFF"/>
                </a:solidFill>
                <a:latin typeface="Arial"/>
                <a:ea typeface="Arial"/>
              </a:rPr>
              <a:t>CODE 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1200" y="1600200"/>
            <a:ext cx="73440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" b="1" i="0">
                <a:solidFill>
                  <a:srgbClr val="FFFFFF"/>
                </a:solidFill>
                <a:latin typeface="Arial"/>
                <a:ea typeface="Arial"/>
              </a:rPr>
              <a:t>DELTA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53200" y="1600200"/>
            <a:ext cx="1064520" cy="9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" b="1" i="0">
                <a:solidFill>
                  <a:srgbClr val="FFFFFF"/>
                </a:solidFill>
                <a:latin typeface="Arial"/>
                <a:ea typeface="Arial"/>
              </a:rPr>
              <a:t>SIGNIFICANCE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18000" y="1720800"/>
            <a:ext cx="5514120" cy="187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318000" y="17208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61200" y="17694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MD spread — Cradle (mm)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77200" y="17694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205.0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9200" y="17694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241.6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1200" y="17694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+17.9%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53200" y="17694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00B050"/>
                </a:solidFill>
                <a:latin typeface="Arial"/>
                <a:ea typeface="Arial"/>
              </a:rPr>
              <a:t>✓  target +15%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18000" y="1908000"/>
            <a:ext cx="5514120" cy="18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318000" y="19080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361200" y="19566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MD spread — L-H (mm)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77200" y="19566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331.0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69200" y="19566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349.3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1200" y="19566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+5.5%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53200" y="19566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00B050"/>
                </a:solidFill>
                <a:latin typeface="Arial"/>
                <a:ea typeface="Arial"/>
              </a:rPr>
              <a:t>✓  weaker read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18000" y="2095200"/>
            <a:ext cx="5514120" cy="187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318000" y="20952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361200" y="21438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3rd-shot intake (g)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77200" y="21438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39.68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69200" y="21438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53.36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61200" y="21438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+34.5%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53200" y="21438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00B050"/>
                </a:solidFill>
                <a:latin typeface="Arial"/>
                <a:ea typeface="Arial"/>
              </a:rPr>
              <a:t>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18000" y="2282400"/>
            <a:ext cx="5514120" cy="18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318000" y="22824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361200" y="23310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2nd-shot intake (g)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377200" y="23310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10.97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69200" y="23310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14.96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61200" y="23310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+36.4%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753200" y="23310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00B050"/>
                </a:solidFill>
                <a:latin typeface="Arial"/>
                <a:ea typeface="Arial"/>
              </a:rPr>
              <a:t>✓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18000" y="2469600"/>
            <a:ext cx="5514120" cy="187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318000" y="24696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361200" y="25182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1st-shot intake (g)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77200" y="25182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14.60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69200" y="25182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16.18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961200" y="25182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+10.8%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753200" y="25182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00B050"/>
                </a:solidFill>
                <a:latin typeface="Arial"/>
                <a:ea typeface="Arial"/>
              </a:rPr>
              <a:t>✓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318000" y="2656800"/>
            <a:ext cx="5514120" cy="18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6318000" y="26568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361200" y="27054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1st intake time, GB (s)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77200" y="27054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25.66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69200" y="27054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26.51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961200" y="27054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+3.3%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753200" y="27054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9E9E9E"/>
                </a:solidFill>
                <a:latin typeface="Arial"/>
                <a:ea typeface="Arial"/>
              </a:rPr>
              <a:t>n.s.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18000" y="2844000"/>
            <a:ext cx="5514120" cy="187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318000" y="28440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361200" y="28926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Rewet, GB (g)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77200" y="28926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0.492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69200" y="28926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0.990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961200" y="28926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+101%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753200" y="28926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D87A00"/>
                </a:solidFill>
                <a:latin typeface="Arial"/>
                <a:ea typeface="Arial"/>
              </a:rPr>
              <a:t>⚠  trade-off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18000" y="3031200"/>
            <a:ext cx="5514120" cy="18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318000" y="30312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361200" y="30798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Intake time, lateral (s)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77200" y="30798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7.77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169200" y="30798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10.36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961200" y="30798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+33.4%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753200" y="30798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D87A00"/>
                </a:solidFill>
                <a:latin typeface="Arial"/>
                <a:ea typeface="Arial"/>
              </a:rPr>
              <a:t>⚠  trade-off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318000" y="3218400"/>
            <a:ext cx="5514120" cy="1872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6318000" y="3218400"/>
            <a:ext cx="5514120" cy="5040"/>
          </a:xfrm>
          <a:prstGeom prst="rect">
            <a:avLst/>
          </a:prstGeom>
          <a:solidFill>
            <a:srgbClr val="E8C9C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361200" y="3267000"/>
            <a:ext cx="19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0" i="0">
                <a:solidFill>
                  <a:srgbClr val="3C3C3C"/>
                </a:solidFill>
                <a:latin typeface="Arial"/>
                <a:ea typeface="Arial"/>
              </a:rPr>
              <a:t>Rewet, L-H (g)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77200" y="32670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3C3C3C"/>
                </a:solidFill>
                <a:latin typeface="Arial"/>
                <a:ea typeface="Arial"/>
              </a:rPr>
              <a:t>0.20 / 0.32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69200" y="3267000"/>
            <a:ext cx="720000" cy="1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8E140C"/>
                </a:solidFill>
                <a:latin typeface="Arial"/>
                <a:ea typeface="Arial"/>
              </a:rPr>
              <a:t>0.15 / 0.32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61200" y="3267000"/>
            <a:ext cx="720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" b="1" i="0">
                <a:solidFill>
                  <a:srgbClr val="3C3C3C"/>
                </a:solidFill>
                <a:latin typeface="Arial"/>
                <a:ea typeface="Arial"/>
              </a:rPr>
              <a:t>−26% / −2%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53200" y="3267000"/>
            <a:ext cx="104400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70" b="0" i="0">
                <a:solidFill>
                  <a:srgbClr val="00B050"/>
                </a:solidFill>
                <a:latin typeface="Arial"/>
                <a:ea typeface="Arial"/>
              </a:rPr>
              <a:t>✓ / n.s.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18000" y="3441600"/>
            <a:ext cx="5514120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" b="0" i="0">
                <a:solidFill>
                  <a:srgbClr val="8A8A8A"/>
                </a:solidFill>
                <a:latin typeface="Arial"/>
                <a:ea typeface="Arial"/>
              </a:rPr>
              <a:t>Δ on pooled SD, n=5+5; n.s. = |t| &lt; 2. Pad weight parity +1.3% (37.00 vs 36.51 g) confirms a like-for-like comparison.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318000" y="35964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411600" y="3574800"/>
            <a:ext cx="542052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A80000"/>
                </a:solidFill>
                <a:latin typeface="Arial"/>
                <a:ea typeface="Arial"/>
              </a:rPr>
              <a:t>ANALYSIS · WHAT THE DATA SAYS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318000" y="3733200"/>
            <a:ext cx="551412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411600" y="3754800"/>
            <a:ext cx="542052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50"/>
              </a:spcAft>
            </a:pPr>
            <a:r>
              <a:rPr sz="509" b="0" i="0" dirty="0">
                <a:solidFill>
                  <a:srgbClr val="3C3C3C"/>
                </a:solidFill>
                <a:latin typeface="Arial"/>
                <a:ea typeface="Arial"/>
              </a:rPr>
              <a:t>①  Mechanism works: Cradle spread 205 → 241.6 mm (t = 15.9), clearing the +15% target; L-H +5.5% (t = 4.0) points the same way but weaker.</a:t>
            </a:r>
          </a:p>
          <a:p>
            <a:pPr algn="l">
              <a:lnSpc>
                <a:spcPct val="130000"/>
              </a:lnSpc>
              <a:spcAft>
                <a:spcPts val="150"/>
              </a:spcAft>
            </a:pPr>
            <a:r>
              <a:rPr sz="509" b="0" i="0" dirty="0">
                <a:solidFill>
                  <a:srgbClr val="3C3C3C"/>
                </a:solidFill>
                <a:latin typeface="Arial"/>
                <a:ea typeface="Arial"/>
              </a:rPr>
              <a:t>②  Bigger win is capacity, not speed: 2nd / 3rd-shot intake +36% / +35% at equal pad weight.</a:t>
            </a:r>
          </a:p>
          <a:p>
            <a:pPr algn="l">
              <a:lnSpc>
                <a:spcPct val="130000"/>
              </a:lnSpc>
              <a:spcAft>
                <a:spcPts val="150"/>
              </a:spcAft>
            </a:pPr>
            <a:r>
              <a:rPr sz="509" b="0" i="0" dirty="0">
                <a:solidFill>
                  <a:srgbClr val="A80000"/>
                </a:solidFill>
                <a:latin typeface="Arial"/>
                <a:ea typeface="Arial"/>
              </a:rPr>
              <a:t>③  Two costs: GB rewet 0.49 → 0.99 g (+101%) and lateral intake 7.8 → 10.4 s (+33%); 1st STT +3.3% is </a:t>
            </a:r>
            <a:r>
              <a:rPr sz="509" b="0" i="0" dirty="0" err="1">
                <a:solidFill>
                  <a:srgbClr val="A80000"/>
                </a:solidFill>
                <a:latin typeface="Arial"/>
                <a:ea typeface="Arial"/>
              </a:rPr>
              <a:t>n.s</a:t>
            </a:r>
            <a:r>
              <a:rPr sz="509" b="0" i="0" dirty="0">
                <a:solidFill>
                  <a:srgbClr val="A80000"/>
                </a:solidFill>
                <a:latin typeface="Arial"/>
                <a:ea typeface="Arial"/>
              </a:rPr>
              <a:t>. Rewet is the gate.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60000" y="50292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53600" y="5007600"/>
            <a:ext cx="1137852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A80000"/>
                </a:solidFill>
                <a:latin typeface="Arial"/>
                <a:ea typeface="Arial"/>
              </a:rPr>
              <a:t>RISKS &amp; NEXT GATE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60000" y="5166000"/>
            <a:ext cx="1147212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60000" y="5169600"/>
            <a:ext cx="3668040" cy="4968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360000" y="5169600"/>
            <a:ext cx="32400" cy="4968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439200" y="5198400"/>
            <a:ext cx="352404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 i="0">
                <a:solidFill>
                  <a:srgbClr val="A80000"/>
                </a:solidFill>
                <a:latin typeface="Arial"/>
                <a:ea typeface="Arial"/>
              </a:rPr>
              <a:t>DESIGN / PERFORMANCE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39200" y="5306400"/>
            <a:ext cx="3516840" cy="4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 dirty="0">
                <a:solidFill>
                  <a:srgbClr val="3C3C3C"/>
                </a:solidFill>
                <a:latin typeface="Arial"/>
                <a:ea typeface="Arial"/>
              </a:rPr>
              <a:t>· Rewet now the binding constraint: GB rewet +101% while spread improves — must be traded explicitly</a:t>
            </a:r>
          </a:p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 dirty="0">
                <a:solidFill>
                  <a:srgbClr val="3C3C3C"/>
                </a:solidFill>
                <a:latin typeface="Arial"/>
                <a:ea typeface="Arial"/>
              </a:rPr>
              <a:t>· Higher trilobal share → interlayer bonding strength still unknown (top technical gap)</a:t>
            </a:r>
          </a:p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 dirty="0">
                <a:solidFill>
                  <a:srgbClr val="3C3C3C"/>
                </a:solidFill>
                <a:latin typeface="Arial"/>
                <a:ea typeface="Arial"/>
              </a:rPr>
              <a:t>· Skin-side trilobal raises hand harshness; worse with homo-PET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262040" y="5169600"/>
            <a:ext cx="3668040" cy="4968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4262040" y="5169600"/>
            <a:ext cx="32400" cy="4968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4341240" y="5198400"/>
            <a:ext cx="352404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 i="0">
                <a:solidFill>
                  <a:srgbClr val="A80000"/>
                </a:solidFill>
                <a:latin typeface="Arial"/>
                <a:ea typeface="Arial"/>
              </a:rPr>
              <a:t>PROCESS / EQUIPMENT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41240" y="5306400"/>
            <a:ext cx="3516840" cy="4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 dirty="0">
                <a:solidFill>
                  <a:srgbClr val="3C3C3C"/>
                </a:solidFill>
                <a:latin typeface="Arial"/>
                <a:ea typeface="Arial"/>
              </a:rPr>
              <a:t>· ≥142 °C rounds off the profile → trilobal "added for nothing"; trials held below 139 °C</a:t>
            </a:r>
          </a:p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 dirty="0">
                <a:solidFill>
                  <a:srgbClr val="3C3C3C"/>
                </a:solidFill>
                <a:latin typeface="Arial"/>
                <a:ea typeface="Arial"/>
              </a:rPr>
              <a:t>· Pressure bonding does not work; no LSE — linear horn ≈US$70k, 500 m/min but needs floor space</a:t>
            </a:r>
          </a:p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 dirty="0">
                <a:solidFill>
                  <a:srgbClr val="3C3C3C"/>
                </a:solidFill>
                <a:latin typeface="Arial"/>
                <a:ea typeface="Arial"/>
              </a:rPr>
              <a:t>· HK copy of the Herrmann module: power compatible, voltage/frequency differ → horn life at risk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164080" y="5169600"/>
            <a:ext cx="3668040" cy="496800"/>
          </a:xfrm>
          <a:prstGeom prst="rect">
            <a:avLst/>
          </a:prstGeom>
          <a:solidFill>
            <a:srgbClr val="FCEFF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164080" y="5169600"/>
            <a:ext cx="32400" cy="4968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8243280" y="5198400"/>
            <a:ext cx="352404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 i="0">
                <a:solidFill>
                  <a:srgbClr val="A80000"/>
                </a:solidFill>
                <a:latin typeface="Arial"/>
                <a:ea typeface="Arial"/>
              </a:rPr>
              <a:t>SUPPLY / CONVERTING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243280" y="5306400"/>
            <a:ext cx="3516840" cy="4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>
                <a:solidFill>
                  <a:srgbClr val="3C3C3C"/>
                </a:solidFill>
                <a:latin typeface="Arial"/>
                <a:ea typeface="Arial"/>
              </a:rPr>
              <a:t>· Trilobal sample volume gates the run; Fudi is a single source, Home PET substitution not qualified</a:t>
            </a:r>
          </a:p>
          <a:p>
            <a:pPr algn="l">
              <a:lnSpc>
                <a:spcPct val="116000"/>
              </a:lnSpc>
              <a:spcAft>
                <a:spcPts val="60"/>
              </a:spcAft>
            </a:pPr>
            <a:r>
              <a:rPr sz="450" b="0" i="0">
                <a:solidFill>
                  <a:srgbClr val="3C3C3C"/>
                </a:solidFill>
                <a:latin typeface="Arial"/>
                <a:ea typeface="Arial"/>
              </a:rPr>
              <a:t>· PET-containing liner acts as unbonded filler in ultrasonic seal lanes → strength drops without warning (HIGH)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60000" y="5727600"/>
            <a:ext cx="54000" cy="1152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453600" y="5706000"/>
            <a:ext cx="11378520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A80000"/>
                </a:solidFill>
                <a:latin typeface="Arial"/>
                <a:ea typeface="Arial"/>
              </a:rPr>
              <a:t>PATH TO DECISION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60000" y="5864400"/>
            <a:ext cx="11472120" cy="792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360000" y="5997600"/>
            <a:ext cx="11340000" cy="19800"/>
          </a:xfrm>
          <a:prstGeom prst="rect">
            <a:avLst/>
          </a:prstGeom>
          <a:solidFill>
            <a:srgbClr val="F9D3D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403200" y="5961600"/>
            <a:ext cx="93600" cy="93600"/>
          </a:xfrm>
          <a:prstGeom prst="ellipse">
            <a:avLst/>
          </a:prstGeom>
          <a:solidFill>
            <a:srgbClr val="DA281C"/>
          </a:solidFill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554400" y="5875200"/>
            <a:ext cx="1656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1" i="0">
                <a:solidFill>
                  <a:srgbClr val="A80000"/>
                </a:solidFill>
                <a:latin typeface="Arial"/>
                <a:ea typeface="Arial"/>
              </a:rPr>
              <a:t>2026 Q3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60000" y="6084000"/>
            <a:ext cx="2006424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3C3C3C"/>
                </a:solidFill>
                <a:latin typeface="Arial"/>
                <a:ea typeface="Arial"/>
              </a:rPr>
              <a:t>Material validation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0000" y="6202800"/>
            <a:ext cx="2042424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" b="0" i="0">
                <a:solidFill>
                  <a:srgbClr val="8A8A8A"/>
                </a:solidFill>
                <a:latin typeface="Arial"/>
                <a:ea typeface="Arial"/>
              </a:rPr>
              <a:t>Code 1 liner tested (n=5)</a:t>
            </a:r>
          </a:p>
        </p:txBody>
      </p:sp>
      <p:sp>
        <p:nvSpPr>
          <p:cNvPr id="197" name="Oval 196"/>
          <p:cNvSpPr/>
          <p:nvPr/>
        </p:nvSpPr>
        <p:spPr>
          <a:xfrm>
            <a:off x="2697624" y="5961600"/>
            <a:ext cx="93600" cy="93600"/>
          </a:xfrm>
          <a:prstGeom prst="ellipse">
            <a:avLst/>
          </a:prstGeom>
          <a:solidFill>
            <a:srgbClr val="DA281C"/>
          </a:solidFill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2848824" y="5875200"/>
            <a:ext cx="1656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1" i="0">
                <a:solidFill>
                  <a:srgbClr val="A80000"/>
                </a:solidFill>
                <a:latin typeface="Arial"/>
                <a:ea typeface="Arial"/>
              </a:rPr>
              <a:t>2026-10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654424" y="6084000"/>
            <a:ext cx="2006424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3C3C3C"/>
                </a:solidFill>
                <a:latin typeface="Arial"/>
                <a:ea typeface="Arial"/>
              </a:rPr>
              <a:t>Product trial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654424" y="6202800"/>
            <a:ext cx="2042424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" b="0" i="0">
                <a:solidFill>
                  <a:srgbClr val="8A8A8A"/>
                </a:solidFill>
                <a:latin typeface="Arial"/>
                <a:ea typeface="Arial"/>
              </a:rPr>
              <a:t>Code 3 vs Control 2, n=5</a:t>
            </a:r>
          </a:p>
        </p:txBody>
      </p:sp>
      <p:sp>
        <p:nvSpPr>
          <p:cNvPr id="201" name="Oval 200"/>
          <p:cNvSpPr/>
          <p:nvPr/>
        </p:nvSpPr>
        <p:spPr>
          <a:xfrm>
            <a:off x="4992048" y="5961600"/>
            <a:ext cx="93600" cy="93600"/>
          </a:xfrm>
          <a:prstGeom prst="ellipse">
            <a:avLst/>
          </a:prstGeom>
          <a:solidFill>
            <a:srgbClr val="DA281C"/>
          </a:solidFill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5143248" y="5875200"/>
            <a:ext cx="1656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1" i="0">
                <a:solidFill>
                  <a:srgbClr val="A80000"/>
                </a:solidFill>
                <a:latin typeface="Arial"/>
                <a:ea typeface="Arial"/>
              </a:rPr>
              <a:t>2026 Q4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948848" y="6084000"/>
            <a:ext cx="2006424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>
                <a:solidFill>
                  <a:srgbClr val="3C3C3C"/>
                </a:solidFill>
                <a:latin typeface="Arial"/>
                <a:ea typeface="Arial"/>
              </a:rPr>
              <a:t>Rewet fix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948848" y="6202800"/>
            <a:ext cx="2042424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" b="0" i="0">
                <a:solidFill>
                  <a:srgbClr val="8A8A8A"/>
                </a:solidFill>
                <a:latin typeface="Arial"/>
                <a:ea typeface="Arial"/>
              </a:rPr>
              <a:t>close the 2× GB rewet gap</a:t>
            </a:r>
          </a:p>
        </p:txBody>
      </p:sp>
      <p:sp>
        <p:nvSpPr>
          <p:cNvPr id="205" name="Oval 204"/>
          <p:cNvSpPr/>
          <p:nvPr/>
        </p:nvSpPr>
        <p:spPr>
          <a:xfrm>
            <a:off x="7286472" y="5961600"/>
            <a:ext cx="93600" cy="936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281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7437672" y="5875200"/>
            <a:ext cx="1656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1" i="0">
                <a:solidFill>
                  <a:srgbClr val="A80000"/>
                </a:solidFill>
                <a:latin typeface="Arial"/>
                <a:ea typeface="Arial"/>
              </a:rPr>
              <a:t>2027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43272" y="6084000"/>
            <a:ext cx="2006424" cy="1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 i="0" dirty="0">
                <a:solidFill>
                  <a:srgbClr val="3C3C3C"/>
                </a:solidFill>
                <a:latin typeface="Arial"/>
                <a:ea typeface="Arial"/>
              </a:rPr>
              <a:t>600 m off-line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243272" y="6202800"/>
            <a:ext cx="2042424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" b="0" i="0" dirty="0">
                <a:solidFill>
                  <a:srgbClr val="8A8A8A"/>
                </a:solidFill>
                <a:latin typeface="Arial"/>
                <a:ea typeface="Arial"/>
              </a:rPr>
              <a:t>pattern clearance + 500 m</a:t>
            </a:r>
          </a:p>
        </p:txBody>
      </p:sp>
      <p:sp>
        <p:nvSpPr>
          <p:cNvPr id="209" name="Oval 208"/>
          <p:cNvSpPr/>
          <p:nvPr/>
        </p:nvSpPr>
        <p:spPr>
          <a:xfrm>
            <a:off x="9580896" y="5961600"/>
            <a:ext cx="93600" cy="936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281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9732096" y="5875200"/>
            <a:ext cx="1656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" b="1" i="0">
                <a:solidFill>
                  <a:srgbClr val="A80000"/>
                </a:solidFill>
                <a:latin typeface="Arial"/>
                <a:ea typeface="Arial"/>
              </a:rPr>
              <a:t>TBD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537696" y="6084000"/>
            <a:ext cx="2006424" cy="86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560" b="1" i="0" dirty="0">
                <a:solidFill>
                  <a:srgbClr val="3C3C3C"/>
                </a:solidFill>
                <a:latin typeface="Arial"/>
                <a:ea typeface="Arial"/>
              </a:rPr>
              <a:t>C</a:t>
            </a:r>
            <a:r>
              <a:rPr sz="560" b="1" i="0" dirty="0">
                <a:solidFill>
                  <a:srgbClr val="3C3C3C"/>
                </a:solidFill>
                <a:latin typeface="Arial"/>
                <a:ea typeface="Arial"/>
              </a:rPr>
              <a:t>ommercial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537696" y="6202800"/>
            <a:ext cx="2042424" cy="12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" b="0" i="0">
                <a:solidFill>
                  <a:srgbClr val="8A8A8A"/>
                </a:solidFill>
                <a:latin typeface="Arial"/>
                <a:ea typeface="Arial"/>
              </a:rPr>
              <a:t>pending cost &amp; rewet gate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0" y="6537600"/>
            <a:ext cx="12192120" cy="320400"/>
          </a:xfrm>
          <a:prstGeom prst="rect">
            <a:avLst/>
          </a:prstGeom>
          <a:solidFill>
            <a:srgbClr val="DA281C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360000" y="6609600"/>
            <a:ext cx="720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0" i="0">
                <a:solidFill>
                  <a:srgbClr val="FFE3DF"/>
                </a:solidFill>
                <a:latin typeface="Arial"/>
                <a:ea typeface="Arial"/>
              </a:rPr>
              <a:t>CONFIDENTIAL  ·  2026-10-27  ·  IPC BCC OI / FEI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200000" y="6602400"/>
            <a:ext cx="4632120" cy="15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1" i="0">
                <a:solidFill>
                  <a:srgbClr val="FFFFFF"/>
                </a:solidFill>
                <a:latin typeface="Arial"/>
                <a:ea typeface="Arial"/>
              </a:rPr>
              <a:t>Groove moves the liquid.  Rewet is the gate.</a:t>
            </a:r>
          </a:p>
        </p:txBody>
      </p:sp>
      <p:pic>
        <p:nvPicPr>
          <p:cNvPr id="218" name="图片 217">
            <a:extLst>
              <a:ext uri="{FF2B5EF4-FFF2-40B4-BE49-F238E27FC236}">
                <a16:creationId xmlns:a16="http://schemas.microsoft.com/office/drawing/2014/main" id="{BF7424E2-9334-978C-4F76-A273E693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800" y="1602060"/>
            <a:ext cx="2210400" cy="1843140"/>
          </a:xfrm>
          <a:prstGeom prst="rect">
            <a:avLst/>
          </a:prstGeom>
        </p:spPr>
      </p:pic>
      <p:sp>
        <p:nvSpPr>
          <p:cNvPr id="220" name="TextBox 6">
            <a:extLst>
              <a:ext uri="{FF2B5EF4-FFF2-40B4-BE49-F238E27FC236}">
                <a16:creationId xmlns:a16="http://schemas.microsoft.com/office/drawing/2014/main" id="{79C86653-82AE-82BC-C802-99614BDD2E14}"/>
              </a:ext>
            </a:extLst>
          </p:cNvPr>
          <p:cNvSpPr txBox="1"/>
          <p:nvPr/>
        </p:nvSpPr>
        <p:spPr>
          <a:xfrm>
            <a:off x="10908000" y="86400"/>
            <a:ext cx="882000" cy="10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GATE STATUS</a:t>
            </a:r>
            <a:endParaRPr dirty="0"/>
          </a:p>
        </p:txBody>
      </p:sp>
      <p:sp>
        <p:nvSpPr>
          <p:cNvPr id="222" name="TextBox 8">
            <a:extLst>
              <a:ext uri="{FF2B5EF4-FFF2-40B4-BE49-F238E27FC236}">
                <a16:creationId xmlns:a16="http://schemas.microsoft.com/office/drawing/2014/main" id="{C89F8A95-A12F-7382-4D70-7820F7CE8D34}"/>
              </a:ext>
            </a:extLst>
          </p:cNvPr>
          <p:cNvSpPr txBox="1"/>
          <p:nvPr/>
        </p:nvSpPr>
        <p:spPr>
          <a:xfrm>
            <a:off x="10926000" y="282700"/>
            <a:ext cx="871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Arial"/>
                <a:ea typeface="Arial"/>
              </a:rPr>
              <a:t>FEI stage · </a:t>
            </a:r>
          </a:p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Arial"/>
                <a:ea typeface="Arial"/>
              </a:rPr>
              <a:t>pilot validation</a:t>
            </a:r>
            <a:endParaRPr lang="en-US" altLang="zh-CN" sz="900" dirty="0">
              <a:solidFill>
                <a:schemeClr val="bg1"/>
              </a:solidFill>
            </a:endParaRPr>
          </a:p>
        </p:txBody>
      </p:sp>
      <p:pic>
        <p:nvPicPr>
          <p:cNvPr id="226" name="图片 225">
            <a:extLst>
              <a:ext uri="{FF2B5EF4-FFF2-40B4-BE49-F238E27FC236}">
                <a16:creationId xmlns:a16="http://schemas.microsoft.com/office/drawing/2014/main" id="{8956ABA7-16A3-E938-F8C2-6721215E2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780" y="4176476"/>
            <a:ext cx="4308852" cy="937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2335</Words>
  <Application>Microsoft Office PowerPoint</Application>
  <PresentationFormat>宽屏</PresentationFormat>
  <Paragraphs>374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Arial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Wang, Chris</cp:lastModifiedBy>
  <cp:revision>1</cp:revision>
  <dcterms:created xsi:type="dcterms:W3CDTF">2026-10-26T23:15:57Z</dcterms:created>
  <dcterms:modified xsi:type="dcterms:W3CDTF">2026-10-26T17:22:34Z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3caa80-b45a-41c4-be35-6a080a795a59_Enabled">
    <vt:lpwstr>true</vt:lpwstr>
  </property>
  <property fmtid="{D5CDD505-2E9C-101B-9397-08002B2CF9AE}" pid="3" name="MSIP_Label_ec3caa80-b45a-41c4-be35-6a080a795a59_SetDate">
    <vt:lpwstr>2026-10-26T15:18:02Z</vt:lpwstr>
  </property>
  <property fmtid="{D5CDD505-2E9C-101B-9397-08002B2CF9AE}" pid="4" name="MSIP_Label_ec3caa80-b45a-41c4-be35-6a080a795a59_Method">
    <vt:lpwstr>Privileged</vt:lpwstr>
  </property>
  <property fmtid="{D5CDD505-2E9C-101B-9397-08002B2CF9AE}" pid="5" name="MSIP_Label_ec3caa80-b45a-41c4-be35-6a080a795a59_Name">
    <vt:lpwstr>ec3caa80-b45a-41c4-be35-6a080a795a59</vt:lpwstr>
  </property>
  <property fmtid="{D5CDD505-2E9C-101B-9397-08002B2CF9AE}" pid="6" name="MSIP_Label_ec3caa80-b45a-41c4-be35-6a080a795a59_SiteId">
    <vt:lpwstr>fee2180b-69b6-4afe-9f14-ccd70bd4c737</vt:lpwstr>
  </property>
  <property fmtid="{D5CDD505-2E9C-101B-9397-08002B2CF9AE}" pid="7" name="MSIP_Label_ec3caa80-b45a-41c4-be35-6a080a795a59_ActionId">
    <vt:lpwstr>58925eeb-1916-4647-956b-cba3494260d0</vt:lpwstr>
  </property>
  <property fmtid="{D5CDD505-2E9C-101B-9397-08002B2CF9AE}" pid="8" name="MSIP_Label_ec3caa80-b45a-41c4-be35-6a080a795a59_ContentBits">
    <vt:lpwstr>0</vt:lpwstr>
  </property>
  <property fmtid="{D5CDD505-2E9C-101B-9397-08002B2CF9AE}" pid="9" name="MSIP_Label_ec3caa80-b45a-41c4-be35-6a080a795a59_Tag">
    <vt:lpwstr>10, 0, 1, 1</vt:lpwstr>
  </property>
</Properties>
</file>